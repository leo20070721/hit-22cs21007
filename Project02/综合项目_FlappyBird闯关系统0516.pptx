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55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56.xml" ContentType="application/vnd.openxmlformats-officedocument.presentationml.tags+xml"/>
  <Override PartName="/ppt/notesSlides/notesSlide3.xml" ContentType="application/vnd.openxmlformats-officedocument.presentationml.notesSlide+xml"/>
  <Override PartName="/ppt/tags/tag57.xml" ContentType="application/vnd.openxmlformats-officedocument.presentationml.tags+xml"/>
  <Override PartName="/ppt/notesSlides/notesSlide4.xml" ContentType="application/vnd.openxmlformats-officedocument.presentationml.notesSlide+xml"/>
  <Override PartName="/ppt/tags/tag58.xml" ContentType="application/vnd.openxmlformats-officedocument.presentationml.tags+xml"/>
  <Override PartName="/ppt/notesSlides/notesSlide5.xml" ContentType="application/vnd.openxmlformats-officedocument.presentationml.notesSlide+xml"/>
  <Override PartName="/ppt/tags/tag59.xml" ContentType="application/vnd.openxmlformats-officedocument.presentationml.tags+xml"/>
  <Override PartName="/ppt/notesSlides/notesSlide6.xml" ContentType="application/vnd.openxmlformats-officedocument.presentationml.notesSlide+xml"/>
  <Override PartName="/ppt/tags/tag60.xml" ContentType="application/vnd.openxmlformats-officedocument.presentationml.tags+xml"/>
  <Override PartName="/ppt/notesSlides/notesSlide7.xml" ContentType="application/vnd.openxmlformats-officedocument.presentationml.notesSlide+xml"/>
  <Override PartName="/ppt/tags/tag61.xml" ContentType="application/vnd.openxmlformats-officedocument.presentationml.tags+xml"/>
  <Override PartName="/ppt/notesSlides/notesSlide8.xml" ContentType="application/vnd.openxmlformats-officedocument.presentationml.notesSlide+xml"/>
  <Override PartName="/ppt/tags/tag62.xml" ContentType="application/vnd.openxmlformats-officedocument.presentationml.tags+xml"/>
  <Override PartName="/ppt/notesSlides/notesSlide9.xml" ContentType="application/vnd.openxmlformats-officedocument.presentationml.notesSlide+xml"/>
  <Override PartName="/ppt/tags/tag63.xml" ContentType="application/vnd.openxmlformats-officedocument.presentationml.tags+xml"/>
  <Override PartName="/ppt/notesSlides/notesSlide10.xml" ContentType="application/vnd.openxmlformats-officedocument.presentationml.notesSlide+xml"/>
  <Override PartName="/ppt/tags/tag64.xml" ContentType="application/vnd.openxmlformats-officedocument.presentationml.tags+xml"/>
  <Override PartName="/ppt/notesSlides/notesSlide11.xml" ContentType="application/vnd.openxmlformats-officedocument.presentationml.notesSlide+xml"/>
  <Override PartName="/ppt/tags/tag65.xml" ContentType="application/vnd.openxmlformats-officedocument.presentationml.tags+xml"/>
  <Override PartName="/ppt/notesSlides/notesSlide12.xml" ContentType="application/vnd.openxmlformats-officedocument.presentationml.notesSlide+xml"/>
  <Override PartName="/ppt/tags/tag66.xml" ContentType="application/vnd.openxmlformats-officedocument.presentationml.tags+xml"/>
  <Override PartName="/ppt/notesSlides/notesSlide13.xml" ContentType="application/vnd.openxmlformats-officedocument.presentationml.notesSlide+xml"/>
  <Override PartName="/ppt/tags/tag67.xml" ContentType="application/vnd.openxmlformats-officedocument.presentationml.tags+xml"/>
  <Override PartName="/ppt/notesSlides/notesSlide14.xml" ContentType="application/vnd.openxmlformats-officedocument.presentationml.notesSlide+xml"/>
  <Override PartName="/ppt/tags/tag68.xml" ContentType="application/vnd.openxmlformats-officedocument.presentationml.tags+xml"/>
  <Override PartName="/ppt/notesSlides/notesSlide15.xml" ContentType="application/vnd.openxmlformats-officedocument.presentationml.notesSlide+xml"/>
  <Override PartName="/ppt/tags/tag69.xml" ContentType="application/vnd.openxmlformats-officedocument.presentationml.tags+xml"/>
  <Override PartName="/ppt/notesSlides/notesSlide16.xml" ContentType="application/vnd.openxmlformats-officedocument.presentationml.notesSlide+xml"/>
  <Override PartName="/ppt/tags/tag70.xml" ContentType="application/vnd.openxmlformats-officedocument.presentationml.tags+xml"/>
  <Override PartName="/ppt/notesSlides/notesSlide17.xml" ContentType="application/vnd.openxmlformats-officedocument.presentationml.notesSlide+xml"/>
  <Override PartName="/ppt/tags/tag71.xml" ContentType="application/vnd.openxmlformats-officedocument.presentationml.tags+xml"/>
  <Override PartName="/ppt/notesSlides/notesSlide18.xml" ContentType="application/vnd.openxmlformats-officedocument.presentationml.notesSlide+xml"/>
  <Override PartName="/ppt/tags/tag72.xml" ContentType="application/vnd.openxmlformats-officedocument.presentationml.tags+xml"/>
  <Override PartName="/ppt/notesSlides/notesSlide19.xml" ContentType="application/vnd.openxmlformats-officedocument.presentationml.notesSlide+xml"/>
  <Override PartName="/ppt/tags/tag73.xml" ContentType="application/vnd.openxmlformats-officedocument.presentationml.tags+xml"/>
  <Override PartName="/ppt/notesSlides/notesSlide20.xml" ContentType="application/vnd.openxmlformats-officedocument.presentationml.notesSlide+xml"/>
  <Override PartName="/ppt/tags/tag74.xml" ContentType="application/vnd.openxmlformats-officedocument.presentationml.tags+xml"/>
  <Override PartName="/ppt/notesSlides/notesSlide21.xml" ContentType="application/vnd.openxmlformats-officedocument.presentationml.notesSlide+xml"/>
  <Override PartName="/ppt/tags/tag75.xml" ContentType="application/vnd.openxmlformats-officedocument.presentationml.tags+xml"/>
  <Override PartName="/ppt/notesSlides/notesSlide22.xml" ContentType="application/vnd.openxmlformats-officedocument.presentationml.notesSlide+xml"/>
  <Override PartName="/ppt/tags/tag76.xml" ContentType="application/vnd.openxmlformats-officedocument.presentationml.tags+xml"/>
  <Override PartName="/ppt/notesSlides/notesSlide23.xml" ContentType="application/vnd.openxmlformats-officedocument.presentationml.notesSlide+xml"/>
  <Override PartName="/ppt/tags/tag77.xml" ContentType="application/vnd.openxmlformats-officedocument.presentationml.tags+xml"/>
  <Override PartName="/ppt/notesSlides/notesSlide24.xml" ContentType="application/vnd.openxmlformats-officedocument.presentationml.notesSlide+xml"/>
  <Override PartName="/ppt/tags/tag78.xml" ContentType="application/vnd.openxmlformats-officedocument.presentationml.tags+xml"/>
  <Override PartName="/ppt/notesSlides/notesSlide25.xml" ContentType="application/vnd.openxmlformats-officedocument.presentationml.notesSlide+xml"/>
  <Override PartName="/ppt/tags/tag79.xml" ContentType="application/vnd.openxmlformats-officedocument.presentationml.tags+xml"/>
  <Override PartName="/ppt/notesSlides/notesSlide26.xml" ContentType="application/vnd.openxmlformats-officedocument.presentationml.notesSlide+xml"/>
  <Override PartName="/ppt/tags/tag80.xml" ContentType="application/vnd.openxmlformats-officedocument.presentationml.tags+xml"/>
  <Override PartName="/ppt/notesSlides/notesSlide27.xml" ContentType="application/vnd.openxmlformats-officedocument.presentationml.notesSlide+xml"/>
  <Override PartName="/ppt/tags/tag81.xml" ContentType="application/vnd.openxmlformats-officedocument.presentationml.tags+xml"/>
  <Override PartName="/ppt/notesSlides/notesSlide28.xml" ContentType="application/vnd.openxmlformats-officedocument.presentationml.notesSlide+xml"/>
  <Override PartName="/ppt/tags/tag82.xml" ContentType="application/vnd.openxmlformats-officedocument.presentationml.tags+xml"/>
  <Override PartName="/ppt/notesSlides/notesSlide29.xml" ContentType="application/vnd.openxmlformats-officedocument.presentationml.notesSlide+xml"/>
  <Override PartName="/ppt/tags/tag83.xml" ContentType="application/vnd.openxmlformats-officedocument.presentationml.tags+xml"/>
  <Override PartName="/ppt/notesSlides/notesSlide30.xml" ContentType="application/vnd.openxmlformats-officedocument.presentationml.notesSlide+xml"/>
  <Override PartName="/ppt/tags/tag84.xml" ContentType="application/vnd.openxmlformats-officedocument.presentationml.tags+xml"/>
  <Override PartName="/ppt/notesSlides/notesSlide31.xml" ContentType="application/vnd.openxmlformats-officedocument.presentationml.notesSlide+xml"/>
  <Override PartName="/ppt/tags/tag85.xml" ContentType="application/vnd.openxmlformats-officedocument.presentationml.tags+xml"/>
  <Override PartName="/ppt/notesSlides/notesSlide32.xml" ContentType="application/vnd.openxmlformats-officedocument.presentationml.notesSlide+xml"/>
  <Override PartName="/ppt/tags/tag86.xml" ContentType="application/vnd.openxmlformats-officedocument.presentationml.tags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tags/tag87.xml" ContentType="application/vnd.openxmlformats-officedocument.presentationml.tags+xml"/>
  <Override PartName="/ppt/notesSlides/notesSlide35.xml" ContentType="application/vnd.openxmlformats-officedocument.presentationml.notesSlide+xml"/>
  <Override PartName="/ppt/tags/tag88.xml" ContentType="application/vnd.openxmlformats-officedocument.presentationml.tags+xml"/>
  <Override PartName="/ppt/notesSlides/notesSlide36.xml" ContentType="application/vnd.openxmlformats-officedocument.presentationml.notesSlide+xml"/>
  <Override PartName="/ppt/tags/tag89.xml" ContentType="application/vnd.openxmlformats-officedocument.presentationml.tags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bookmarkIdSeed="3">
  <p:sldMasterIdLst>
    <p:sldMasterId id="2147483648" r:id="rId1"/>
  </p:sldMasterIdLst>
  <p:notesMasterIdLst>
    <p:notesMasterId r:id="rId39"/>
  </p:notesMasterIdLst>
  <p:handoutMasterIdLst>
    <p:handoutMasterId r:id="rId40"/>
  </p:handoutMasterIdLst>
  <p:sldIdLst>
    <p:sldId id="2147471145" r:id="rId2"/>
    <p:sldId id="2147471172" r:id="rId3"/>
    <p:sldId id="2147471165" r:id="rId4"/>
    <p:sldId id="2147471183" r:id="rId5"/>
    <p:sldId id="2147471252" r:id="rId6"/>
    <p:sldId id="2147471249" r:id="rId7"/>
    <p:sldId id="2147471250" r:id="rId8"/>
    <p:sldId id="2147471259" r:id="rId9"/>
    <p:sldId id="2147471251" r:id="rId10"/>
    <p:sldId id="2147471245" r:id="rId11"/>
    <p:sldId id="2147471253" r:id="rId12"/>
    <p:sldId id="2147471254" r:id="rId13"/>
    <p:sldId id="2147471255" r:id="rId14"/>
    <p:sldId id="2147471256" r:id="rId15"/>
    <p:sldId id="2147471260" r:id="rId16"/>
    <p:sldId id="2147471246" r:id="rId17"/>
    <p:sldId id="2147471265" r:id="rId18"/>
    <p:sldId id="2147471261" r:id="rId19"/>
    <p:sldId id="2147471263" r:id="rId20"/>
    <p:sldId id="2147471264" r:id="rId21"/>
    <p:sldId id="2147471247" r:id="rId22"/>
    <p:sldId id="2147471266" r:id="rId23"/>
    <p:sldId id="2147471269" r:id="rId24"/>
    <p:sldId id="2147471267" r:id="rId25"/>
    <p:sldId id="2147471268" r:id="rId26"/>
    <p:sldId id="2147471270" r:id="rId27"/>
    <p:sldId id="2147471271" r:id="rId28"/>
    <p:sldId id="2147471272" r:id="rId29"/>
    <p:sldId id="2147471273" r:id="rId30"/>
    <p:sldId id="2147471248" r:id="rId31"/>
    <p:sldId id="2147471274" r:id="rId32"/>
    <p:sldId id="2147471284" r:id="rId33"/>
    <p:sldId id="2147471289" r:id="rId34"/>
    <p:sldId id="2147471276" r:id="rId35"/>
    <p:sldId id="2147471275" r:id="rId36"/>
    <p:sldId id="2147471290" r:id="rId37"/>
    <p:sldId id="2147471291" r:id="rId38"/>
  </p:sldIdLst>
  <p:sldSz cx="12192000" cy="6858000"/>
  <p:notesSz cx="7104063" cy="10234613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93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7" name="wang wang" initials="ww" lastIdx="1" clrIdx="4">
    <p:extLst>
      <p:ext uri="{19B8F6BF-5375-455C-9EA6-DF929625EA0E}">
        <p15:presenceInfo xmlns:p15="http://schemas.microsoft.com/office/powerpoint/2012/main" userId="0cd938f2f7278fe3" providerId="Windows Live"/>
      </p:ext>
    </p:extLst>
  </p:cmAuthor>
  <p:cmAuthor id="1" name="幸全" initials="幸全" lastIdx="1" clrIdx="0"/>
  <p:cmAuthor id="2" name="zhujianweiddt@outlook.com" initials="z" lastIdx="1" clrIdx="1"/>
  <p:cmAuthor id="3" name="DELL" initials="D" lastIdx="1" clrIdx="2"/>
  <p:cmAuthor id="5" name="作者" initials="A" lastIdx="0" clrIdx="2"/>
  <p:cmAuthor id="6" name="xh su" initials="xs" lastIdx="2" clrIdx="3">
    <p:extLst>
      <p:ext uri="{19B8F6BF-5375-455C-9EA6-DF929625EA0E}">
        <p15:presenceInfo xmlns:p15="http://schemas.microsoft.com/office/powerpoint/2012/main" userId="2e1063e9aa4f83fd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CCCCFF"/>
    <a:srgbClr val="FFFFCC"/>
    <a:srgbClr val="FFFFFF"/>
    <a:srgbClr val="CC6600"/>
    <a:srgbClr val="FFE6FF"/>
    <a:srgbClr val="FFCCFF"/>
    <a:srgbClr val="CC99FF"/>
    <a:srgbClr val="FFCC99"/>
    <a:srgbClr val="FF99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中度样式 1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12C8C85-51F0-491E-9774-3900AFEF0FD7}" styleName="浅色样式 2 - 强调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751" autoAdjust="0"/>
    <p:restoredTop sz="78309" autoAdjust="0"/>
  </p:normalViewPr>
  <p:slideViewPr>
    <p:cSldViewPr snapToGrid="0">
      <p:cViewPr varScale="1">
        <p:scale>
          <a:sx n="54" d="100"/>
          <a:sy n="54" d="100"/>
        </p:scale>
        <p:origin x="1470" y="78"/>
      </p:cViewPr>
      <p:guideLst>
        <p:guide orient="horz" pos="2160"/>
        <p:guide pos="3938"/>
      </p:guideLst>
    </p:cSldViewPr>
  </p:slideViewPr>
  <p:notesTextViewPr>
    <p:cViewPr>
      <p:scale>
        <a:sx n="125" d="100"/>
        <a:sy n="125" d="100"/>
      </p:scale>
      <p:origin x="0" y="0"/>
    </p:cViewPr>
  </p:notesTextViewPr>
  <p:sorterViewPr>
    <p:cViewPr varScale="1">
      <p:scale>
        <a:sx n="100" d="100"/>
        <a:sy n="100" d="100"/>
      </p:scale>
      <p:origin x="0" y="-8328"/>
    </p:cViewPr>
  </p:sorter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handoutMaster" Target="handoutMasters/handoutMaster1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l">
              <a:defRPr sz="13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992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r">
              <a:defRPr sz="1300"/>
            </a:lvl1pPr>
          </a:lstStyle>
          <a:p>
            <a:fld id="{0F9B84EA-7D68-4D60-9CB1-D50884785D1C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l">
              <a:defRPr sz="13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992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r">
              <a:defRPr sz="130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l">
              <a:defRPr sz="13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3992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r">
              <a:defRPr sz="1300"/>
            </a:lvl1pPr>
          </a:lstStyle>
          <a:p>
            <a:fld id="{D2A48B96-639E-45A3-A0BA-2464DFDB1FAA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75" tIns="49538" rIns="99075" bIns="49538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</p:spPr>
        <p:txBody>
          <a:bodyPr vert="horz" lIns="99075" tIns="49538" rIns="99075" bIns="49538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l">
              <a:defRPr sz="13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3992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r">
              <a:defRPr sz="13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77B5DF-C851-4EDA-A9F2-D7C720ED4D7F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92175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幻灯片图像占位符 1">
            <a:extLst>
              <a:ext uri="{FF2B5EF4-FFF2-40B4-BE49-F238E27FC236}">
                <a16:creationId xmlns:a16="http://schemas.microsoft.com/office/drawing/2014/main" id="{5DA62B77-F783-4868-9D25-71986B783AA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noFill/>
          <a:ln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6083" name="备注占位符 2">
            <a:extLst>
              <a:ext uri="{FF2B5EF4-FFF2-40B4-BE49-F238E27FC236}">
                <a16:creationId xmlns:a16="http://schemas.microsoft.com/office/drawing/2014/main" id="{3991A4BE-F054-4CD4-A1DA-4F411B3E854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6084" name="灯片编号占位符 3">
            <a:extLst>
              <a:ext uri="{FF2B5EF4-FFF2-40B4-BE49-F238E27FC236}">
                <a16:creationId xmlns:a16="http://schemas.microsoft.com/office/drawing/2014/main" id="{51CDA775-DEB3-41F3-B86A-E706046E989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722717F9-EED4-4D40-A4CA-93F019A7198E}" type="slidenum">
              <a:rPr lang="zh-CN" altLang="en-US" sz="1200" smtClean="0">
                <a:latin typeface="Times New Roman" panose="02020603050405020304" pitchFamily="18" charset="0"/>
              </a:rPr>
              <a:pPr/>
              <a:t>2</a:t>
            </a:fld>
            <a:endParaRPr lang="zh-CN" altLang="en-US" sz="12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幻灯片图像占位符 1">
            <a:extLst>
              <a:ext uri="{FF2B5EF4-FFF2-40B4-BE49-F238E27FC236}">
                <a16:creationId xmlns:a16="http://schemas.microsoft.com/office/drawing/2014/main" id="{12F05BC9-68FD-4E70-959A-1C536DF659B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noFill/>
          <a:ln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8131" name="备注占位符 2">
            <a:extLst>
              <a:ext uri="{FF2B5EF4-FFF2-40B4-BE49-F238E27FC236}">
                <a16:creationId xmlns:a16="http://schemas.microsoft.com/office/drawing/2014/main" id="{9071CE34-6A12-4FC1-9B5B-6698B3BF880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8132" name="灯片编号占位符 3">
            <a:extLst>
              <a:ext uri="{FF2B5EF4-FFF2-40B4-BE49-F238E27FC236}">
                <a16:creationId xmlns:a16="http://schemas.microsoft.com/office/drawing/2014/main" id="{7ED3B857-0696-46D3-A864-2D89849B2B7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525F6D15-4D68-405D-A42E-81FE534AAAC0}" type="slidenum">
              <a:rPr lang="zh-CN" altLang="en-US" sz="1200" smtClean="0">
                <a:latin typeface="Times New Roman" panose="02020603050405020304" pitchFamily="18" charset="0"/>
              </a:rPr>
              <a:pPr/>
              <a:t>3</a:t>
            </a:fld>
            <a:endParaRPr lang="zh-CN" altLang="en-US" sz="12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幻灯片图像占位符 1">
            <a:extLst>
              <a:ext uri="{FF2B5EF4-FFF2-40B4-BE49-F238E27FC236}">
                <a16:creationId xmlns:a16="http://schemas.microsoft.com/office/drawing/2014/main" id="{C4C805E4-B18B-4D60-94A6-46DDA0DBD73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noFill/>
          <a:ln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6627" name="备注占位符 2">
            <a:extLst>
              <a:ext uri="{FF2B5EF4-FFF2-40B4-BE49-F238E27FC236}">
                <a16:creationId xmlns:a16="http://schemas.microsoft.com/office/drawing/2014/main" id="{513B1384-E5AC-4388-A207-9338F905685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sz="1800"/>
          </a:p>
        </p:txBody>
      </p:sp>
      <p:sp>
        <p:nvSpPr>
          <p:cNvPr id="26628" name="灯片编号占位符 3">
            <a:extLst>
              <a:ext uri="{FF2B5EF4-FFF2-40B4-BE49-F238E27FC236}">
                <a16:creationId xmlns:a16="http://schemas.microsoft.com/office/drawing/2014/main" id="{37BCE8ED-24C4-420E-A56A-164E439EDB2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317EC7-838B-4657-BA96-E5D72A9FFF5B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幻灯片图像占位符 1">
            <a:extLst>
              <a:ext uri="{FF2B5EF4-FFF2-40B4-BE49-F238E27FC236}">
                <a16:creationId xmlns:a16="http://schemas.microsoft.com/office/drawing/2014/main" id="{C4C805E4-B18B-4D60-94A6-46DDA0DBD73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noFill/>
          <a:ln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6627" name="备注占位符 2">
            <a:extLst>
              <a:ext uri="{FF2B5EF4-FFF2-40B4-BE49-F238E27FC236}">
                <a16:creationId xmlns:a16="http://schemas.microsoft.com/office/drawing/2014/main" id="{513B1384-E5AC-4388-A207-9338F905685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sz="1800"/>
          </a:p>
        </p:txBody>
      </p:sp>
      <p:sp>
        <p:nvSpPr>
          <p:cNvPr id="26628" name="灯片编号占位符 3">
            <a:extLst>
              <a:ext uri="{FF2B5EF4-FFF2-40B4-BE49-F238E27FC236}">
                <a16:creationId xmlns:a16="http://schemas.microsoft.com/office/drawing/2014/main" id="{37BCE8ED-24C4-420E-A56A-164E439EDB2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317EC7-838B-4657-BA96-E5D72A9FFF5B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6192717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幻灯片图像占位符 1">
            <a:extLst>
              <a:ext uri="{FF2B5EF4-FFF2-40B4-BE49-F238E27FC236}">
                <a16:creationId xmlns:a16="http://schemas.microsoft.com/office/drawing/2014/main" id="{C4C805E4-B18B-4D60-94A6-46DDA0DBD73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noFill/>
          <a:ln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6627" name="备注占位符 2">
            <a:extLst>
              <a:ext uri="{FF2B5EF4-FFF2-40B4-BE49-F238E27FC236}">
                <a16:creationId xmlns:a16="http://schemas.microsoft.com/office/drawing/2014/main" id="{513B1384-E5AC-4388-A207-9338F905685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sz="1800"/>
          </a:p>
        </p:txBody>
      </p:sp>
      <p:sp>
        <p:nvSpPr>
          <p:cNvPr id="26628" name="灯片编号占位符 3">
            <a:extLst>
              <a:ext uri="{FF2B5EF4-FFF2-40B4-BE49-F238E27FC236}">
                <a16:creationId xmlns:a16="http://schemas.microsoft.com/office/drawing/2014/main" id="{37BCE8ED-24C4-420E-A56A-164E439EDB2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317EC7-838B-4657-BA96-E5D72A9FFF5B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幻灯片图像占位符 1">
            <a:extLst>
              <a:ext uri="{FF2B5EF4-FFF2-40B4-BE49-F238E27FC236}">
                <a16:creationId xmlns:a16="http://schemas.microsoft.com/office/drawing/2014/main" id="{C4C805E4-B18B-4D60-94A6-46DDA0DBD73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noFill/>
          <a:ln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6627" name="备注占位符 2">
            <a:extLst>
              <a:ext uri="{FF2B5EF4-FFF2-40B4-BE49-F238E27FC236}">
                <a16:creationId xmlns:a16="http://schemas.microsoft.com/office/drawing/2014/main" id="{513B1384-E5AC-4388-A207-9338F905685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 sz="1800"/>
              <a:t>游戏世界遵循一个简化的物理模型。现实世界中，物体下落是因为受到重力，重力会让速度越来越快。在代码里模拟这个过程。</a:t>
            </a:r>
          </a:p>
        </p:txBody>
      </p:sp>
      <p:sp>
        <p:nvSpPr>
          <p:cNvPr id="26628" name="灯片编号占位符 3">
            <a:extLst>
              <a:ext uri="{FF2B5EF4-FFF2-40B4-BE49-F238E27FC236}">
                <a16:creationId xmlns:a16="http://schemas.microsoft.com/office/drawing/2014/main" id="{37BCE8ED-24C4-420E-A56A-164E439EDB2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317EC7-838B-4657-BA96-E5D72A9FFF5B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1519052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幻灯片图像占位符 1">
            <a:extLst>
              <a:ext uri="{FF2B5EF4-FFF2-40B4-BE49-F238E27FC236}">
                <a16:creationId xmlns:a16="http://schemas.microsoft.com/office/drawing/2014/main" id="{C4C805E4-B18B-4D60-94A6-46DDA0DBD73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noFill/>
          <a:ln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6627" name="备注占位符 2">
            <a:extLst>
              <a:ext uri="{FF2B5EF4-FFF2-40B4-BE49-F238E27FC236}">
                <a16:creationId xmlns:a16="http://schemas.microsoft.com/office/drawing/2014/main" id="{513B1384-E5AC-4388-A207-9338F905685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just"/>
            <a:r>
              <a:rPr lang="zh-CN" altLang="en-US" sz="1800" b="0" i="0">
                <a:effectLst/>
                <a:latin typeface="Charter"/>
              </a:rPr>
              <a:t>你可以想象一下，如果咱们直接在屏幕上画图，画一笔，屏幕就显示一笔，那在绘制复杂场景的时候，用户就会看到画面被一笔一笔地“画”出来，产生闪烁和撕裂感。</a:t>
            </a:r>
          </a:p>
          <a:p>
            <a:pPr algn="just"/>
            <a:r>
              <a:rPr lang="zh-CN" altLang="en-US" sz="1800" b="1" i="0">
                <a:solidFill>
                  <a:srgbClr val="0F63EE"/>
                </a:solidFill>
                <a:effectLst/>
                <a:latin typeface="Charter"/>
              </a:rPr>
              <a:t>双缓冲的原理很简单：咱们在内存里准备一个“幕后画板”。</a:t>
            </a:r>
            <a:endParaRPr lang="zh-CN" altLang="en-US" sz="1800" b="0" i="0">
              <a:effectLst/>
              <a:latin typeface="Charter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zh-CN" altLang="en-US" sz="1800" b="0" i="0">
                <a:effectLst/>
                <a:latin typeface="Charter"/>
              </a:rPr>
              <a:t>所有要画的东西</a:t>
            </a:r>
            <a:r>
              <a:rPr lang="en-US" altLang="zh-CN" sz="1800" b="0" i="0">
                <a:effectLst/>
                <a:latin typeface="Charter"/>
              </a:rPr>
              <a:t>——</a:t>
            </a:r>
            <a:r>
              <a:rPr lang="zh-CN" altLang="en-US" sz="1800" b="0" i="0">
                <a:effectLst/>
                <a:latin typeface="Charter"/>
              </a:rPr>
              <a:t>背景、管道、小鸟</a:t>
            </a:r>
            <a:r>
              <a:rPr lang="en-US" altLang="zh-CN" sz="1800" b="0" i="0">
                <a:effectLst/>
                <a:latin typeface="Charter"/>
              </a:rPr>
              <a:t>——</a:t>
            </a:r>
            <a:r>
              <a:rPr lang="zh-CN" altLang="en-US" sz="1800" b="0" i="0">
                <a:effectLst/>
                <a:latin typeface="Charter"/>
              </a:rPr>
              <a:t>都先在这个幕后画板上画好。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zh-CN" altLang="en-US" sz="1800" b="0" i="0">
                <a:effectLst/>
                <a:latin typeface="Charter"/>
              </a:rPr>
              <a:t>等所有东西都画完了，咱们再把这个完整的“幕后画板”一次性“贴”到屏幕上。</a:t>
            </a:r>
          </a:p>
          <a:p>
            <a:pPr algn="just"/>
            <a:r>
              <a:rPr lang="zh-CN" altLang="en-US" sz="1800" b="1" i="0">
                <a:solidFill>
                  <a:srgbClr val="0F63EE"/>
                </a:solidFill>
                <a:effectLst/>
                <a:latin typeface="Charter"/>
              </a:rPr>
              <a:t>在</a:t>
            </a:r>
            <a:r>
              <a:rPr lang="en-US" altLang="zh-CN" sz="1800" b="1" i="0">
                <a:solidFill>
                  <a:srgbClr val="0F63EE"/>
                </a:solidFill>
                <a:effectLst/>
                <a:latin typeface="Charter"/>
              </a:rPr>
              <a:t>EasyX</a:t>
            </a:r>
            <a:r>
              <a:rPr lang="zh-CN" altLang="en-US" sz="1800" b="1" i="0">
                <a:solidFill>
                  <a:srgbClr val="0F63EE"/>
                </a:solidFill>
                <a:effectLst/>
                <a:latin typeface="Charter"/>
              </a:rPr>
              <a:t>里，实现这个机制只需要两个函数：</a:t>
            </a:r>
            <a:endParaRPr lang="zh-CN" altLang="en-US" sz="1800" b="0" i="0">
              <a:effectLst/>
              <a:latin typeface="Charter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altLang="zh-CN" sz="1800" b="0" i="0">
                <a:effectLst/>
                <a:latin typeface="Charter"/>
              </a:rPr>
              <a:t>BeginBatchDraw()</a:t>
            </a:r>
            <a:r>
              <a:rPr lang="zh-CN" altLang="en-US" sz="1800" b="0" i="0">
                <a:effectLst/>
                <a:latin typeface="Charter"/>
              </a:rPr>
              <a:t>：在每帧开始绘制前调用，告诉</a:t>
            </a:r>
            <a:r>
              <a:rPr lang="en-US" altLang="zh-CN" sz="1800" b="0" i="0">
                <a:effectLst/>
                <a:latin typeface="Charter"/>
              </a:rPr>
              <a:t>EasyX</a:t>
            </a:r>
            <a:r>
              <a:rPr lang="zh-CN" altLang="en-US" sz="1800" b="0" i="0">
                <a:effectLst/>
                <a:latin typeface="Charter"/>
              </a:rPr>
              <a:t>：“我要开始往幕后画板上画了。”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altLang="zh-CN" sz="1800" b="0" i="0">
                <a:effectLst/>
                <a:latin typeface="Charter"/>
              </a:rPr>
              <a:t>EndBatchDraw()</a:t>
            </a:r>
            <a:r>
              <a:rPr lang="zh-CN" altLang="en-US" sz="1800" b="0" i="0">
                <a:effectLst/>
                <a:latin typeface="Charter"/>
              </a:rPr>
              <a:t>：在所有绘制操作完成后调用，告诉</a:t>
            </a:r>
            <a:r>
              <a:rPr lang="en-US" altLang="zh-CN" sz="1800" b="0" i="0">
                <a:effectLst/>
                <a:latin typeface="Charter"/>
              </a:rPr>
              <a:t>EasyX</a:t>
            </a:r>
            <a:r>
              <a:rPr lang="zh-CN" altLang="en-US" sz="1800" b="0" i="0">
                <a:effectLst/>
                <a:latin typeface="Charter"/>
              </a:rPr>
              <a:t>：“幕后画板已经画好了，现在一次性显示到屏幕上吧。”</a:t>
            </a:r>
            <a:endParaRPr lang="en-US" altLang="zh-CN" sz="1800" b="0" i="0">
              <a:effectLst/>
              <a:latin typeface="Charter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zh-CN" altLang="en-US" sz="2800" b="1" i="0">
                <a:solidFill>
                  <a:srgbClr val="0F63EE"/>
                </a:solidFill>
                <a:effectLst/>
                <a:latin typeface="Charter"/>
              </a:rPr>
              <a:t>这个“先画好，再展示”的过程，就像咱们拍电影，不是拍一帧放一帧，而是先拍完一整卷胶片，再拿到放映机上去连续播放，效果自然就流畅了。</a:t>
            </a:r>
            <a:endParaRPr lang="zh-CN" altLang="en-US" sz="1800" b="0" i="0">
              <a:effectLst/>
              <a:latin typeface="Charter"/>
            </a:endParaRPr>
          </a:p>
          <a:p>
            <a:pPr algn="just"/>
            <a:endParaRPr lang="zh-CN" altLang="zh-CN" sz="1200" kern="100">
              <a:effectLst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6628" name="灯片编号占位符 3">
            <a:extLst>
              <a:ext uri="{FF2B5EF4-FFF2-40B4-BE49-F238E27FC236}">
                <a16:creationId xmlns:a16="http://schemas.microsoft.com/office/drawing/2014/main" id="{37BCE8ED-24C4-420E-A56A-164E439EDB2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317EC7-838B-4657-BA96-E5D72A9FFF5B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342096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幻灯片图像占位符 1">
            <a:extLst>
              <a:ext uri="{FF2B5EF4-FFF2-40B4-BE49-F238E27FC236}">
                <a16:creationId xmlns:a16="http://schemas.microsoft.com/office/drawing/2014/main" id="{C4C805E4-B18B-4D60-94A6-46DDA0DBD73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noFill/>
          <a:ln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6627" name="备注占位符 2">
            <a:extLst>
              <a:ext uri="{FF2B5EF4-FFF2-40B4-BE49-F238E27FC236}">
                <a16:creationId xmlns:a16="http://schemas.microsoft.com/office/drawing/2014/main" id="{513B1384-E5AC-4388-A207-9338F905685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sz="1800"/>
          </a:p>
        </p:txBody>
      </p:sp>
      <p:sp>
        <p:nvSpPr>
          <p:cNvPr id="26628" name="灯片编号占位符 3">
            <a:extLst>
              <a:ext uri="{FF2B5EF4-FFF2-40B4-BE49-F238E27FC236}">
                <a16:creationId xmlns:a16="http://schemas.microsoft.com/office/drawing/2014/main" id="{37BCE8ED-24C4-420E-A56A-164E439EDB2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317EC7-838B-4657-BA96-E5D72A9FFF5B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6364374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幻灯片图像占位符 1">
            <a:extLst>
              <a:ext uri="{FF2B5EF4-FFF2-40B4-BE49-F238E27FC236}">
                <a16:creationId xmlns:a16="http://schemas.microsoft.com/office/drawing/2014/main" id="{C4C805E4-B18B-4D60-94A6-46DDA0DBD73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noFill/>
          <a:ln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6627" name="备注占位符 2">
            <a:extLst>
              <a:ext uri="{FF2B5EF4-FFF2-40B4-BE49-F238E27FC236}">
                <a16:creationId xmlns:a16="http://schemas.microsoft.com/office/drawing/2014/main" id="{513B1384-E5AC-4388-A207-9338F905685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 sz="1800"/>
              <a:t>省空间：从 </a:t>
            </a:r>
            <a:r>
              <a:rPr lang="en-US" altLang="zh-CN" sz="1800"/>
              <a:t>8×8=64 </a:t>
            </a:r>
            <a:r>
              <a:rPr lang="zh-CN" altLang="en-US" sz="1800"/>
              <a:t>个格子，变成了 </a:t>
            </a:r>
            <a:r>
              <a:rPr lang="en-US" altLang="zh-CN" sz="1800"/>
              <a:t>8 </a:t>
            </a:r>
            <a:r>
              <a:rPr lang="zh-CN" altLang="en-US" sz="1800"/>
              <a:t>个格子。</a:t>
            </a:r>
          </a:p>
          <a:p>
            <a:r>
              <a:rPr lang="zh-CN" altLang="en-US" sz="1800"/>
              <a:t>逻辑简单：判断冲突的时候，不用满棋盘去找皇后，只需要看看之前几行的皇后位置就行了。</a:t>
            </a:r>
          </a:p>
        </p:txBody>
      </p:sp>
      <p:sp>
        <p:nvSpPr>
          <p:cNvPr id="26628" name="灯片编号占位符 3">
            <a:extLst>
              <a:ext uri="{FF2B5EF4-FFF2-40B4-BE49-F238E27FC236}">
                <a16:creationId xmlns:a16="http://schemas.microsoft.com/office/drawing/2014/main" id="{37BCE8ED-24C4-420E-A56A-164E439EDB2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317EC7-838B-4657-BA96-E5D72A9FFF5B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2110438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幻灯片图像占位符 1">
            <a:extLst>
              <a:ext uri="{FF2B5EF4-FFF2-40B4-BE49-F238E27FC236}">
                <a16:creationId xmlns:a16="http://schemas.microsoft.com/office/drawing/2014/main" id="{C4C805E4-B18B-4D60-94A6-46DDA0DBD73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noFill/>
          <a:ln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6627" name="备注占位符 2">
            <a:extLst>
              <a:ext uri="{FF2B5EF4-FFF2-40B4-BE49-F238E27FC236}">
                <a16:creationId xmlns:a16="http://schemas.microsoft.com/office/drawing/2014/main" id="{513B1384-E5AC-4388-A207-9338F905685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 sz="1800"/>
              <a:t>省空间：从 </a:t>
            </a:r>
            <a:r>
              <a:rPr lang="en-US" altLang="zh-CN" sz="1800"/>
              <a:t>8×8=64 </a:t>
            </a:r>
            <a:r>
              <a:rPr lang="zh-CN" altLang="en-US" sz="1800"/>
              <a:t>个格子，变成了 </a:t>
            </a:r>
            <a:r>
              <a:rPr lang="en-US" altLang="zh-CN" sz="1800"/>
              <a:t>8 </a:t>
            </a:r>
            <a:r>
              <a:rPr lang="zh-CN" altLang="en-US" sz="1800"/>
              <a:t>个格子。</a:t>
            </a:r>
          </a:p>
          <a:p>
            <a:r>
              <a:rPr lang="zh-CN" altLang="en-US" sz="1800"/>
              <a:t>逻辑简单：判断冲突的时候，不用满棋盘去找皇后，只需要看看之前几行的皇后位置就行了。</a:t>
            </a:r>
          </a:p>
        </p:txBody>
      </p:sp>
      <p:sp>
        <p:nvSpPr>
          <p:cNvPr id="26628" name="灯片编号占位符 3">
            <a:extLst>
              <a:ext uri="{FF2B5EF4-FFF2-40B4-BE49-F238E27FC236}">
                <a16:creationId xmlns:a16="http://schemas.microsoft.com/office/drawing/2014/main" id="{37BCE8ED-24C4-420E-A56A-164E439EDB2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317EC7-838B-4657-BA96-E5D72A9FFF5B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8070733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幻灯片图像占位符 1">
            <a:extLst>
              <a:ext uri="{FF2B5EF4-FFF2-40B4-BE49-F238E27FC236}">
                <a16:creationId xmlns:a16="http://schemas.microsoft.com/office/drawing/2014/main" id="{C4C805E4-B18B-4D60-94A6-46DDA0DBD73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noFill/>
          <a:ln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6627" name="备注占位符 2">
            <a:extLst>
              <a:ext uri="{FF2B5EF4-FFF2-40B4-BE49-F238E27FC236}">
                <a16:creationId xmlns:a16="http://schemas.microsoft.com/office/drawing/2014/main" id="{513B1384-E5AC-4388-A207-9338F905685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 sz="1800"/>
              <a:t>省空间：从 </a:t>
            </a:r>
            <a:r>
              <a:rPr lang="en-US" altLang="zh-CN" sz="1800"/>
              <a:t>8×8=64 </a:t>
            </a:r>
            <a:r>
              <a:rPr lang="zh-CN" altLang="en-US" sz="1800"/>
              <a:t>个格子，变成了 </a:t>
            </a:r>
            <a:r>
              <a:rPr lang="en-US" altLang="zh-CN" sz="1800"/>
              <a:t>8 </a:t>
            </a:r>
            <a:r>
              <a:rPr lang="zh-CN" altLang="en-US" sz="1800"/>
              <a:t>个格子。</a:t>
            </a:r>
          </a:p>
          <a:p>
            <a:r>
              <a:rPr lang="zh-CN" altLang="en-US" sz="1800"/>
              <a:t>逻辑简单：判断冲突的时候，不用满棋盘去找皇后，只需要看看之前几行的皇后位置就行了。</a:t>
            </a:r>
          </a:p>
        </p:txBody>
      </p:sp>
      <p:sp>
        <p:nvSpPr>
          <p:cNvPr id="26628" name="灯片编号占位符 3">
            <a:extLst>
              <a:ext uri="{FF2B5EF4-FFF2-40B4-BE49-F238E27FC236}">
                <a16:creationId xmlns:a16="http://schemas.microsoft.com/office/drawing/2014/main" id="{37BCE8ED-24C4-420E-A56A-164E439EDB2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317EC7-838B-4657-BA96-E5D72A9FFF5B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2021843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幻灯片图像占位符 1">
            <a:extLst>
              <a:ext uri="{FF2B5EF4-FFF2-40B4-BE49-F238E27FC236}">
                <a16:creationId xmlns:a16="http://schemas.microsoft.com/office/drawing/2014/main" id="{C4C805E4-B18B-4D60-94A6-46DDA0DBD73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noFill/>
          <a:ln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6627" name="备注占位符 2">
            <a:extLst>
              <a:ext uri="{FF2B5EF4-FFF2-40B4-BE49-F238E27FC236}">
                <a16:creationId xmlns:a16="http://schemas.microsoft.com/office/drawing/2014/main" id="{513B1384-E5AC-4388-A207-9338F905685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just"/>
            <a:r>
              <a:rPr lang="zh-CN" altLang="zh-CN" sz="1800" kern="100">
                <a:effectLst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使用两个背景图像在屏幕上滚动来模拟</a:t>
            </a:r>
            <a:r>
              <a:rPr lang="en-US" altLang="zh-CN" sz="1800" kern="100">
                <a:effectLst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sz="1800" kern="100">
                <a:effectLst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无限地图</a:t>
            </a:r>
            <a:r>
              <a:rPr lang="en-US" altLang="zh-CN" sz="1800" kern="100">
                <a:effectLst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zh-CN" altLang="zh-CN" sz="1800" kern="100">
                <a:effectLst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  <a:endParaRPr lang="en-US" altLang="zh-CN" sz="1800" kern="100">
              <a:effectLst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en-US" altLang="zh-CN" sz="1800" kern="100">
                <a:effectLst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bgOff</a:t>
            </a:r>
            <a:r>
              <a:rPr lang="zh-CN" altLang="en-US" sz="1800" kern="100">
                <a:effectLst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初始值为</a:t>
            </a:r>
            <a:r>
              <a:rPr lang="en-US" altLang="zh-CN" sz="1800" kern="100">
                <a:effectLst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endParaRPr lang="zh-CN" altLang="zh-CN" sz="1800" kern="100">
              <a:effectLst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zh-CN" altLang="zh-CN" sz="1800" kern="100">
                <a:effectLst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每帧更新背景滚动偏移量 </a:t>
            </a:r>
            <a:r>
              <a:rPr lang="en-US" altLang="zh-CN" sz="1800" kern="100">
                <a:effectLst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bgOff = (bgOff + SCROLL_SPEED) % WIN_W;</a:t>
            </a:r>
            <a:r>
              <a:rPr lang="zh-CN" altLang="zh-CN" sz="1800" kern="100">
                <a:effectLst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使其向左滚动。</a:t>
            </a:r>
          </a:p>
          <a:p>
            <a:pPr algn="just"/>
            <a:r>
              <a:rPr lang="zh-CN" altLang="zh-CN" sz="1800" kern="100">
                <a:effectLst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然后，在绘制的时候，</a:t>
            </a:r>
            <a:r>
              <a:rPr lang="en-US" altLang="zh-CN" sz="1800" kern="100">
                <a:effectLst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putimage(-bgOff, 0, bg); </a:t>
            </a:r>
            <a:r>
              <a:rPr lang="zh-CN" altLang="zh-CN" sz="1800" kern="100">
                <a:effectLst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第一张背景图</a:t>
            </a:r>
            <a:r>
              <a:rPr lang="en-US" altLang="zh-CN" sz="1800" kern="100">
                <a:effectLst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bg</a:t>
            </a:r>
            <a:r>
              <a:rPr lang="zh-CN" altLang="zh-CN" sz="1800" kern="100">
                <a:effectLst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就画在</a:t>
            </a:r>
            <a:r>
              <a:rPr lang="en-US" altLang="zh-CN" sz="1800" kern="100">
                <a:effectLst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x = -bgOffset</a:t>
            </a:r>
            <a:r>
              <a:rPr lang="zh-CN" altLang="zh-CN" sz="1800" kern="100">
                <a:effectLst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的位置，将背景图</a:t>
            </a:r>
            <a:r>
              <a:rPr lang="en-US" altLang="zh-CN" sz="1800" kern="100">
                <a:effectLst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bg</a:t>
            </a:r>
            <a:r>
              <a:rPr lang="zh-CN" altLang="zh-CN" sz="1800" kern="100">
                <a:effectLst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从</a:t>
            </a:r>
            <a:r>
              <a:rPr lang="en-US" altLang="zh-CN" sz="1800" kern="100">
                <a:effectLst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-bgOff </a:t>
            </a:r>
            <a:r>
              <a:rPr lang="zh-CN" altLang="zh-CN" sz="1800" kern="100">
                <a:effectLst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横坐标开始绘制，当</a:t>
            </a:r>
            <a:r>
              <a:rPr lang="en-US" altLang="zh-CN" sz="1800" kern="100">
                <a:effectLst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bgOff &gt; 0 </a:t>
            </a:r>
            <a:r>
              <a:rPr lang="zh-CN" altLang="zh-CN" sz="1800" kern="100">
                <a:effectLst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时，背景向左移动，看起来像小鸟在前进。</a:t>
            </a:r>
          </a:p>
          <a:p>
            <a:pPr algn="just"/>
            <a:r>
              <a:rPr lang="zh-CN" altLang="zh-CN" sz="1800" kern="100">
                <a:effectLst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当第一张背景图向左移动时，右边会出现空白</a:t>
            </a:r>
            <a:r>
              <a:rPr lang="en-US" altLang="zh-CN" sz="1800" kern="100">
                <a:effectLst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, putimage(WIN_W - bgOff, 0, bg); </a:t>
            </a:r>
            <a:r>
              <a:rPr lang="zh-CN" altLang="zh-CN" sz="1800" kern="100">
                <a:effectLst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就画在第一张图的右边，也就是</a:t>
            </a:r>
            <a:r>
              <a:rPr lang="en-US" altLang="zh-CN" sz="1800" kern="100">
                <a:effectLst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x = WIN_W - bgOffset</a:t>
            </a:r>
            <a:r>
              <a:rPr lang="zh-CN" altLang="zh-CN" sz="1800" kern="100">
                <a:effectLst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位置，保证画面连续。</a:t>
            </a:r>
          </a:p>
          <a:p>
            <a:pPr algn="just"/>
            <a:r>
              <a:rPr lang="zh-CN" altLang="zh-CN" sz="1800" kern="100">
                <a:effectLst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这样，两张图就形成了一个永无止境的循环，看起来就像背景在无限滚动一样。</a:t>
            </a:r>
          </a:p>
        </p:txBody>
      </p:sp>
      <p:sp>
        <p:nvSpPr>
          <p:cNvPr id="26628" name="灯片编号占位符 3">
            <a:extLst>
              <a:ext uri="{FF2B5EF4-FFF2-40B4-BE49-F238E27FC236}">
                <a16:creationId xmlns:a16="http://schemas.microsoft.com/office/drawing/2014/main" id="{37BCE8ED-24C4-420E-A56A-164E439EDB2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317EC7-838B-4657-BA96-E5D72A9FFF5B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3251149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幻灯片图像占位符 1">
            <a:extLst>
              <a:ext uri="{FF2B5EF4-FFF2-40B4-BE49-F238E27FC236}">
                <a16:creationId xmlns:a16="http://schemas.microsoft.com/office/drawing/2014/main" id="{C4C805E4-B18B-4D60-94A6-46DDA0DBD73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noFill/>
          <a:ln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6627" name="备注占位符 2">
            <a:extLst>
              <a:ext uri="{FF2B5EF4-FFF2-40B4-BE49-F238E27FC236}">
                <a16:creationId xmlns:a16="http://schemas.microsoft.com/office/drawing/2014/main" id="{513B1384-E5AC-4388-A207-9338F905685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just"/>
            <a:r>
              <a:rPr lang="zh-CN" altLang="en-US" sz="2800" b="0" i="0">
                <a:effectLst/>
                <a:latin typeface="Charter"/>
              </a:rPr>
              <a:t>管道和背景的滚动逻辑是同步的。咱们之前定义了一个 </a:t>
            </a:r>
            <a:r>
              <a:rPr lang="en-US" altLang="zh-CN" sz="2800" b="0" i="0">
                <a:effectLst/>
                <a:latin typeface="Charter"/>
              </a:rPr>
              <a:t>Pipe </a:t>
            </a:r>
            <a:r>
              <a:rPr lang="zh-CN" altLang="en-US" sz="2800" b="0" i="0">
                <a:effectLst/>
                <a:latin typeface="Charter"/>
              </a:rPr>
              <a:t>结构体数组，里面存了</a:t>
            </a:r>
            <a:r>
              <a:rPr lang="en-US" altLang="zh-CN" sz="2800" b="0" i="0">
                <a:effectLst/>
                <a:latin typeface="Charter"/>
              </a:rPr>
              <a:t>3</a:t>
            </a:r>
            <a:r>
              <a:rPr lang="zh-CN" altLang="en-US" sz="2800" b="0" i="0">
                <a:effectLst/>
                <a:latin typeface="Charter"/>
              </a:rPr>
              <a:t>组管道。在每一帧里，咱们需要做两件事：</a:t>
            </a:r>
          </a:p>
          <a:p>
            <a:pPr algn="just">
              <a:buFont typeface="+mj-lt"/>
              <a:buAutoNum type="arabicPeriod"/>
            </a:pPr>
            <a:r>
              <a:rPr lang="zh-CN" altLang="en-US" sz="2800" b="1" i="0">
                <a:solidFill>
                  <a:srgbClr val="0F63EE"/>
                </a:solidFill>
                <a:effectLst/>
                <a:latin typeface="Charter"/>
              </a:rPr>
              <a:t>更新位置</a:t>
            </a:r>
            <a:r>
              <a:rPr lang="zh-CN" altLang="en-US" sz="2800" b="0" i="0">
                <a:effectLst/>
                <a:latin typeface="Charter"/>
              </a:rPr>
              <a:t>：遍历所有管道，把它们的 </a:t>
            </a:r>
            <a:r>
              <a:rPr lang="en-US" altLang="zh-CN" sz="2800" b="0" i="0">
                <a:effectLst/>
                <a:latin typeface="Charter"/>
              </a:rPr>
              <a:t>x </a:t>
            </a:r>
            <a:r>
              <a:rPr lang="zh-CN" altLang="en-US" sz="2800" b="0" i="0">
                <a:effectLst/>
                <a:latin typeface="Charter"/>
              </a:rPr>
              <a:t>坐标减去一个固定的速度值（这个速度要和背景滚动速度一致，才能看起来是整体移动）。</a:t>
            </a:r>
          </a:p>
          <a:p>
            <a:pPr algn="just">
              <a:buFont typeface="+mj-lt"/>
              <a:buAutoNum type="arabicPeriod"/>
            </a:pPr>
            <a:r>
              <a:rPr lang="zh-CN" altLang="en-US" sz="2800" b="1" i="0">
                <a:solidFill>
                  <a:srgbClr val="0F63EE"/>
                </a:solidFill>
                <a:effectLst/>
                <a:latin typeface="Charter"/>
              </a:rPr>
              <a:t>循环复用</a:t>
            </a:r>
            <a:r>
              <a:rPr lang="zh-CN" altLang="en-US" sz="2800" b="0" i="0">
                <a:effectLst/>
                <a:latin typeface="Charter"/>
              </a:rPr>
              <a:t>：检查每个管道的 </a:t>
            </a:r>
            <a:r>
              <a:rPr lang="en-US" altLang="zh-CN" sz="2800" b="0" i="0">
                <a:effectLst/>
                <a:latin typeface="Charter"/>
              </a:rPr>
              <a:t>x </a:t>
            </a:r>
            <a:r>
              <a:rPr lang="zh-CN" altLang="en-US" sz="2800" b="0" i="0">
                <a:effectLst/>
                <a:latin typeface="Charter"/>
              </a:rPr>
              <a:t>坐标，如果它已经移出了屏幕左侧（比如 </a:t>
            </a:r>
            <a:r>
              <a:rPr lang="en-US" altLang="zh-CN" sz="2800" b="0" i="0">
                <a:effectLst/>
                <a:latin typeface="Charter"/>
              </a:rPr>
              <a:t>x &lt; -PIPE_WIDTH</a:t>
            </a:r>
            <a:r>
              <a:rPr lang="zh-CN" altLang="en-US" sz="2800" b="0" i="0">
                <a:effectLst/>
                <a:latin typeface="Charter"/>
              </a:rPr>
              <a:t>），那咱们就把它“回收”，重新设置它的 </a:t>
            </a:r>
            <a:r>
              <a:rPr lang="en-US" altLang="zh-CN" sz="2800" b="0" i="0">
                <a:effectLst/>
                <a:latin typeface="Charter"/>
              </a:rPr>
              <a:t>x </a:t>
            </a:r>
            <a:r>
              <a:rPr lang="zh-CN" altLang="en-US" sz="2800" b="0" i="0">
                <a:effectLst/>
                <a:latin typeface="Charter"/>
              </a:rPr>
              <a:t>坐标为屏幕最右侧，并且</a:t>
            </a:r>
            <a:r>
              <a:rPr lang="zh-CN" altLang="en-US" sz="2800" b="1" i="0">
                <a:solidFill>
                  <a:srgbClr val="0F63EE"/>
                </a:solidFill>
                <a:effectLst/>
                <a:latin typeface="Charter"/>
              </a:rPr>
              <a:t>重新随机生成一个缝隙位置</a:t>
            </a:r>
            <a:r>
              <a:rPr lang="zh-CN" altLang="en-US" sz="2800" b="0" i="0">
                <a:effectLst/>
                <a:latin typeface="Charter"/>
              </a:rPr>
              <a:t>。这样，这组管道就获得了新生，从右边再次进入画面。</a:t>
            </a:r>
          </a:p>
          <a:p>
            <a:pPr algn="just"/>
            <a:r>
              <a:rPr lang="zh-CN" altLang="en-US" sz="2800" b="1" i="0">
                <a:solidFill>
                  <a:srgbClr val="0F63EE"/>
                </a:solidFill>
                <a:effectLst/>
                <a:latin typeface="Charter"/>
              </a:rPr>
              <a:t>这样一来，咱们就只用管理</a:t>
            </a:r>
            <a:r>
              <a:rPr lang="en-US" altLang="zh-CN" sz="2800" b="1" i="0">
                <a:solidFill>
                  <a:srgbClr val="0F63EE"/>
                </a:solidFill>
                <a:effectLst/>
                <a:latin typeface="Charter"/>
              </a:rPr>
              <a:t>3</a:t>
            </a:r>
            <a:r>
              <a:rPr lang="zh-CN" altLang="en-US" sz="2800" b="1" i="0">
                <a:solidFill>
                  <a:srgbClr val="0F63EE"/>
                </a:solidFill>
                <a:effectLst/>
                <a:latin typeface="Charter"/>
              </a:rPr>
              <a:t>组管道，但它们却能不断地从右侧出现，形成源源不断的障碍物，这就是“循环复用”的精髓。</a:t>
            </a:r>
            <a:endParaRPr lang="zh-CN" altLang="en-US" sz="2800" b="0" i="0">
              <a:effectLst/>
              <a:latin typeface="Charter"/>
            </a:endParaRPr>
          </a:p>
          <a:p>
            <a:pPr algn="just"/>
            <a:endParaRPr lang="zh-CN" altLang="zh-CN" sz="1800" kern="100">
              <a:effectLst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6628" name="灯片编号占位符 3">
            <a:extLst>
              <a:ext uri="{FF2B5EF4-FFF2-40B4-BE49-F238E27FC236}">
                <a16:creationId xmlns:a16="http://schemas.microsoft.com/office/drawing/2014/main" id="{37BCE8ED-24C4-420E-A56A-164E439EDB2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317EC7-838B-4657-BA96-E5D72A9FFF5B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5293629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幻灯片图像占位符 1">
            <a:extLst>
              <a:ext uri="{FF2B5EF4-FFF2-40B4-BE49-F238E27FC236}">
                <a16:creationId xmlns:a16="http://schemas.microsoft.com/office/drawing/2014/main" id="{C4C805E4-B18B-4D60-94A6-46DDA0DBD73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noFill/>
          <a:ln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6627" name="备注占位符 2">
            <a:extLst>
              <a:ext uri="{FF2B5EF4-FFF2-40B4-BE49-F238E27FC236}">
                <a16:creationId xmlns:a16="http://schemas.microsoft.com/office/drawing/2014/main" id="{513B1384-E5AC-4388-A207-9338F905685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just"/>
            <a:endParaRPr lang="zh-CN" altLang="zh-CN" sz="1800" kern="100">
              <a:effectLst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6628" name="灯片编号占位符 3">
            <a:extLst>
              <a:ext uri="{FF2B5EF4-FFF2-40B4-BE49-F238E27FC236}">
                <a16:creationId xmlns:a16="http://schemas.microsoft.com/office/drawing/2014/main" id="{37BCE8ED-24C4-420E-A56A-164E439EDB2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317EC7-838B-4657-BA96-E5D72A9FFF5B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902288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幻灯片图像占位符 1">
            <a:extLst>
              <a:ext uri="{FF2B5EF4-FFF2-40B4-BE49-F238E27FC236}">
                <a16:creationId xmlns:a16="http://schemas.microsoft.com/office/drawing/2014/main" id="{C4C805E4-B18B-4D60-94A6-46DDA0DBD73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noFill/>
          <a:ln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6627" name="备注占位符 2">
            <a:extLst>
              <a:ext uri="{FF2B5EF4-FFF2-40B4-BE49-F238E27FC236}">
                <a16:creationId xmlns:a16="http://schemas.microsoft.com/office/drawing/2014/main" id="{513B1384-E5AC-4388-A207-9338F905685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 sz="1400">
                <a:solidFill>
                  <a:srgbClr val="000000"/>
                </a:solidFill>
              </a:rPr>
              <a:t>任务</a:t>
            </a:r>
            <a:r>
              <a:rPr lang="en-US" altLang="zh-CN" sz="1400">
                <a:solidFill>
                  <a:srgbClr val="000000"/>
                </a:solidFill>
              </a:rPr>
              <a:t>3</a:t>
            </a:r>
            <a:r>
              <a:rPr lang="zh-CN" altLang="en-US" sz="1400">
                <a:solidFill>
                  <a:srgbClr val="000000"/>
                </a:solidFill>
              </a:rPr>
              <a:t>在任务</a:t>
            </a:r>
            <a:r>
              <a:rPr lang="en-US" altLang="zh-CN" sz="1400">
                <a:solidFill>
                  <a:srgbClr val="000000"/>
                </a:solidFill>
              </a:rPr>
              <a:t>2</a:t>
            </a:r>
            <a:r>
              <a:rPr lang="zh-CN" altLang="en-US" sz="1400">
                <a:solidFill>
                  <a:srgbClr val="000000"/>
                </a:solidFill>
              </a:rPr>
              <a:t>的基础上，</a:t>
            </a:r>
            <a:r>
              <a:rPr lang="zh-CN" altLang="zh-CN" sz="1400">
                <a:latin typeface="Consolas" panose="020B0609020204030204" pitchFamily="49" charset="0"/>
                <a:cs typeface="Times New Roman" panose="02020603050405020304" pitchFamily="18" charset="0"/>
              </a:rPr>
              <a:t>加入完整的人机交互控制与失败判定</a:t>
            </a:r>
            <a:r>
              <a:rPr lang="zh-CN" altLang="en-US" sz="1400">
                <a:solidFill>
                  <a:srgbClr val="000000"/>
                </a:solidFill>
              </a:rPr>
              <a:t>，完善了游戏的核心规则。</a:t>
            </a:r>
          </a:p>
          <a:p>
            <a:r>
              <a:rPr lang="zh-CN" altLang="zh-CN" sz="1800">
                <a:latin typeface="Consolas" panose="020B0609020204030204" pitchFamily="49" charset="0"/>
              </a:rPr>
              <a:t>当小鸟碰到管道或触碰地面</a:t>
            </a:r>
            <a:r>
              <a:rPr lang="en-US" altLang="zh-CN" sz="1800">
                <a:latin typeface="Consolas" panose="020B0609020204030204" pitchFamily="49" charset="0"/>
              </a:rPr>
              <a:t>/</a:t>
            </a:r>
            <a:r>
              <a:rPr lang="zh-CN" altLang="zh-CN" sz="1800">
                <a:latin typeface="Consolas" panose="020B0609020204030204" pitchFamily="49" charset="0"/>
              </a:rPr>
              <a:t>顶部边界时判定游戏失败，同时加入游戏状态机以及按键控制，实现完整可交互的闯关失败体验。</a:t>
            </a:r>
          </a:p>
          <a:p>
            <a:endParaRPr lang="zh-CN" altLang="en-US" sz="1800"/>
          </a:p>
        </p:txBody>
      </p:sp>
      <p:sp>
        <p:nvSpPr>
          <p:cNvPr id="26628" name="灯片编号占位符 3">
            <a:extLst>
              <a:ext uri="{FF2B5EF4-FFF2-40B4-BE49-F238E27FC236}">
                <a16:creationId xmlns:a16="http://schemas.microsoft.com/office/drawing/2014/main" id="{37BCE8ED-24C4-420E-A56A-164E439EDB2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317EC7-838B-4657-BA96-E5D72A9FFF5B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7603359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幻灯片图像占位符 1">
            <a:extLst>
              <a:ext uri="{FF2B5EF4-FFF2-40B4-BE49-F238E27FC236}">
                <a16:creationId xmlns:a16="http://schemas.microsoft.com/office/drawing/2014/main" id="{C4C805E4-B18B-4D60-94A6-46DDA0DBD73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noFill/>
          <a:ln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6627" name="备注占位符 2">
            <a:extLst>
              <a:ext uri="{FF2B5EF4-FFF2-40B4-BE49-F238E27FC236}">
                <a16:creationId xmlns:a16="http://schemas.microsoft.com/office/drawing/2014/main" id="{513B1384-E5AC-4388-A207-9338F905685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sz="1800"/>
          </a:p>
        </p:txBody>
      </p:sp>
      <p:sp>
        <p:nvSpPr>
          <p:cNvPr id="26628" name="灯片编号占位符 3">
            <a:extLst>
              <a:ext uri="{FF2B5EF4-FFF2-40B4-BE49-F238E27FC236}">
                <a16:creationId xmlns:a16="http://schemas.microsoft.com/office/drawing/2014/main" id="{37BCE8ED-24C4-420E-A56A-164E439EDB2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317EC7-838B-4657-BA96-E5D72A9FFF5B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880774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幻灯片图像占位符 1">
            <a:extLst>
              <a:ext uri="{FF2B5EF4-FFF2-40B4-BE49-F238E27FC236}">
                <a16:creationId xmlns:a16="http://schemas.microsoft.com/office/drawing/2014/main" id="{C4C805E4-B18B-4D60-94A6-46DDA0DBD73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noFill/>
          <a:ln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6627" name="备注占位符 2">
            <a:extLst>
              <a:ext uri="{FF2B5EF4-FFF2-40B4-BE49-F238E27FC236}">
                <a16:creationId xmlns:a16="http://schemas.microsoft.com/office/drawing/2014/main" id="{513B1384-E5AC-4388-A207-9338F905685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zh-CN" sz="1800" kern="100">
                <a:effectLst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使用一个 </a:t>
            </a:r>
            <a:r>
              <a:rPr lang="en-US" altLang="zh-CN" sz="1800" kern="100">
                <a:effectLst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GameState </a:t>
            </a:r>
            <a:r>
              <a:rPr lang="zh-CN" altLang="zh-CN" sz="1800" kern="100">
                <a:effectLst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枚举来管理当前游戏状态。</a:t>
            </a:r>
            <a:r>
              <a:rPr lang="zh-CN" altLang="en-US" sz="2800" b="1"/>
              <a:t>所有更新、渲染和输入处理先判断状态再执行对应操作</a:t>
            </a:r>
            <a:r>
              <a:rPr lang="zh-CN" altLang="en-US" sz="2800"/>
              <a:t>。</a:t>
            </a:r>
          </a:p>
          <a:p>
            <a:pPr algn="just"/>
            <a:endParaRPr lang="zh-CN" altLang="zh-CN" sz="1800" kern="100">
              <a:effectLst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6628" name="灯片编号占位符 3">
            <a:extLst>
              <a:ext uri="{FF2B5EF4-FFF2-40B4-BE49-F238E27FC236}">
                <a16:creationId xmlns:a16="http://schemas.microsoft.com/office/drawing/2014/main" id="{37BCE8ED-24C4-420E-A56A-164E439EDB2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317EC7-838B-4657-BA96-E5D72A9FFF5B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3895171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幻灯片图像占位符 1">
            <a:extLst>
              <a:ext uri="{FF2B5EF4-FFF2-40B4-BE49-F238E27FC236}">
                <a16:creationId xmlns:a16="http://schemas.microsoft.com/office/drawing/2014/main" id="{C4C805E4-B18B-4D60-94A6-46DDA0DBD73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noFill/>
          <a:ln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6627" name="备注占位符 2">
            <a:extLst>
              <a:ext uri="{FF2B5EF4-FFF2-40B4-BE49-F238E27FC236}">
                <a16:creationId xmlns:a16="http://schemas.microsoft.com/office/drawing/2014/main" id="{513B1384-E5AC-4388-A207-9338F905685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just"/>
            <a:r>
              <a:rPr lang="zh-CN" altLang="zh-CN" sz="1800" kern="100">
                <a:effectLst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使用一个 </a:t>
            </a:r>
            <a:r>
              <a:rPr lang="en-US" altLang="zh-CN" sz="1800" kern="100">
                <a:effectLst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GameState </a:t>
            </a:r>
            <a:r>
              <a:rPr lang="zh-CN" altLang="zh-CN" sz="1800" kern="100">
                <a:effectLst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枚举来管理当前游戏状态。</a:t>
            </a:r>
          </a:p>
        </p:txBody>
      </p:sp>
      <p:sp>
        <p:nvSpPr>
          <p:cNvPr id="26628" name="灯片编号占位符 3">
            <a:extLst>
              <a:ext uri="{FF2B5EF4-FFF2-40B4-BE49-F238E27FC236}">
                <a16:creationId xmlns:a16="http://schemas.microsoft.com/office/drawing/2014/main" id="{37BCE8ED-24C4-420E-A56A-164E439EDB2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317EC7-838B-4657-BA96-E5D72A9FFF5B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9327598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幻灯片图像占位符 1">
            <a:extLst>
              <a:ext uri="{FF2B5EF4-FFF2-40B4-BE49-F238E27FC236}">
                <a16:creationId xmlns:a16="http://schemas.microsoft.com/office/drawing/2014/main" id="{C4C805E4-B18B-4D60-94A6-46DDA0DBD73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noFill/>
          <a:ln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6627" name="备注占位符 2">
            <a:extLst>
              <a:ext uri="{FF2B5EF4-FFF2-40B4-BE49-F238E27FC236}">
                <a16:creationId xmlns:a16="http://schemas.microsoft.com/office/drawing/2014/main" id="{513B1384-E5AC-4388-A207-9338F905685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just"/>
            <a:endParaRPr lang="zh-CN" altLang="zh-CN" sz="1800" kern="100">
              <a:effectLst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6628" name="灯片编号占位符 3">
            <a:extLst>
              <a:ext uri="{FF2B5EF4-FFF2-40B4-BE49-F238E27FC236}">
                <a16:creationId xmlns:a16="http://schemas.microsoft.com/office/drawing/2014/main" id="{37BCE8ED-24C4-420E-A56A-164E439EDB2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317EC7-838B-4657-BA96-E5D72A9FFF5B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960519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幻灯片图像占位符 1">
            <a:extLst>
              <a:ext uri="{FF2B5EF4-FFF2-40B4-BE49-F238E27FC236}">
                <a16:creationId xmlns:a16="http://schemas.microsoft.com/office/drawing/2014/main" id="{C4C805E4-B18B-4D60-94A6-46DDA0DBD73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noFill/>
          <a:ln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6627" name="备注占位符 2">
            <a:extLst>
              <a:ext uri="{FF2B5EF4-FFF2-40B4-BE49-F238E27FC236}">
                <a16:creationId xmlns:a16="http://schemas.microsoft.com/office/drawing/2014/main" id="{513B1384-E5AC-4388-A207-9338F905685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800">
                <a:solidFill>
                  <a:srgbClr val="000000"/>
                </a:solidFill>
              </a:rPr>
              <a:t>任务</a:t>
            </a:r>
            <a:r>
              <a:rPr lang="en-US" altLang="zh-CN" sz="1800">
                <a:solidFill>
                  <a:srgbClr val="000000"/>
                </a:solidFill>
              </a:rPr>
              <a:t>4</a:t>
            </a:r>
            <a:r>
              <a:rPr lang="zh-CN" altLang="en-US" sz="1800">
                <a:solidFill>
                  <a:srgbClr val="000000"/>
                </a:solidFill>
              </a:rPr>
              <a:t>在任务</a:t>
            </a:r>
            <a:r>
              <a:rPr lang="en-US" altLang="zh-CN" sz="1800">
                <a:solidFill>
                  <a:srgbClr val="000000"/>
                </a:solidFill>
              </a:rPr>
              <a:t>3</a:t>
            </a:r>
            <a:r>
              <a:rPr lang="zh-CN" altLang="en-US" sz="1800">
                <a:solidFill>
                  <a:srgbClr val="000000"/>
                </a:solidFill>
              </a:rPr>
              <a:t>的基础上进行系统功能拓展：设计菜单</a:t>
            </a:r>
            <a:r>
              <a:rPr lang="en-US" altLang="zh-CN" sz="1800">
                <a:solidFill>
                  <a:srgbClr val="000000"/>
                </a:solidFill>
              </a:rPr>
              <a:t>—</a:t>
            </a:r>
            <a:r>
              <a:rPr lang="zh-CN" altLang="en-US" sz="1800">
                <a:solidFill>
                  <a:srgbClr val="000000"/>
                </a:solidFill>
              </a:rPr>
              <a:t>游戏</a:t>
            </a:r>
            <a:r>
              <a:rPr lang="en-US" altLang="zh-CN" sz="1800">
                <a:solidFill>
                  <a:srgbClr val="000000"/>
                </a:solidFill>
              </a:rPr>
              <a:t>—</a:t>
            </a:r>
            <a:r>
              <a:rPr lang="zh-CN" altLang="en-US" sz="1800">
                <a:solidFill>
                  <a:srgbClr val="000000"/>
                </a:solidFill>
              </a:rPr>
              <a:t>暂停</a:t>
            </a:r>
            <a:r>
              <a:rPr lang="en-US" altLang="zh-CN" sz="1800">
                <a:solidFill>
                  <a:srgbClr val="000000"/>
                </a:solidFill>
              </a:rPr>
              <a:t>—</a:t>
            </a:r>
            <a:r>
              <a:rPr lang="zh-CN" altLang="en-US" sz="1800">
                <a:solidFill>
                  <a:srgbClr val="000000"/>
                </a:solidFill>
              </a:rPr>
              <a:t>结束</a:t>
            </a:r>
            <a:r>
              <a:rPr lang="en-US" altLang="zh-CN" sz="1800">
                <a:solidFill>
                  <a:srgbClr val="000000"/>
                </a:solidFill>
              </a:rPr>
              <a:t>—</a:t>
            </a:r>
            <a:r>
              <a:rPr lang="zh-CN" altLang="en-US" sz="1800">
                <a:solidFill>
                  <a:srgbClr val="000000"/>
                </a:solidFill>
              </a:rPr>
              <a:t>排行榜的状态切换；实现难度选择；在游戏过程中实时记录回合数与得分，通过按钮交互进入开始、排行榜、退出等功能页；实现血条</a:t>
            </a:r>
            <a:r>
              <a:rPr lang="en-US" altLang="zh-CN" sz="1800">
                <a:solidFill>
                  <a:srgbClr val="000000"/>
                </a:solidFill>
              </a:rPr>
              <a:t>/</a:t>
            </a:r>
            <a:r>
              <a:rPr lang="zh-CN" altLang="en-US" sz="1800">
                <a:solidFill>
                  <a:srgbClr val="000000"/>
                </a:solidFill>
              </a:rPr>
              <a:t>生命值显示与扣血机制，并将成绩写入本地文件形成分数排行榜，提升系统完整度与趣味性。</a:t>
            </a:r>
          </a:p>
          <a:p>
            <a:endParaRPr lang="zh-CN" altLang="en-US" sz="1800"/>
          </a:p>
        </p:txBody>
      </p:sp>
      <p:sp>
        <p:nvSpPr>
          <p:cNvPr id="26628" name="灯片编号占位符 3">
            <a:extLst>
              <a:ext uri="{FF2B5EF4-FFF2-40B4-BE49-F238E27FC236}">
                <a16:creationId xmlns:a16="http://schemas.microsoft.com/office/drawing/2014/main" id="{37BCE8ED-24C4-420E-A56A-164E439EDB2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317EC7-838B-4657-BA96-E5D72A9FFF5B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5704890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幻灯片图像占位符 1">
            <a:extLst>
              <a:ext uri="{FF2B5EF4-FFF2-40B4-BE49-F238E27FC236}">
                <a16:creationId xmlns:a16="http://schemas.microsoft.com/office/drawing/2014/main" id="{C4C805E4-B18B-4D60-94A6-46DDA0DBD73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noFill/>
          <a:ln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6627" name="备注占位符 2">
            <a:extLst>
              <a:ext uri="{FF2B5EF4-FFF2-40B4-BE49-F238E27FC236}">
                <a16:creationId xmlns:a16="http://schemas.microsoft.com/office/drawing/2014/main" id="{513B1384-E5AC-4388-A207-9338F905685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sz="1800"/>
          </a:p>
        </p:txBody>
      </p:sp>
      <p:sp>
        <p:nvSpPr>
          <p:cNvPr id="26628" name="灯片编号占位符 3">
            <a:extLst>
              <a:ext uri="{FF2B5EF4-FFF2-40B4-BE49-F238E27FC236}">
                <a16:creationId xmlns:a16="http://schemas.microsoft.com/office/drawing/2014/main" id="{37BCE8ED-24C4-420E-A56A-164E439EDB2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317EC7-838B-4657-BA96-E5D72A9FFF5B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4006840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幻灯片图像占位符 1">
            <a:extLst>
              <a:ext uri="{FF2B5EF4-FFF2-40B4-BE49-F238E27FC236}">
                <a16:creationId xmlns:a16="http://schemas.microsoft.com/office/drawing/2014/main" id="{C4C805E4-B18B-4D60-94A6-46DDA0DBD73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noFill/>
          <a:ln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6627" name="备注占位符 2">
            <a:extLst>
              <a:ext uri="{FF2B5EF4-FFF2-40B4-BE49-F238E27FC236}">
                <a16:creationId xmlns:a16="http://schemas.microsoft.com/office/drawing/2014/main" id="{513B1384-E5AC-4388-A207-9338F905685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sz="1800"/>
          </a:p>
        </p:txBody>
      </p:sp>
      <p:sp>
        <p:nvSpPr>
          <p:cNvPr id="26628" name="灯片编号占位符 3">
            <a:extLst>
              <a:ext uri="{FF2B5EF4-FFF2-40B4-BE49-F238E27FC236}">
                <a16:creationId xmlns:a16="http://schemas.microsoft.com/office/drawing/2014/main" id="{37BCE8ED-24C4-420E-A56A-164E439EDB2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317EC7-838B-4657-BA96-E5D72A9FFF5B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8801850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幻灯片图像占位符 1">
            <a:extLst>
              <a:ext uri="{FF2B5EF4-FFF2-40B4-BE49-F238E27FC236}">
                <a16:creationId xmlns:a16="http://schemas.microsoft.com/office/drawing/2014/main" id="{C4C805E4-B18B-4D60-94A6-46DDA0DBD73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noFill/>
          <a:ln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6627" name="备注占位符 2">
            <a:extLst>
              <a:ext uri="{FF2B5EF4-FFF2-40B4-BE49-F238E27FC236}">
                <a16:creationId xmlns:a16="http://schemas.microsoft.com/office/drawing/2014/main" id="{513B1384-E5AC-4388-A207-9338F905685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sz="1800"/>
          </a:p>
        </p:txBody>
      </p:sp>
      <p:sp>
        <p:nvSpPr>
          <p:cNvPr id="26628" name="灯片编号占位符 3">
            <a:extLst>
              <a:ext uri="{FF2B5EF4-FFF2-40B4-BE49-F238E27FC236}">
                <a16:creationId xmlns:a16="http://schemas.microsoft.com/office/drawing/2014/main" id="{37BCE8ED-24C4-420E-A56A-164E439EDB2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317EC7-838B-4657-BA96-E5D72A9FFF5B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2036135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幻灯片图像占位符 1">
            <a:extLst>
              <a:ext uri="{FF2B5EF4-FFF2-40B4-BE49-F238E27FC236}">
                <a16:creationId xmlns:a16="http://schemas.microsoft.com/office/drawing/2014/main" id="{C4C805E4-B18B-4D60-94A6-46DDA0DBD73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noFill/>
          <a:ln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6627" name="备注占位符 2">
            <a:extLst>
              <a:ext uri="{FF2B5EF4-FFF2-40B4-BE49-F238E27FC236}">
                <a16:creationId xmlns:a16="http://schemas.microsoft.com/office/drawing/2014/main" id="{513B1384-E5AC-4388-A207-9338F905685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sz="1800"/>
          </a:p>
        </p:txBody>
      </p:sp>
      <p:sp>
        <p:nvSpPr>
          <p:cNvPr id="26628" name="灯片编号占位符 3">
            <a:extLst>
              <a:ext uri="{FF2B5EF4-FFF2-40B4-BE49-F238E27FC236}">
                <a16:creationId xmlns:a16="http://schemas.microsoft.com/office/drawing/2014/main" id="{37BCE8ED-24C4-420E-A56A-164E439EDB2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317EC7-838B-4657-BA96-E5D72A9FFF5B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6101663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幻灯片图像占位符 1">
            <a:extLst>
              <a:ext uri="{FF2B5EF4-FFF2-40B4-BE49-F238E27FC236}">
                <a16:creationId xmlns:a16="http://schemas.microsoft.com/office/drawing/2014/main" id="{C4C805E4-B18B-4D60-94A6-46DDA0DBD73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noFill/>
          <a:ln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6627" name="备注占位符 2">
            <a:extLst>
              <a:ext uri="{FF2B5EF4-FFF2-40B4-BE49-F238E27FC236}">
                <a16:creationId xmlns:a16="http://schemas.microsoft.com/office/drawing/2014/main" id="{513B1384-E5AC-4388-A207-9338F905685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sz="1800"/>
          </a:p>
        </p:txBody>
      </p:sp>
      <p:sp>
        <p:nvSpPr>
          <p:cNvPr id="26628" name="灯片编号占位符 3">
            <a:extLst>
              <a:ext uri="{FF2B5EF4-FFF2-40B4-BE49-F238E27FC236}">
                <a16:creationId xmlns:a16="http://schemas.microsoft.com/office/drawing/2014/main" id="{37BCE8ED-24C4-420E-A56A-164E439EDB2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317EC7-838B-4657-BA96-E5D72A9FFF5B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378661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幻灯片图像占位符 1">
            <a:extLst>
              <a:ext uri="{FF2B5EF4-FFF2-40B4-BE49-F238E27FC236}">
                <a16:creationId xmlns:a16="http://schemas.microsoft.com/office/drawing/2014/main" id="{C4C805E4-B18B-4D60-94A6-46DDA0DBD73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noFill/>
          <a:ln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6627" name="备注占位符 2">
            <a:extLst>
              <a:ext uri="{FF2B5EF4-FFF2-40B4-BE49-F238E27FC236}">
                <a16:creationId xmlns:a16="http://schemas.microsoft.com/office/drawing/2014/main" id="{513B1384-E5AC-4388-A207-9338F905685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sz="1800"/>
          </a:p>
        </p:txBody>
      </p:sp>
      <p:sp>
        <p:nvSpPr>
          <p:cNvPr id="26628" name="灯片编号占位符 3">
            <a:extLst>
              <a:ext uri="{FF2B5EF4-FFF2-40B4-BE49-F238E27FC236}">
                <a16:creationId xmlns:a16="http://schemas.microsoft.com/office/drawing/2014/main" id="{37BCE8ED-24C4-420E-A56A-164E439EDB2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317EC7-838B-4657-BA96-E5D72A9FFF5B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7262887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幻灯片图像占位符 1">
            <a:extLst>
              <a:ext uri="{FF2B5EF4-FFF2-40B4-BE49-F238E27FC236}">
                <a16:creationId xmlns:a16="http://schemas.microsoft.com/office/drawing/2014/main" id="{C4C805E4-B18B-4D60-94A6-46DDA0DBD73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noFill/>
          <a:ln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6627" name="备注占位符 2">
            <a:extLst>
              <a:ext uri="{FF2B5EF4-FFF2-40B4-BE49-F238E27FC236}">
                <a16:creationId xmlns:a16="http://schemas.microsoft.com/office/drawing/2014/main" id="{513B1384-E5AC-4388-A207-9338F905685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sz="1800"/>
          </a:p>
        </p:txBody>
      </p:sp>
      <p:sp>
        <p:nvSpPr>
          <p:cNvPr id="26628" name="灯片编号占位符 3">
            <a:extLst>
              <a:ext uri="{FF2B5EF4-FFF2-40B4-BE49-F238E27FC236}">
                <a16:creationId xmlns:a16="http://schemas.microsoft.com/office/drawing/2014/main" id="{37BCE8ED-24C4-420E-A56A-164E439EDB2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317EC7-838B-4657-BA96-E5D72A9FFF5B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6885864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幻灯片图像占位符 1">
            <a:extLst>
              <a:ext uri="{FF2B5EF4-FFF2-40B4-BE49-F238E27FC236}">
                <a16:creationId xmlns:a16="http://schemas.microsoft.com/office/drawing/2014/main" id="{C4C805E4-B18B-4D60-94A6-46DDA0DBD73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noFill/>
          <a:ln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6627" name="备注占位符 2">
            <a:extLst>
              <a:ext uri="{FF2B5EF4-FFF2-40B4-BE49-F238E27FC236}">
                <a16:creationId xmlns:a16="http://schemas.microsoft.com/office/drawing/2014/main" id="{513B1384-E5AC-4388-A207-9338F905685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sz="1800"/>
          </a:p>
        </p:txBody>
      </p:sp>
      <p:sp>
        <p:nvSpPr>
          <p:cNvPr id="26628" name="灯片编号占位符 3">
            <a:extLst>
              <a:ext uri="{FF2B5EF4-FFF2-40B4-BE49-F238E27FC236}">
                <a16:creationId xmlns:a16="http://schemas.microsoft.com/office/drawing/2014/main" id="{37BCE8ED-24C4-420E-A56A-164E439EDB2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317EC7-838B-4657-BA96-E5D72A9FFF5B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6735152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幻灯片图像占位符 1">
            <a:extLst>
              <a:ext uri="{FF2B5EF4-FFF2-40B4-BE49-F238E27FC236}">
                <a16:creationId xmlns:a16="http://schemas.microsoft.com/office/drawing/2014/main" id="{C4C805E4-B18B-4D60-94A6-46DDA0DBD73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noFill/>
          <a:ln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6627" name="备注占位符 2">
            <a:extLst>
              <a:ext uri="{FF2B5EF4-FFF2-40B4-BE49-F238E27FC236}">
                <a16:creationId xmlns:a16="http://schemas.microsoft.com/office/drawing/2014/main" id="{513B1384-E5AC-4388-A207-9338F905685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800">
                <a:solidFill>
                  <a:srgbClr val="000000"/>
                </a:solidFill>
              </a:rPr>
              <a:t>任务</a:t>
            </a:r>
            <a:r>
              <a:rPr lang="en-US" altLang="zh-CN" sz="1800">
                <a:solidFill>
                  <a:srgbClr val="000000"/>
                </a:solidFill>
              </a:rPr>
              <a:t>5</a:t>
            </a:r>
            <a:r>
              <a:rPr lang="zh-CN" altLang="en-US" sz="1800">
                <a:solidFill>
                  <a:srgbClr val="000000"/>
                </a:solidFill>
              </a:rPr>
              <a:t>引入</a:t>
            </a:r>
            <a:r>
              <a:rPr lang="en-US" altLang="zh-CN" sz="1800">
                <a:solidFill>
                  <a:srgbClr val="000000"/>
                </a:solidFill>
              </a:rPr>
              <a:t>Q-Learning</a:t>
            </a:r>
            <a:r>
              <a:rPr lang="zh-CN" altLang="en-US" sz="1800">
                <a:solidFill>
                  <a:srgbClr val="000000"/>
                </a:solidFill>
              </a:rPr>
              <a:t>这一经典的强化学习算法。设计智能体的“感知”（状态）和“行为”（动作），并通过训练，让小鸟学会自主地躲避障碍。这将有助于激发学生对人工智能的兴趣和探索欲。</a:t>
            </a:r>
          </a:p>
          <a:p>
            <a:endParaRPr lang="zh-CN" altLang="en-US" sz="1800"/>
          </a:p>
        </p:txBody>
      </p:sp>
      <p:sp>
        <p:nvSpPr>
          <p:cNvPr id="26628" name="灯片编号占位符 3">
            <a:extLst>
              <a:ext uri="{FF2B5EF4-FFF2-40B4-BE49-F238E27FC236}">
                <a16:creationId xmlns:a16="http://schemas.microsoft.com/office/drawing/2014/main" id="{37BCE8ED-24C4-420E-A56A-164E439EDB2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317EC7-838B-4657-BA96-E5D72A9FFF5B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2796765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幻灯片图像占位符 1">
            <a:extLst>
              <a:ext uri="{FF2B5EF4-FFF2-40B4-BE49-F238E27FC236}">
                <a16:creationId xmlns:a16="http://schemas.microsoft.com/office/drawing/2014/main" id="{C4C805E4-B18B-4D60-94A6-46DDA0DBD73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noFill/>
          <a:ln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6627" name="备注占位符 2">
            <a:extLst>
              <a:ext uri="{FF2B5EF4-FFF2-40B4-BE49-F238E27FC236}">
                <a16:creationId xmlns:a16="http://schemas.microsoft.com/office/drawing/2014/main" id="{513B1384-E5AC-4388-A207-9338F905685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sz="1800"/>
          </a:p>
        </p:txBody>
      </p:sp>
      <p:sp>
        <p:nvSpPr>
          <p:cNvPr id="26628" name="灯片编号占位符 3">
            <a:extLst>
              <a:ext uri="{FF2B5EF4-FFF2-40B4-BE49-F238E27FC236}">
                <a16:creationId xmlns:a16="http://schemas.microsoft.com/office/drawing/2014/main" id="{37BCE8ED-24C4-420E-A56A-164E439EDB2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317EC7-838B-4657-BA96-E5D72A9FFF5B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1830992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幻灯片图像占位符 1">
            <a:extLst>
              <a:ext uri="{FF2B5EF4-FFF2-40B4-BE49-F238E27FC236}">
                <a16:creationId xmlns:a16="http://schemas.microsoft.com/office/drawing/2014/main" id="{C4C805E4-B18B-4D60-94A6-46DDA0DBD73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noFill/>
          <a:ln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6627" name="备注占位符 2">
            <a:extLst>
              <a:ext uri="{FF2B5EF4-FFF2-40B4-BE49-F238E27FC236}">
                <a16:creationId xmlns:a16="http://schemas.microsoft.com/office/drawing/2014/main" id="{513B1384-E5AC-4388-A207-9338F905685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sz="1800"/>
          </a:p>
        </p:txBody>
      </p:sp>
      <p:sp>
        <p:nvSpPr>
          <p:cNvPr id="26628" name="灯片编号占位符 3">
            <a:extLst>
              <a:ext uri="{FF2B5EF4-FFF2-40B4-BE49-F238E27FC236}">
                <a16:creationId xmlns:a16="http://schemas.microsoft.com/office/drawing/2014/main" id="{37BCE8ED-24C4-420E-A56A-164E439EDB2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317EC7-838B-4657-BA96-E5D72A9FFF5B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0070112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幻灯片图像占位符 1">
            <a:extLst>
              <a:ext uri="{FF2B5EF4-FFF2-40B4-BE49-F238E27FC236}">
                <a16:creationId xmlns:a16="http://schemas.microsoft.com/office/drawing/2014/main" id="{C4C805E4-B18B-4D60-94A6-46DDA0DBD73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noFill/>
          <a:ln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6627" name="备注占位符 2">
            <a:extLst>
              <a:ext uri="{FF2B5EF4-FFF2-40B4-BE49-F238E27FC236}">
                <a16:creationId xmlns:a16="http://schemas.microsoft.com/office/drawing/2014/main" id="{513B1384-E5AC-4388-A207-9338F905685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zh-CN" sz="2800"/>
              <a:t>Q </a:t>
            </a:r>
            <a:r>
              <a:rPr lang="zh-CN" altLang="en-US" sz="2800"/>
              <a:t>值记录 “从这个状态出发，未来所有可能路径的长期奖励总和的预期值</a:t>
            </a:r>
            <a:endParaRPr lang="zh-CN" altLang="en-US" sz="1800"/>
          </a:p>
        </p:txBody>
      </p:sp>
      <p:sp>
        <p:nvSpPr>
          <p:cNvPr id="26628" name="灯片编号占位符 3">
            <a:extLst>
              <a:ext uri="{FF2B5EF4-FFF2-40B4-BE49-F238E27FC236}">
                <a16:creationId xmlns:a16="http://schemas.microsoft.com/office/drawing/2014/main" id="{37BCE8ED-24C4-420E-A56A-164E439EDB2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317EC7-838B-4657-BA96-E5D72A9FFF5B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96145948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Q-learning </a:t>
            </a:r>
            <a:r>
              <a:rPr lang="zh-CN" altLang="en-US"/>
              <a:t>的学习过程，就是不断更新这个</a:t>
            </a:r>
            <a:r>
              <a:rPr lang="en-US" altLang="zh-CN"/>
              <a:t>Q</a:t>
            </a:r>
            <a:r>
              <a:rPr lang="zh-CN" altLang="en-US"/>
              <a:t>表的过程。 咱们用一个具体的例子来模拟一下：</a:t>
            </a:r>
          </a:p>
          <a:p>
            <a:r>
              <a:rPr lang="zh-CN" altLang="en-US"/>
              <a:t>假设小鸟当前处于状态</a:t>
            </a:r>
            <a:r>
              <a:rPr lang="en-US" altLang="zh-CN"/>
              <a:t>S</a:t>
            </a:r>
            <a:r>
              <a:rPr lang="zh-CN" altLang="en-US"/>
              <a:t>（比如：高度中等，正在下落，水管很近，缺口在中间）。它有两个选择：</a:t>
            </a:r>
          </a:p>
          <a:p>
            <a:r>
              <a:rPr lang="zh-CN" altLang="en-US"/>
              <a:t>选择</a:t>
            </a:r>
            <a:r>
              <a:rPr lang="en-US" altLang="zh-CN"/>
              <a:t>a1</a:t>
            </a:r>
            <a:r>
              <a:rPr lang="zh-CN" altLang="en-US"/>
              <a:t>（什么都不做）：它可能会直接撞到水管，得到</a:t>
            </a:r>
            <a:r>
              <a:rPr lang="en-US" altLang="zh-CN"/>
              <a:t>-1</a:t>
            </a:r>
            <a:r>
              <a:rPr lang="zh-CN" altLang="en-US"/>
              <a:t>的奖励。</a:t>
            </a:r>
            <a:r>
              <a:rPr lang="en-US" altLang="zh-CN"/>
              <a:t>Q</a:t>
            </a:r>
            <a:r>
              <a:rPr lang="zh-CN" altLang="en-US"/>
              <a:t>表里，</a:t>
            </a:r>
            <a:r>
              <a:rPr lang="en-US" altLang="zh-CN"/>
              <a:t>Q(S, </a:t>
            </a:r>
            <a:r>
              <a:rPr lang="zh-CN" altLang="en-US"/>
              <a:t>什么都不做</a:t>
            </a:r>
            <a:r>
              <a:rPr lang="en-US" altLang="zh-CN"/>
              <a:t>) </a:t>
            </a:r>
            <a:r>
              <a:rPr lang="zh-CN" altLang="en-US"/>
              <a:t>这个值就会变得非常低。</a:t>
            </a:r>
          </a:p>
          <a:p>
            <a:r>
              <a:rPr lang="zh-CN" altLang="en-US"/>
              <a:t>选择</a:t>
            </a:r>
            <a:r>
              <a:rPr lang="en-US" altLang="zh-CN"/>
              <a:t>a2</a:t>
            </a:r>
            <a:r>
              <a:rPr lang="zh-CN" altLang="en-US"/>
              <a:t>（点击屏幕）：它飞起来了，成功穿过了水管，得到了</a:t>
            </a:r>
            <a:r>
              <a:rPr lang="en-US" altLang="zh-CN"/>
              <a:t>+1</a:t>
            </a:r>
            <a:r>
              <a:rPr lang="zh-CN" altLang="en-US"/>
              <a:t>的奖励。</a:t>
            </a:r>
            <a:r>
              <a:rPr lang="en-US" altLang="zh-CN"/>
              <a:t>Q</a:t>
            </a:r>
            <a:r>
              <a:rPr lang="zh-CN" altLang="en-US"/>
              <a:t>表里，</a:t>
            </a:r>
            <a:r>
              <a:rPr lang="en-US" altLang="zh-CN"/>
              <a:t>Q(S, </a:t>
            </a:r>
            <a:r>
              <a:rPr lang="zh-CN" altLang="en-US"/>
              <a:t>点击屏幕</a:t>
            </a:r>
            <a:r>
              <a:rPr lang="en-US" altLang="zh-CN"/>
              <a:t>) </a:t>
            </a:r>
            <a:r>
              <a:rPr lang="zh-CN" altLang="en-US"/>
              <a:t>这个值就会变高。</a:t>
            </a:r>
          </a:p>
          <a:p>
            <a:r>
              <a:rPr lang="zh-CN" altLang="en-US"/>
              <a:t>但是，</a:t>
            </a:r>
            <a:r>
              <a:rPr lang="en-US" altLang="zh-CN"/>
              <a:t>Q-learning </a:t>
            </a:r>
            <a:r>
              <a:rPr lang="zh-CN" altLang="en-US"/>
              <a:t>不只是看眼前的奖励，它还会“向前看”！ 它的更新公式里有一个“未来最大</a:t>
            </a:r>
            <a:r>
              <a:rPr lang="en-US" altLang="zh-CN"/>
              <a:t>Q</a:t>
            </a:r>
            <a:r>
              <a:rPr lang="zh-CN" altLang="en-US"/>
              <a:t>值”的概念。意思是，当小鸟执行了动作</a:t>
            </a:r>
            <a:r>
              <a:rPr lang="en-US" altLang="zh-CN"/>
              <a:t>a2</a:t>
            </a:r>
            <a:r>
              <a:rPr lang="zh-CN" altLang="en-US"/>
              <a:t>，到达了下一个状态</a:t>
            </a:r>
            <a:r>
              <a:rPr lang="en-US" altLang="zh-CN"/>
              <a:t>S‘</a:t>
            </a:r>
            <a:r>
              <a:rPr lang="zh-CN" altLang="en-US"/>
              <a:t>后，它会看看在</a:t>
            </a:r>
            <a:r>
              <a:rPr lang="en-US" altLang="zh-CN"/>
              <a:t>S’</a:t>
            </a:r>
            <a:r>
              <a:rPr lang="zh-CN" altLang="en-US"/>
              <a:t>这个新状态下，哪个动作的</a:t>
            </a:r>
            <a:r>
              <a:rPr lang="en-US" altLang="zh-CN"/>
              <a:t>Q</a:t>
            </a:r>
            <a:r>
              <a:rPr lang="zh-CN" altLang="en-US"/>
              <a:t>值最高（比如，在</a:t>
            </a:r>
            <a:r>
              <a:rPr lang="en-US" altLang="zh-CN"/>
              <a:t>S‘</a:t>
            </a:r>
            <a:r>
              <a:rPr lang="zh-CN" altLang="en-US"/>
              <a:t>下，“什么都不做”的</a:t>
            </a:r>
            <a:r>
              <a:rPr lang="en-US" altLang="zh-CN"/>
              <a:t>Q</a:t>
            </a:r>
            <a:r>
              <a:rPr lang="zh-CN" altLang="en-US"/>
              <a:t>值很高，因为小鸟飞得高，不用再点了）。然后，它会把这个“未来最大</a:t>
            </a:r>
            <a:r>
              <a:rPr lang="en-US" altLang="zh-CN"/>
              <a:t>Q</a:t>
            </a:r>
            <a:r>
              <a:rPr lang="zh-CN" altLang="en-US"/>
              <a:t>值”也考虑进来，一起更新。</a:t>
            </a:r>
            <a:endParaRPr lang="en-US" altLang="zh-CN"/>
          </a:p>
          <a:p>
            <a:r>
              <a:rPr lang="en-US" altLang="zh-CN"/>
              <a:t>max Q(s‘, a’) </a:t>
            </a:r>
            <a:r>
              <a:rPr lang="zh-CN" altLang="en-US"/>
              <a:t>的核心含义：它代表的是下一状态 </a:t>
            </a:r>
            <a:r>
              <a:rPr lang="en-US" altLang="zh-CN"/>
              <a:t>s‘ </a:t>
            </a:r>
            <a:r>
              <a:rPr lang="zh-CN" altLang="en-US"/>
              <a:t>下，所有可能动作能带来的长期最大预期价值，是智能体通过学习存储在 </a:t>
            </a:r>
            <a:r>
              <a:rPr lang="en-US" altLang="zh-CN"/>
              <a:t>Q </a:t>
            </a:r>
            <a:r>
              <a:rPr lang="zh-CN" altLang="en-US"/>
              <a:t>表中的经验。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34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822372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幻灯片图像占位符 1">
            <a:extLst>
              <a:ext uri="{FF2B5EF4-FFF2-40B4-BE49-F238E27FC236}">
                <a16:creationId xmlns:a16="http://schemas.microsoft.com/office/drawing/2014/main" id="{C4C805E4-B18B-4D60-94A6-46DDA0DBD73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noFill/>
          <a:ln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6627" name="备注占位符 2">
            <a:extLst>
              <a:ext uri="{FF2B5EF4-FFF2-40B4-BE49-F238E27FC236}">
                <a16:creationId xmlns:a16="http://schemas.microsoft.com/office/drawing/2014/main" id="{513B1384-E5AC-4388-A207-9338F905685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sz="1800"/>
          </a:p>
        </p:txBody>
      </p:sp>
      <p:sp>
        <p:nvSpPr>
          <p:cNvPr id="26628" name="灯片编号占位符 3">
            <a:extLst>
              <a:ext uri="{FF2B5EF4-FFF2-40B4-BE49-F238E27FC236}">
                <a16:creationId xmlns:a16="http://schemas.microsoft.com/office/drawing/2014/main" id="{37BCE8ED-24C4-420E-A56A-164E439EDB2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317EC7-838B-4657-BA96-E5D72A9FFF5B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7007777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幻灯片图像占位符 1">
            <a:extLst>
              <a:ext uri="{FF2B5EF4-FFF2-40B4-BE49-F238E27FC236}">
                <a16:creationId xmlns:a16="http://schemas.microsoft.com/office/drawing/2014/main" id="{C4C805E4-B18B-4D60-94A6-46DDA0DBD73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noFill/>
          <a:ln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6627" name="备注占位符 2">
            <a:extLst>
              <a:ext uri="{FF2B5EF4-FFF2-40B4-BE49-F238E27FC236}">
                <a16:creationId xmlns:a16="http://schemas.microsoft.com/office/drawing/2014/main" id="{513B1384-E5AC-4388-A207-9338F905685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sz="1800"/>
          </a:p>
        </p:txBody>
      </p:sp>
      <p:sp>
        <p:nvSpPr>
          <p:cNvPr id="26628" name="灯片编号占位符 3">
            <a:extLst>
              <a:ext uri="{FF2B5EF4-FFF2-40B4-BE49-F238E27FC236}">
                <a16:creationId xmlns:a16="http://schemas.microsoft.com/office/drawing/2014/main" id="{37BCE8ED-24C4-420E-A56A-164E439EDB2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317EC7-838B-4657-BA96-E5D72A9FFF5B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05552686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幻灯片图像占位符 1">
            <a:extLst>
              <a:ext uri="{FF2B5EF4-FFF2-40B4-BE49-F238E27FC236}">
                <a16:creationId xmlns:a16="http://schemas.microsoft.com/office/drawing/2014/main" id="{C4C805E4-B18B-4D60-94A6-46DDA0DBD73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noFill/>
          <a:ln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6627" name="备注占位符 2">
            <a:extLst>
              <a:ext uri="{FF2B5EF4-FFF2-40B4-BE49-F238E27FC236}">
                <a16:creationId xmlns:a16="http://schemas.microsoft.com/office/drawing/2014/main" id="{513B1384-E5AC-4388-A207-9338F905685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sz="1800"/>
          </a:p>
        </p:txBody>
      </p:sp>
      <p:sp>
        <p:nvSpPr>
          <p:cNvPr id="26628" name="灯片编号占位符 3">
            <a:extLst>
              <a:ext uri="{FF2B5EF4-FFF2-40B4-BE49-F238E27FC236}">
                <a16:creationId xmlns:a16="http://schemas.microsoft.com/office/drawing/2014/main" id="{37BCE8ED-24C4-420E-A56A-164E439EDB2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317EC7-838B-4657-BA96-E5D72A9FFF5B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368576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Relationship Id="rId5" Type="http://schemas.openxmlformats.org/officeDocument/2006/relationships/image" Target="../media/image6.jpeg"/><Relationship Id="rId4" Type="http://schemas.openxmlformats.org/officeDocument/2006/relationships/image" Target="../media/image5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Relationship Id="rId5" Type="http://schemas.openxmlformats.org/officeDocument/2006/relationships/image" Target="../media/image6.jpeg"/><Relationship Id="rId4" Type="http://schemas.openxmlformats.org/officeDocument/2006/relationships/image" Target="../media/image5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Relationship Id="rId5" Type="http://schemas.openxmlformats.org/officeDocument/2006/relationships/image" Target="../media/image6.jpeg"/><Relationship Id="rId4" Type="http://schemas.openxmlformats.org/officeDocument/2006/relationships/image" Target="../media/image5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.xml"/><Relationship Id="rId5" Type="http://schemas.openxmlformats.org/officeDocument/2006/relationships/image" Target="../media/image6.jpeg"/><Relationship Id="rId4" Type="http://schemas.openxmlformats.org/officeDocument/2006/relationships/image" Target="../media/image5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1.xml"/><Relationship Id="rId5" Type="http://schemas.openxmlformats.org/officeDocument/2006/relationships/image" Target="../media/image6.jpeg"/><Relationship Id="rId4" Type="http://schemas.openxmlformats.org/officeDocument/2006/relationships/image" Target="../media/image5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2.xml"/><Relationship Id="rId5" Type="http://schemas.openxmlformats.org/officeDocument/2006/relationships/image" Target="../media/image6.jpeg"/><Relationship Id="rId4" Type="http://schemas.openxmlformats.org/officeDocument/2006/relationships/image" Target="../media/image5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3.xml"/><Relationship Id="rId5" Type="http://schemas.openxmlformats.org/officeDocument/2006/relationships/image" Target="../media/image6.jpeg"/><Relationship Id="rId4" Type="http://schemas.openxmlformats.org/officeDocument/2006/relationships/image" Target="../media/image5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4.xml"/><Relationship Id="rId5" Type="http://schemas.openxmlformats.org/officeDocument/2006/relationships/image" Target="../media/image6.jpeg"/><Relationship Id="rId4" Type="http://schemas.openxmlformats.org/officeDocument/2006/relationships/image" Target="../media/image5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tags" Target="../tags/tag17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16.xml"/><Relationship Id="rId1" Type="http://schemas.openxmlformats.org/officeDocument/2006/relationships/tags" Target="../tags/tag15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tags" Target="../tags/tag28.xml"/><Relationship Id="rId3" Type="http://schemas.openxmlformats.org/officeDocument/2006/relationships/tags" Target="../tags/tag23.xml"/><Relationship Id="rId7" Type="http://schemas.openxmlformats.org/officeDocument/2006/relationships/tags" Target="../tags/tag27.xml"/><Relationship Id="rId2" Type="http://schemas.openxmlformats.org/officeDocument/2006/relationships/tags" Target="../tags/tag22.xml"/><Relationship Id="rId1" Type="http://schemas.openxmlformats.org/officeDocument/2006/relationships/tags" Target="../tags/tag21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9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tags" Target="../tags/tag31.xml"/><Relationship Id="rId7" Type="http://schemas.openxmlformats.org/officeDocument/2006/relationships/image" Target="../media/image6.jpeg"/><Relationship Id="rId2" Type="http://schemas.openxmlformats.org/officeDocument/2006/relationships/tags" Target="../tags/tag30.xml"/><Relationship Id="rId1" Type="http://schemas.openxmlformats.org/officeDocument/2006/relationships/tags" Target="../tags/tag29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tags" Target="../tags/tag34.xml"/><Relationship Id="rId2" Type="http://schemas.openxmlformats.org/officeDocument/2006/relationships/tags" Target="../tags/tag33.xml"/><Relationship Id="rId1" Type="http://schemas.openxmlformats.org/officeDocument/2006/relationships/tags" Target="../tags/tag32.xml"/><Relationship Id="rId4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tags" Target="../tags/tag37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36.xml"/><Relationship Id="rId1" Type="http://schemas.openxmlformats.org/officeDocument/2006/relationships/tags" Target="../tags/tag35.xml"/><Relationship Id="rId6" Type="http://schemas.openxmlformats.org/officeDocument/2006/relationships/tags" Target="../tags/tag40.xml"/><Relationship Id="rId5" Type="http://schemas.openxmlformats.org/officeDocument/2006/relationships/tags" Target="../tags/tag39.xml"/><Relationship Id="rId4" Type="http://schemas.openxmlformats.org/officeDocument/2006/relationships/tags" Target="../tags/tag38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tags" Target="../tags/tag43.xml"/><Relationship Id="rId2" Type="http://schemas.openxmlformats.org/officeDocument/2006/relationships/tags" Target="../tags/tag42.xml"/><Relationship Id="rId1" Type="http://schemas.openxmlformats.org/officeDocument/2006/relationships/tags" Target="../tags/tag41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45.xml"/><Relationship Id="rId4" Type="http://schemas.openxmlformats.org/officeDocument/2006/relationships/tags" Target="../tags/tag44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" Type="http://schemas.openxmlformats.org/officeDocument/2006/relationships/tags" Target="../tags/tag46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49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tags" Target="../tags/tag52.xml"/><Relationship Id="rId2" Type="http://schemas.openxmlformats.org/officeDocument/2006/relationships/tags" Target="../tags/tag51.xml"/><Relationship Id="rId1" Type="http://schemas.openxmlformats.org/officeDocument/2006/relationships/tags" Target="../tags/tag50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54.xml"/><Relationship Id="rId4" Type="http://schemas.openxmlformats.org/officeDocument/2006/relationships/tags" Target="../tags/tag5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635" y="-9525"/>
            <a:ext cx="12190730" cy="35814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" name="图片 11" descr="图层 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240243" y="245745"/>
            <a:ext cx="2362200" cy="101409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9" name="Picture 5" descr="ices logo">
            <a:extLst>
              <a:ext uri="{FF2B5EF4-FFF2-40B4-BE49-F238E27FC236}">
                <a16:creationId xmlns:a16="http://schemas.microsoft.com/office/drawing/2014/main" id="{DF957EF7-0B8D-4A15-8B9E-7CA9363F435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98423" y="378204"/>
            <a:ext cx="1544934" cy="7915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90DAB011-CCA1-446C-BA39-580C33D2951B}"/>
              </a:ext>
            </a:extLst>
          </p:cNvPr>
          <p:cNvCxnSpPr>
            <a:cxnSpLocks/>
          </p:cNvCxnSpPr>
          <p:nvPr userDrawn="1"/>
        </p:nvCxnSpPr>
        <p:spPr>
          <a:xfrm>
            <a:off x="6729275" y="497150"/>
            <a:ext cx="0" cy="672594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/>
          <p:nvPr userDrawn="1"/>
        </p:nvSpPr>
        <p:spPr bwMode="auto">
          <a:xfrm>
            <a:off x="0" y="6650992"/>
            <a:ext cx="9144000" cy="238125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lIns="91432" tIns="45716" rIns="91432" bIns="45716"/>
          <a:lstStyle/>
          <a:p>
            <a:pPr>
              <a:defRPr/>
            </a:pPr>
            <a:endParaRPr lang="zh-CN" altLang="en-US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5" name="矩形 4"/>
          <p:cNvSpPr/>
          <p:nvPr userDrawn="1"/>
        </p:nvSpPr>
        <p:spPr bwMode="auto">
          <a:xfrm>
            <a:off x="9707567" y="6492242"/>
            <a:ext cx="2484437" cy="395288"/>
          </a:xfrm>
          <a:prstGeom prst="rect">
            <a:avLst/>
          </a:prstGeom>
          <a:solidFill>
            <a:srgbClr val="C00000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lIns="91432" tIns="45716" rIns="91432" bIns="45716"/>
          <a:lstStyle/>
          <a:p>
            <a:pPr>
              <a:defRPr/>
            </a:pPr>
            <a:endParaRPr lang="zh-CN" altLang="en-US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7" name="流程图: 手动操作 6"/>
          <p:cNvSpPr/>
          <p:nvPr userDrawn="1"/>
        </p:nvSpPr>
        <p:spPr bwMode="auto">
          <a:xfrm rot="10800000">
            <a:off x="8719820" y="6492875"/>
            <a:ext cx="2713355" cy="395605"/>
          </a:xfrm>
          <a:prstGeom prst="flowChartManualOperation">
            <a:avLst/>
          </a:prstGeom>
          <a:solidFill>
            <a:srgbClr val="0F5C8B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lIns="91432" tIns="45716" rIns="91432" bIns="45716"/>
          <a:lstStyle/>
          <a:p>
            <a:pPr>
              <a:defRPr/>
            </a:pPr>
            <a:endParaRPr lang="zh-CN" altLang="en-US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pic>
        <p:nvPicPr>
          <p:cNvPr id="8" name="图片 10"/>
          <p:cNvPicPr>
            <a:picLocks noChangeAspect="1" noChangeArrowheads="1"/>
          </p:cNvPicPr>
          <p:nvPr userDrawn="1"/>
        </p:nvPicPr>
        <p:blipFill>
          <a:blip r:embed="rId2" cstate="print">
            <a:lum bright="70000" contrast="-70000"/>
          </a:blip>
          <a:srcRect/>
          <a:stretch>
            <a:fillRect/>
          </a:stretch>
        </p:blipFill>
        <p:spPr bwMode="auto">
          <a:xfrm>
            <a:off x="9504046" y="6519545"/>
            <a:ext cx="1266825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9" name="矩形 18"/>
          <p:cNvSpPr/>
          <p:nvPr userDrawn="1"/>
        </p:nvSpPr>
        <p:spPr>
          <a:xfrm>
            <a:off x="73025" y="260985"/>
            <a:ext cx="522000" cy="450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/>
          <p:cNvSpPr/>
          <p:nvPr userDrawn="1"/>
        </p:nvSpPr>
        <p:spPr>
          <a:xfrm>
            <a:off x="658495" y="260985"/>
            <a:ext cx="125095" cy="450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2"/>
          <p:cNvSpPr/>
          <p:nvPr userDrawn="1"/>
        </p:nvSpPr>
        <p:spPr>
          <a:xfrm>
            <a:off x="0" y="66"/>
            <a:ext cx="3719195" cy="6859905"/>
          </a:xfrm>
          <a:custGeom>
            <a:avLst/>
            <a:gdLst/>
            <a:ahLst/>
            <a:cxnLst/>
            <a:rect l="l" t="t" r="r" b="b"/>
            <a:pathLst>
              <a:path w="3719195" h="6859905">
                <a:moveTo>
                  <a:pt x="3718984" y="6859455"/>
                </a:moveTo>
                <a:lnTo>
                  <a:pt x="3718984" y="0"/>
                </a:lnTo>
                <a:lnTo>
                  <a:pt x="0" y="0"/>
                </a:lnTo>
                <a:lnTo>
                  <a:pt x="0" y="6859455"/>
                </a:lnTo>
                <a:lnTo>
                  <a:pt x="3718984" y="6859455"/>
                </a:lnTo>
                <a:close/>
              </a:path>
            </a:pathLst>
          </a:custGeom>
          <a:solidFill>
            <a:srgbClr val="0F5C8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3"/>
          <p:cNvSpPr/>
          <p:nvPr userDrawn="1"/>
        </p:nvSpPr>
        <p:spPr>
          <a:xfrm>
            <a:off x="373379" y="3261105"/>
            <a:ext cx="2910839" cy="145999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4"/>
          <p:cNvSpPr/>
          <p:nvPr userDrawn="1"/>
        </p:nvSpPr>
        <p:spPr>
          <a:xfrm>
            <a:off x="146304" y="3148710"/>
            <a:ext cx="3406140" cy="17526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5"/>
          <p:cNvSpPr txBox="1"/>
          <p:nvPr userDrawn="1"/>
        </p:nvSpPr>
        <p:spPr>
          <a:xfrm>
            <a:off x="580440" y="3366719"/>
            <a:ext cx="2567940" cy="1253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b="1" spc="200" dirty="0">
                <a:solidFill>
                  <a:srgbClr val="FFFFFF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汇报目录</a:t>
            </a:r>
            <a:endParaRPr sz="4800"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71755">
              <a:lnSpc>
                <a:spcPct val="100000"/>
              </a:lnSpc>
              <a:spcBef>
                <a:spcPts val="65"/>
              </a:spcBef>
            </a:pPr>
            <a:r>
              <a:rPr sz="3200" b="1" spc="165" dirty="0">
                <a:solidFill>
                  <a:srgbClr val="FFFFFF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CONTENTS</a:t>
            </a:r>
            <a:endParaRPr sz="3200"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2" name="矩形 21"/>
          <p:cNvSpPr/>
          <p:nvPr userDrawn="1"/>
        </p:nvSpPr>
        <p:spPr>
          <a:xfrm>
            <a:off x="5993693" y="1508074"/>
            <a:ext cx="5036185" cy="630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 22"/>
          <p:cNvSpPr/>
          <p:nvPr userDrawn="1"/>
        </p:nvSpPr>
        <p:spPr>
          <a:xfrm>
            <a:off x="5993693" y="2240864"/>
            <a:ext cx="5036185" cy="630000"/>
          </a:xfrm>
          <a:prstGeom prst="rect">
            <a:avLst/>
          </a:prstGeom>
          <a:solidFill>
            <a:srgbClr val="0F5C8B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矩形 1"/>
          <p:cNvSpPr/>
          <p:nvPr userDrawn="1"/>
        </p:nvSpPr>
        <p:spPr>
          <a:xfrm>
            <a:off x="5038653" y="1508074"/>
            <a:ext cx="720000" cy="630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 userDrawn="1"/>
        </p:nvSpPr>
        <p:spPr>
          <a:xfrm>
            <a:off x="5993693" y="3033979"/>
            <a:ext cx="5036185" cy="630000"/>
          </a:xfrm>
          <a:prstGeom prst="rect">
            <a:avLst/>
          </a:prstGeom>
          <a:solidFill>
            <a:srgbClr val="0F5C8B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 userDrawn="1"/>
        </p:nvSpPr>
        <p:spPr>
          <a:xfrm>
            <a:off x="5993693" y="3827094"/>
            <a:ext cx="5036185" cy="630000"/>
          </a:xfrm>
          <a:prstGeom prst="rect">
            <a:avLst/>
          </a:prstGeom>
          <a:solidFill>
            <a:srgbClr val="0F5C8B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 userDrawn="1"/>
        </p:nvSpPr>
        <p:spPr>
          <a:xfrm>
            <a:off x="5993693" y="4620209"/>
            <a:ext cx="5036185" cy="630000"/>
          </a:xfrm>
          <a:prstGeom prst="rect">
            <a:avLst/>
          </a:prstGeom>
          <a:solidFill>
            <a:srgbClr val="0F5C8B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 userDrawn="1"/>
        </p:nvSpPr>
        <p:spPr>
          <a:xfrm>
            <a:off x="5038653" y="2240864"/>
            <a:ext cx="720000" cy="630000"/>
          </a:xfrm>
          <a:prstGeom prst="rect">
            <a:avLst/>
          </a:prstGeom>
          <a:solidFill>
            <a:srgbClr val="0F5C8B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 25"/>
          <p:cNvSpPr/>
          <p:nvPr userDrawn="1"/>
        </p:nvSpPr>
        <p:spPr>
          <a:xfrm>
            <a:off x="5038653" y="3023184"/>
            <a:ext cx="720000" cy="630000"/>
          </a:xfrm>
          <a:prstGeom prst="rect">
            <a:avLst/>
          </a:prstGeom>
          <a:solidFill>
            <a:srgbClr val="0F5C8B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 26"/>
          <p:cNvSpPr/>
          <p:nvPr userDrawn="1"/>
        </p:nvSpPr>
        <p:spPr>
          <a:xfrm>
            <a:off x="5038653" y="3830904"/>
            <a:ext cx="720000" cy="630000"/>
          </a:xfrm>
          <a:prstGeom prst="rect">
            <a:avLst/>
          </a:prstGeom>
          <a:solidFill>
            <a:srgbClr val="0F5C8B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矩形 27"/>
          <p:cNvSpPr/>
          <p:nvPr userDrawn="1"/>
        </p:nvSpPr>
        <p:spPr>
          <a:xfrm>
            <a:off x="5038653" y="4620844"/>
            <a:ext cx="720000" cy="630000"/>
          </a:xfrm>
          <a:prstGeom prst="rect">
            <a:avLst/>
          </a:prstGeom>
          <a:solidFill>
            <a:srgbClr val="0F5C8B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" name="Picture 2" descr="http://www.gmw.cn/images/2010-06/03/xin_2206070305393121514544.jpg"/>
          <p:cNvPicPr>
            <a:picLocks noChangeArrowheads="1"/>
          </p:cNvPicPr>
          <p:nvPr userDrawn="1">
            <p:custDataLst>
              <p:tags r:id="rId1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080" y="791210"/>
            <a:ext cx="3179445" cy="214820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2"/>
          <p:cNvSpPr/>
          <p:nvPr userDrawn="1"/>
        </p:nvSpPr>
        <p:spPr>
          <a:xfrm>
            <a:off x="0" y="66"/>
            <a:ext cx="3719195" cy="6859905"/>
          </a:xfrm>
          <a:custGeom>
            <a:avLst/>
            <a:gdLst/>
            <a:ahLst/>
            <a:cxnLst/>
            <a:rect l="l" t="t" r="r" b="b"/>
            <a:pathLst>
              <a:path w="3719195" h="6859905">
                <a:moveTo>
                  <a:pt x="3718984" y="6859455"/>
                </a:moveTo>
                <a:lnTo>
                  <a:pt x="3718984" y="0"/>
                </a:lnTo>
                <a:lnTo>
                  <a:pt x="0" y="0"/>
                </a:lnTo>
                <a:lnTo>
                  <a:pt x="0" y="6859455"/>
                </a:lnTo>
                <a:lnTo>
                  <a:pt x="3718984" y="6859455"/>
                </a:lnTo>
                <a:close/>
              </a:path>
            </a:pathLst>
          </a:custGeom>
          <a:solidFill>
            <a:srgbClr val="0F5C8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3"/>
          <p:cNvSpPr/>
          <p:nvPr userDrawn="1"/>
        </p:nvSpPr>
        <p:spPr>
          <a:xfrm>
            <a:off x="373379" y="3261105"/>
            <a:ext cx="2910839" cy="145999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4"/>
          <p:cNvSpPr/>
          <p:nvPr userDrawn="1"/>
        </p:nvSpPr>
        <p:spPr>
          <a:xfrm>
            <a:off x="146304" y="3148710"/>
            <a:ext cx="3406140" cy="17526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5"/>
          <p:cNvSpPr txBox="1"/>
          <p:nvPr userDrawn="1"/>
        </p:nvSpPr>
        <p:spPr>
          <a:xfrm>
            <a:off x="580440" y="3366719"/>
            <a:ext cx="2567940" cy="1253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b="1" spc="200" dirty="0">
                <a:solidFill>
                  <a:srgbClr val="FFFFFF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汇报目录</a:t>
            </a:r>
            <a:endParaRPr sz="4800"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71755">
              <a:lnSpc>
                <a:spcPct val="100000"/>
              </a:lnSpc>
              <a:spcBef>
                <a:spcPts val="65"/>
              </a:spcBef>
            </a:pPr>
            <a:r>
              <a:rPr sz="3200" b="1" spc="165" dirty="0">
                <a:solidFill>
                  <a:srgbClr val="FFFFFF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CONTENTS</a:t>
            </a:r>
            <a:endParaRPr sz="3200"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2" name="矩形 21"/>
          <p:cNvSpPr/>
          <p:nvPr userDrawn="1"/>
        </p:nvSpPr>
        <p:spPr>
          <a:xfrm>
            <a:off x="5771114" y="1508074"/>
            <a:ext cx="5036185" cy="630000"/>
          </a:xfrm>
          <a:prstGeom prst="rect">
            <a:avLst/>
          </a:prstGeom>
          <a:solidFill>
            <a:srgbClr val="9FBE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 22"/>
          <p:cNvSpPr/>
          <p:nvPr userDrawn="1"/>
        </p:nvSpPr>
        <p:spPr>
          <a:xfrm>
            <a:off x="5771114" y="2240864"/>
            <a:ext cx="5036185" cy="630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矩形 1"/>
          <p:cNvSpPr/>
          <p:nvPr userDrawn="1"/>
        </p:nvSpPr>
        <p:spPr>
          <a:xfrm>
            <a:off x="4816074" y="1508074"/>
            <a:ext cx="720000" cy="630000"/>
          </a:xfrm>
          <a:prstGeom prst="rect">
            <a:avLst/>
          </a:prstGeom>
          <a:solidFill>
            <a:srgbClr val="9FBE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 userDrawn="1"/>
        </p:nvSpPr>
        <p:spPr>
          <a:xfrm>
            <a:off x="5771114" y="3033979"/>
            <a:ext cx="5036185" cy="630000"/>
          </a:xfrm>
          <a:prstGeom prst="rect">
            <a:avLst/>
          </a:prstGeom>
          <a:solidFill>
            <a:srgbClr val="0F5C8B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 userDrawn="1"/>
        </p:nvSpPr>
        <p:spPr>
          <a:xfrm>
            <a:off x="5771114" y="3827094"/>
            <a:ext cx="5036185" cy="630000"/>
          </a:xfrm>
          <a:prstGeom prst="rect">
            <a:avLst/>
          </a:prstGeom>
          <a:solidFill>
            <a:srgbClr val="0F5C8B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 userDrawn="1"/>
        </p:nvSpPr>
        <p:spPr>
          <a:xfrm>
            <a:off x="5771114" y="4620209"/>
            <a:ext cx="5036185" cy="630000"/>
          </a:xfrm>
          <a:prstGeom prst="rect">
            <a:avLst/>
          </a:prstGeom>
          <a:solidFill>
            <a:srgbClr val="0F5C8B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 userDrawn="1"/>
        </p:nvSpPr>
        <p:spPr>
          <a:xfrm>
            <a:off x="4816074" y="2240864"/>
            <a:ext cx="720000" cy="630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 25"/>
          <p:cNvSpPr/>
          <p:nvPr userDrawn="1"/>
        </p:nvSpPr>
        <p:spPr>
          <a:xfrm>
            <a:off x="4816074" y="3023184"/>
            <a:ext cx="720000" cy="630000"/>
          </a:xfrm>
          <a:prstGeom prst="rect">
            <a:avLst/>
          </a:prstGeom>
          <a:solidFill>
            <a:srgbClr val="0F5C8B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 26"/>
          <p:cNvSpPr/>
          <p:nvPr userDrawn="1"/>
        </p:nvSpPr>
        <p:spPr>
          <a:xfrm>
            <a:off x="4816074" y="3830904"/>
            <a:ext cx="720000" cy="630000"/>
          </a:xfrm>
          <a:prstGeom prst="rect">
            <a:avLst/>
          </a:prstGeom>
          <a:solidFill>
            <a:srgbClr val="0F5C8B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矩形 27"/>
          <p:cNvSpPr/>
          <p:nvPr userDrawn="1"/>
        </p:nvSpPr>
        <p:spPr>
          <a:xfrm>
            <a:off x="4816074" y="4620844"/>
            <a:ext cx="720000" cy="630000"/>
          </a:xfrm>
          <a:prstGeom prst="rect">
            <a:avLst/>
          </a:prstGeom>
          <a:solidFill>
            <a:srgbClr val="0F5C8B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" name="Picture 2" descr="http://www.gmw.cn/images/2010-06/03/xin_2206070305393121514544.jpg"/>
          <p:cNvPicPr>
            <a:picLocks noChangeArrowheads="1"/>
          </p:cNvPicPr>
          <p:nvPr userDrawn="1">
            <p:custDataLst>
              <p:tags r:id="rId1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080" y="791210"/>
            <a:ext cx="3179445" cy="214820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2"/>
          <p:cNvSpPr/>
          <p:nvPr userDrawn="1"/>
        </p:nvSpPr>
        <p:spPr>
          <a:xfrm>
            <a:off x="0" y="66"/>
            <a:ext cx="3719195" cy="6859905"/>
          </a:xfrm>
          <a:custGeom>
            <a:avLst/>
            <a:gdLst/>
            <a:ahLst/>
            <a:cxnLst/>
            <a:rect l="l" t="t" r="r" b="b"/>
            <a:pathLst>
              <a:path w="3719195" h="6859905">
                <a:moveTo>
                  <a:pt x="3718984" y="6859455"/>
                </a:moveTo>
                <a:lnTo>
                  <a:pt x="3718984" y="0"/>
                </a:lnTo>
                <a:lnTo>
                  <a:pt x="0" y="0"/>
                </a:lnTo>
                <a:lnTo>
                  <a:pt x="0" y="6859455"/>
                </a:lnTo>
                <a:lnTo>
                  <a:pt x="3718984" y="6859455"/>
                </a:lnTo>
                <a:close/>
              </a:path>
            </a:pathLst>
          </a:custGeom>
          <a:solidFill>
            <a:srgbClr val="0F5C8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3"/>
          <p:cNvSpPr/>
          <p:nvPr userDrawn="1"/>
        </p:nvSpPr>
        <p:spPr>
          <a:xfrm>
            <a:off x="373379" y="3261105"/>
            <a:ext cx="2910839" cy="145999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4"/>
          <p:cNvSpPr/>
          <p:nvPr userDrawn="1"/>
        </p:nvSpPr>
        <p:spPr>
          <a:xfrm>
            <a:off x="146304" y="3148710"/>
            <a:ext cx="3406140" cy="17526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5"/>
          <p:cNvSpPr txBox="1"/>
          <p:nvPr userDrawn="1"/>
        </p:nvSpPr>
        <p:spPr>
          <a:xfrm>
            <a:off x="580440" y="3366719"/>
            <a:ext cx="2567940" cy="1253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b="1" spc="200" dirty="0">
                <a:solidFill>
                  <a:srgbClr val="FFFFFF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汇报目录</a:t>
            </a:r>
            <a:endParaRPr sz="4800"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71755">
              <a:lnSpc>
                <a:spcPct val="100000"/>
              </a:lnSpc>
              <a:spcBef>
                <a:spcPts val="65"/>
              </a:spcBef>
            </a:pPr>
            <a:r>
              <a:rPr sz="3200" b="1" spc="165" dirty="0">
                <a:solidFill>
                  <a:srgbClr val="FFFFFF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CONTENTS</a:t>
            </a:r>
            <a:endParaRPr sz="3200"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2" name="矩形 21"/>
          <p:cNvSpPr/>
          <p:nvPr userDrawn="1"/>
        </p:nvSpPr>
        <p:spPr>
          <a:xfrm>
            <a:off x="5915493" y="1416150"/>
            <a:ext cx="5036185" cy="630000"/>
          </a:xfrm>
          <a:prstGeom prst="rect">
            <a:avLst/>
          </a:prstGeom>
          <a:solidFill>
            <a:srgbClr val="9FBE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 22"/>
          <p:cNvSpPr/>
          <p:nvPr userDrawn="1"/>
        </p:nvSpPr>
        <p:spPr>
          <a:xfrm>
            <a:off x="5915493" y="2148940"/>
            <a:ext cx="5036185" cy="630000"/>
          </a:xfrm>
          <a:prstGeom prst="rect">
            <a:avLst/>
          </a:prstGeom>
          <a:solidFill>
            <a:srgbClr val="9FBE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矩形 1"/>
          <p:cNvSpPr/>
          <p:nvPr userDrawn="1"/>
        </p:nvSpPr>
        <p:spPr>
          <a:xfrm>
            <a:off x="4960453" y="1416150"/>
            <a:ext cx="720000" cy="630000"/>
          </a:xfrm>
          <a:prstGeom prst="rect">
            <a:avLst/>
          </a:prstGeom>
          <a:solidFill>
            <a:srgbClr val="9FBE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 userDrawn="1"/>
        </p:nvSpPr>
        <p:spPr>
          <a:xfrm>
            <a:off x="5915493" y="2942055"/>
            <a:ext cx="5036185" cy="630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 userDrawn="1"/>
        </p:nvSpPr>
        <p:spPr>
          <a:xfrm>
            <a:off x="5915493" y="3735170"/>
            <a:ext cx="5036185" cy="630000"/>
          </a:xfrm>
          <a:prstGeom prst="rect">
            <a:avLst/>
          </a:prstGeom>
          <a:solidFill>
            <a:srgbClr val="0F5C8B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 userDrawn="1"/>
        </p:nvSpPr>
        <p:spPr>
          <a:xfrm>
            <a:off x="5915493" y="4528285"/>
            <a:ext cx="5036185" cy="630000"/>
          </a:xfrm>
          <a:prstGeom prst="rect">
            <a:avLst/>
          </a:prstGeom>
          <a:solidFill>
            <a:srgbClr val="0F5C8B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 userDrawn="1"/>
        </p:nvSpPr>
        <p:spPr>
          <a:xfrm>
            <a:off x="4960453" y="2148940"/>
            <a:ext cx="720000" cy="630000"/>
          </a:xfrm>
          <a:prstGeom prst="rect">
            <a:avLst/>
          </a:prstGeom>
          <a:solidFill>
            <a:srgbClr val="9FBE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 25"/>
          <p:cNvSpPr/>
          <p:nvPr userDrawn="1"/>
        </p:nvSpPr>
        <p:spPr>
          <a:xfrm>
            <a:off x="4960453" y="2931260"/>
            <a:ext cx="720000" cy="630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 26"/>
          <p:cNvSpPr/>
          <p:nvPr userDrawn="1"/>
        </p:nvSpPr>
        <p:spPr>
          <a:xfrm>
            <a:off x="4960453" y="3738980"/>
            <a:ext cx="720000" cy="630000"/>
          </a:xfrm>
          <a:prstGeom prst="rect">
            <a:avLst/>
          </a:prstGeom>
          <a:solidFill>
            <a:srgbClr val="0F5C8B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矩形 27"/>
          <p:cNvSpPr/>
          <p:nvPr userDrawn="1"/>
        </p:nvSpPr>
        <p:spPr>
          <a:xfrm>
            <a:off x="4960453" y="4528920"/>
            <a:ext cx="720000" cy="630000"/>
          </a:xfrm>
          <a:prstGeom prst="rect">
            <a:avLst/>
          </a:prstGeom>
          <a:solidFill>
            <a:srgbClr val="0F5C8B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" name="Picture 2" descr="http://www.gmw.cn/images/2010-06/03/xin_2206070305393121514544.jpg"/>
          <p:cNvPicPr>
            <a:picLocks noChangeArrowheads="1"/>
          </p:cNvPicPr>
          <p:nvPr userDrawn="1">
            <p:custDataLst>
              <p:tags r:id="rId1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080" y="791210"/>
            <a:ext cx="3179445" cy="214820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2"/>
          <p:cNvSpPr/>
          <p:nvPr userDrawn="1"/>
        </p:nvSpPr>
        <p:spPr>
          <a:xfrm>
            <a:off x="0" y="66"/>
            <a:ext cx="3719195" cy="6859905"/>
          </a:xfrm>
          <a:custGeom>
            <a:avLst/>
            <a:gdLst/>
            <a:ahLst/>
            <a:cxnLst/>
            <a:rect l="l" t="t" r="r" b="b"/>
            <a:pathLst>
              <a:path w="3719195" h="6859905">
                <a:moveTo>
                  <a:pt x="3718984" y="6859455"/>
                </a:moveTo>
                <a:lnTo>
                  <a:pt x="3718984" y="0"/>
                </a:lnTo>
                <a:lnTo>
                  <a:pt x="0" y="0"/>
                </a:lnTo>
                <a:lnTo>
                  <a:pt x="0" y="6859455"/>
                </a:lnTo>
                <a:lnTo>
                  <a:pt x="3718984" y="6859455"/>
                </a:lnTo>
                <a:close/>
              </a:path>
            </a:pathLst>
          </a:custGeom>
          <a:solidFill>
            <a:srgbClr val="0F5C8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3"/>
          <p:cNvSpPr/>
          <p:nvPr userDrawn="1"/>
        </p:nvSpPr>
        <p:spPr>
          <a:xfrm>
            <a:off x="373379" y="3261105"/>
            <a:ext cx="2910839" cy="145999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4"/>
          <p:cNvSpPr/>
          <p:nvPr userDrawn="1"/>
        </p:nvSpPr>
        <p:spPr>
          <a:xfrm>
            <a:off x="146304" y="3148710"/>
            <a:ext cx="3406140" cy="17526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5"/>
          <p:cNvSpPr txBox="1"/>
          <p:nvPr userDrawn="1"/>
        </p:nvSpPr>
        <p:spPr>
          <a:xfrm>
            <a:off x="580440" y="3366719"/>
            <a:ext cx="2567940" cy="1253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b="1" spc="200" dirty="0">
                <a:solidFill>
                  <a:srgbClr val="FFFFFF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汇报目录</a:t>
            </a:r>
            <a:endParaRPr sz="4800"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71755">
              <a:lnSpc>
                <a:spcPct val="100000"/>
              </a:lnSpc>
              <a:spcBef>
                <a:spcPts val="65"/>
              </a:spcBef>
            </a:pPr>
            <a:r>
              <a:rPr sz="3200" b="1" spc="165" dirty="0">
                <a:solidFill>
                  <a:srgbClr val="FFFFFF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CONTENTS</a:t>
            </a:r>
            <a:endParaRPr sz="3200"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2" name="矩形 21"/>
          <p:cNvSpPr/>
          <p:nvPr userDrawn="1"/>
        </p:nvSpPr>
        <p:spPr>
          <a:xfrm>
            <a:off x="5886617" y="1574967"/>
            <a:ext cx="5036185" cy="630000"/>
          </a:xfrm>
          <a:prstGeom prst="rect">
            <a:avLst/>
          </a:prstGeom>
          <a:solidFill>
            <a:srgbClr val="9FBE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 22"/>
          <p:cNvSpPr/>
          <p:nvPr userDrawn="1"/>
        </p:nvSpPr>
        <p:spPr>
          <a:xfrm>
            <a:off x="5886617" y="2307757"/>
            <a:ext cx="5036185" cy="630000"/>
          </a:xfrm>
          <a:prstGeom prst="rect">
            <a:avLst/>
          </a:prstGeom>
          <a:solidFill>
            <a:srgbClr val="9FBE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矩形 1"/>
          <p:cNvSpPr/>
          <p:nvPr userDrawn="1"/>
        </p:nvSpPr>
        <p:spPr>
          <a:xfrm>
            <a:off x="4931577" y="1574967"/>
            <a:ext cx="720000" cy="630000"/>
          </a:xfrm>
          <a:prstGeom prst="rect">
            <a:avLst/>
          </a:prstGeom>
          <a:solidFill>
            <a:srgbClr val="9FBE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 userDrawn="1"/>
        </p:nvSpPr>
        <p:spPr>
          <a:xfrm>
            <a:off x="5886617" y="3100872"/>
            <a:ext cx="5036185" cy="630000"/>
          </a:xfrm>
          <a:prstGeom prst="rect">
            <a:avLst/>
          </a:prstGeom>
          <a:solidFill>
            <a:srgbClr val="0F5C8B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 userDrawn="1"/>
        </p:nvSpPr>
        <p:spPr>
          <a:xfrm>
            <a:off x="5886617" y="3893987"/>
            <a:ext cx="5036185" cy="630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 userDrawn="1"/>
        </p:nvSpPr>
        <p:spPr>
          <a:xfrm>
            <a:off x="5886617" y="4687102"/>
            <a:ext cx="5036185" cy="630000"/>
          </a:xfrm>
          <a:prstGeom prst="rect">
            <a:avLst/>
          </a:prstGeom>
          <a:solidFill>
            <a:srgbClr val="0F5C8B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 userDrawn="1"/>
        </p:nvSpPr>
        <p:spPr>
          <a:xfrm>
            <a:off x="4931577" y="2307757"/>
            <a:ext cx="720000" cy="630000"/>
          </a:xfrm>
          <a:prstGeom prst="rect">
            <a:avLst/>
          </a:prstGeom>
          <a:solidFill>
            <a:srgbClr val="9FBE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 25"/>
          <p:cNvSpPr/>
          <p:nvPr userDrawn="1"/>
        </p:nvSpPr>
        <p:spPr>
          <a:xfrm>
            <a:off x="4931577" y="3090077"/>
            <a:ext cx="720000" cy="630000"/>
          </a:xfrm>
          <a:prstGeom prst="rect">
            <a:avLst/>
          </a:prstGeom>
          <a:solidFill>
            <a:srgbClr val="0F5C8B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 26"/>
          <p:cNvSpPr/>
          <p:nvPr userDrawn="1"/>
        </p:nvSpPr>
        <p:spPr>
          <a:xfrm>
            <a:off x="4931577" y="3897797"/>
            <a:ext cx="720000" cy="630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矩形 27"/>
          <p:cNvSpPr/>
          <p:nvPr userDrawn="1"/>
        </p:nvSpPr>
        <p:spPr>
          <a:xfrm>
            <a:off x="4931577" y="4687737"/>
            <a:ext cx="720000" cy="630000"/>
          </a:xfrm>
          <a:prstGeom prst="rect">
            <a:avLst/>
          </a:prstGeom>
          <a:solidFill>
            <a:srgbClr val="0F5C8B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" name="Picture 2" descr="http://www.gmw.cn/images/2010-06/03/xin_2206070305393121514544.jpg"/>
          <p:cNvPicPr>
            <a:picLocks noChangeArrowheads="1"/>
          </p:cNvPicPr>
          <p:nvPr userDrawn="1">
            <p:custDataLst>
              <p:tags r:id="rId1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080" y="791210"/>
            <a:ext cx="3179445" cy="214820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4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2"/>
          <p:cNvSpPr/>
          <p:nvPr userDrawn="1"/>
        </p:nvSpPr>
        <p:spPr>
          <a:xfrm>
            <a:off x="0" y="66"/>
            <a:ext cx="3719195" cy="6859905"/>
          </a:xfrm>
          <a:custGeom>
            <a:avLst/>
            <a:gdLst/>
            <a:ahLst/>
            <a:cxnLst/>
            <a:rect l="l" t="t" r="r" b="b"/>
            <a:pathLst>
              <a:path w="3719195" h="6859905">
                <a:moveTo>
                  <a:pt x="3718984" y="6859455"/>
                </a:moveTo>
                <a:lnTo>
                  <a:pt x="3718984" y="0"/>
                </a:lnTo>
                <a:lnTo>
                  <a:pt x="0" y="0"/>
                </a:lnTo>
                <a:lnTo>
                  <a:pt x="0" y="6859455"/>
                </a:lnTo>
                <a:lnTo>
                  <a:pt x="3718984" y="6859455"/>
                </a:lnTo>
                <a:close/>
              </a:path>
            </a:pathLst>
          </a:custGeom>
          <a:solidFill>
            <a:srgbClr val="0F5C8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3"/>
          <p:cNvSpPr/>
          <p:nvPr userDrawn="1"/>
        </p:nvSpPr>
        <p:spPr>
          <a:xfrm>
            <a:off x="373379" y="3261105"/>
            <a:ext cx="2910839" cy="145999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4"/>
          <p:cNvSpPr/>
          <p:nvPr userDrawn="1"/>
        </p:nvSpPr>
        <p:spPr>
          <a:xfrm>
            <a:off x="146304" y="3148710"/>
            <a:ext cx="3406140" cy="17526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5"/>
          <p:cNvSpPr txBox="1"/>
          <p:nvPr userDrawn="1"/>
        </p:nvSpPr>
        <p:spPr>
          <a:xfrm>
            <a:off x="580440" y="3366719"/>
            <a:ext cx="2567940" cy="1253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b="1" spc="200" dirty="0">
                <a:solidFill>
                  <a:srgbClr val="FFFFFF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汇报目录</a:t>
            </a:r>
            <a:endParaRPr sz="4800"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71755">
              <a:lnSpc>
                <a:spcPct val="100000"/>
              </a:lnSpc>
              <a:spcBef>
                <a:spcPts val="65"/>
              </a:spcBef>
            </a:pPr>
            <a:r>
              <a:rPr sz="3200" b="1" spc="165" dirty="0">
                <a:solidFill>
                  <a:srgbClr val="FFFFFF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CONTENTS</a:t>
            </a:r>
            <a:endParaRPr sz="3200"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2" name="矩形 21"/>
          <p:cNvSpPr/>
          <p:nvPr userDrawn="1"/>
        </p:nvSpPr>
        <p:spPr>
          <a:xfrm>
            <a:off x="5915493" y="1517215"/>
            <a:ext cx="5036185" cy="630000"/>
          </a:xfrm>
          <a:prstGeom prst="rect">
            <a:avLst/>
          </a:prstGeom>
          <a:solidFill>
            <a:srgbClr val="9FBE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 22"/>
          <p:cNvSpPr/>
          <p:nvPr userDrawn="1"/>
        </p:nvSpPr>
        <p:spPr>
          <a:xfrm>
            <a:off x="5915493" y="2250005"/>
            <a:ext cx="5036185" cy="630000"/>
          </a:xfrm>
          <a:prstGeom prst="rect">
            <a:avLst/>
          </a:prstGeom>
          <a:solidFill>
            <a:srgbClr val="9FBE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矩形 1"/>
          <p:cNvSpPr/>
          <p:nvPr userDrawn="1"/>
        </p:nvSpPr>
        <p:spPr>
          <a:xfrm>
            <a:off x="4960453" y="1517215"/>
            <a:ext cx="720000" cy="630000"/>
          </a:xfrm>
          <a:prstGeom prst="rect">
            <a:avLst/>
          </a:prstGeom>
          <a:solidFill>
            <a:srgbClr val="9FBE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 userDrawn="1"/>
        </p:nvSpPr>
        <p:spPr>
          <a:xfrm>
            <a:off x="5915493" y="3043120"/>
            <a:ext cx="5036185" cy="630000"/>
          </a:xfrm>
          <a:prstGeom prst="rect">
            <a:avLst/>
          </a:prstGeom>
          <a:solidFill>
            <a:srgbClr val="0F5C8B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 userDrawn="1"/>
        </p:nvSpPr>
        <p:spPr>
          <a:xfrm>
            <a:off x="5915493" y="3836235"/>
            <a:ext cx="5036185" cy="630000"/>
          </a:xfrm>
          <a:prstGeom prst="rect">
            <a:avLst/>
          </a:prstGeom>
          <a:solidFill>
            <a:srgbClr val="0F5C8B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 userDrawn="1"/>
        </p:nvSpPr>
        <p:spPr>
          <a:xfrm>
            <a:off x="5915493" y="4629350"/>
            <a:ext cx="5036185" cy="630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 userDrawn="1"/>
        </p:nvSpPr>
        <p:spPr>
          <a:xfrm>
            <a:off x="4960453" y="2250005"/>
            <a:ext cx="720000" cy="630000"/>
          </a:xfrm>
          <a:prstGeom prst="rect">
            <a:avLst/>
          </a:prstGeom>
          <a:solidFill>
            <a:srgbClr val="9FBE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 25"/>
          <p:cNvSpPr/>
          <p:nvPr userDrawn="1"/>
        </p:nvSpPr>
        <p:spPr>
          <a:xfrm>
            <a:off x="4960453" y="3032325"/>
            <a:ext cx="720000" cy="630000"/>
          </a:xfrm>
          <a:prstGeom prst="rect">
            <a:avLst/>
          </a:prstGeom>
          <a:solidFill>
            <a:srgbClr val="0F5C8B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 26"/>
          <p:cNvSpPr/>
          <p:nvPr userDrawn="1"/>
        </p:nvSpPr>
        <p:spPr>
          <a:xfrm>
            <a:off x="4960453" y="3840045"/>
            <a:ext cx="720000" cy="630000"/>
          </a:xfrm>
          <a:prstGeom prst="rect">
            <a:avLst/>
          </a:prstGeom>
          <a:solidFill>
            <a:srgbClr val="0F5C8B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矩形 27"/>
          <p:cNvSpPr/>
          <p:nvPr userDrawn="1"/>
        </p:nvSpPr>
        <p:spPr>
          <a:xfrm>
            <a:off x="4960453" y="4629985"/>
            <a:ext cx="720000" cy="630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" name="Picture 2" descr="http://www.gmw.cn/images/2010-06/03/xin_2206070305393121514544.jpg"/>
          <p:cNvPicPr>
            <a:picLocks noChangeArrowheads="1"/>
          </p:cNvPicPr>
          <p:nvPr userDrawn="1">
            <p:custDataLst>
              <p:tags r:id="rId1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080" y="791210"/>
            <a:ext cx="3179445" cy="214820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5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2"/>
          <p:cNvSpPr/>
          <p:nvPr userDrawn="1"/>
        </p:nvSpPr>
        <p:spPr>
          <a:xfrm>
            <a:off x="0" y="66"/>
            <a:ext cx="3719195" cy="6859905"/>
          </a:xfrm>
          <a:custGeom>
            <a:avLst/>
            <a:gdLst/>
            <a:ahLst/>
            <a:cxnLst/>
            <a:rect l="l" t="t" r="r" b="b"/>
            <a:pathLst>
              <a:path w="3719195" h="6859905">
                <a:moveTo>
                  <a:pt x="3718984" y="6859455"/>
                </a:moveTo>
                <a:lnTo>
                  <a:pt x="3718984" y="0"/>
                </a:lnTo>
                <a:lnTo>
                  <a:pt x="0" y="0"/>
                </a:lnTo>
                <a:lnTo>
                  <a:pt x="0" y="6859455"/>
                </a:lnTo>
                <a:lnTo>
                  <a:pt x="3718984" y="6859455"/>
                </a:lnTo>
                <a:close/>
              </a:path>
            </a:pathLst>
          </a:custGeom>
          <a:solidFill>
            <a:srgbClr val="0F5C8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3"/>
          <p:cNvSpPr/>
          <p:nvPr userDrawn="1"/>
        </p:nvSpPr>
        <p:spPr>
          <a:xfrm>
            <a:off x="373379" y="3261105"/>
            <a:ext cx="2910839" cy="145999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4"/>
          <p:cNvSpPr/>
          <p:nvPr userDrawn="1"/>
        </p:nvSpPr>
        <p:spPr>
          <a:xfrm>
            <a:off x="146304" y="3148710"/>
            <a:ext cx="3406140" cy="17526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5"/>
          <p:cNvSpPr txBox="1"/>
          <p:nvPr userDrawn="1"/>
        </p:nvSpPr>
        <p:spPr>
          <a:xfrm>
            <a:off x="580440" y="3366719"/>
            <a:ext cx="2567940" cy="1253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b="1" spc="200" dirty="0">
                <a:solidFill>
                  <a:srgbClr val="FFFFFF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汇报目录</a:t>
            </a:r>
            <a:endParaRPr sz="4800"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71755">
              <a:lnSpc>
                <a:spcPct val="100000"/>
              </a:lnSpc>
              <a:spcBef>
                <a:spcPts val="65"/>
              </a:spcBef>
            </a:pPr>
            <a:r>
              <a:rPr sz="3200" b="1" spc="165" dirty="0">
                <a:solidFill>
                  <a:srgbClr val="FFFFFF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CONTENTS</a:t>
            </a:r>
            <a:endParaRPr sz="3200"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2" name="矩形 21"/>
          <p:cNvSpPr/>
          <p:nvPr userDrawn="1"/>
        </p:nvSpPr>
        <p:spPr>
          <a:xfrm>
            <a:off x="5901055" y="492125"/>
            <a:ext cx="5036185" cy="630000"/>
          </a:xfrm>
          <a:prstGeom prst="rect">
            <a:avLst/>
          </a:prstGeom>
          <a:solidFill>
            <a:srgbClr val="9FBE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 22"/>
          <p:cNvSpPr/>
          <p:nvPr userDrawn="1"/>
        </p:nvSpPr>
        <p:spPr>
          <a:xfrm>
            <a:off x="5901055" y="1224915"/>
            <a:ext cx="5036185" cy="630000"/>
          </a:xfrm>
          <a:prstGeom prst="rect">
            <a:avLst/>
          </a:prstGeom>
          <a:solidFill>
            <a:srgbClr val="9FBE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矩形 1"/>
          <p:cNvSpPr/>
          <p:nvPr userDrawn="1"/>
        </p:nvSpPr>
        <p:spPr>
          <a:xfrm>
            <a:off x="4946015" y="492125"/>
            <a:ext cx="720000" cy="630000"/>
          </a:xfrm>
          <a:prstGeom prst="rect">
            <a:avLst/>
          </a:prstGeom>
          <a:solidFill>
            <a:srgbClr val="9FBE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 userDrawn="1"/>
        </p:nvSpPr>
        <p:spPr>
          <a:xfrm>
            <a:off x="5901055" y="2018030"/>
            <a:ext cx="5036185" cy="630000"/>
          </a:xfrm>
          <a:prstGeom prst="rect">
            <a:avLst/>
          </a:prstGeom>
          <a:solidFill>
            <a:srgbClr val="0F5C8B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 userDrawn="1"/>
        </p:nvSpPr>
        <p:spPr>
          <a:xfrm>
            <a:off x="5901055" y="2811145"/>
            <a:ext cx="5036185" cy="630000"/>
          </a:xfrm>
          <a:prstGeom prst="rect">
            <a:avLst/>
          </a:prstGeom>
          <a:solidFill>
            <a:srgbClr val="0F5C8B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 userDrawn="1"/>
        </p:nvSpPr>
        <p:spPr>
          <a:xfrm>
            <a:off x="5901055" y="3604260"/>
            <a:ext cx="5036185" cy="630000"/>
          </a:xfrm>
          <a:prstGeom prst="rect">
            <a:avLst/>
          </a:prstGeom>
          <a:solidFill>
            <a:srgbClr val="0F5C8B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 userDrawn="1"/>
        </p:nvSpPr>
        <p:spPr>
          <a:xfrm>
            <a:off x="5901055" y="4397375"/>
            <a:ext cx="5036185" cy="630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5901055" y="5190490"/>
            <a:ext cx="5036185" cy="630000"/>
          </a:xfrm>
          <a:prstGeom prst="rect">
            <a:avLst/>
          </a:prstGeom>
          <a:solidFill>
            <a:srgbClr val="0F5C8B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 userDrawn="1"/>
        </p:nvSpPr>
        <p:spPr>
          <a:xfrm>
            <a:off x="4946015" y="1224915"/>
            <a:ext cx="720000" cy="630000"/>
          </a:xfrm>
          <a:prstGeom prst="rect">
            <a:avLst/>
          </a:prstGeom>
          <a:solidFill>
            <a:srgbClr val="9FBE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 25"/>
          <p:cNvSpPr/>
          <p:nvPr userDrawn="1"/>
        </p:nvSpPr>
        <p:spPr>
          <a:xfrm>
            <a:off x="4946015" y="2007235"/>
            <a:ext cx="720000" cy="630000"/>
          </a:xfrm>
          <a:prstGeom prst="rect">
            <a:avLst/>
          </a:prstGeom>
          <a:solidFill>
            <a:srgbClr val="0F5C8B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 26"/>
          <p:cNvSpPr/>
          <p:nvPr userDrawn="1"/>
        </p:nvSpPr>
        <p:spPr>
          <a:xfrm>
            <a:off x="4946015" y="2814955"/>
            <a:ext cx="720000" cy="630000"/>
          </a:xfrm>
          <a:prstGeom prst="rect">
            <a:avLst/>
          </a:prstGeom>
          <a:solidFill>
            <a:srgbClr val="0F5C8B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矩形 27"/>
          <p:cNvSpPr/>
          <p:nvPr userDrawn="1"/>
        </p:nvSpPr>
        <p:spPr>
          <a:xfrm>
            <a:off x="4946015" y="3604895"/>
            <a:ext cx="720000" cy="630000"/>
          </a:xfrm>
          <a:prstGeom prst="rect">
            <a:avLst/>
          </a:prstGeom>
          <a:solidFill>
            <a:srgbClr val="0F5C8B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矩形 29"/>
          <p:cNvSpPr/>
          <p:nvPr userDrawn="1"/>
        </p:nvSpPr>
        <p:spPr>
          <a:xfrm>
            <a:off x="4946015" y="4404995"/>
            <a:ext cx="720000" cy="630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矩形 30"/>
          <p:cNvSpPr/>
          <p:nvPr userDrawn="1"/>
        </p:nvSpPr>
        <p:spPr>
          <a:xfrm>
            <a:off x="4946015" y="5212715"/>
            <a:ext cx="720000" cy="630000"/>
          </a:xfrm>
          <a:prstGeom prst="rect">
            <a:avLst/>
          </a:prstGeom>
          <a:solidFill>
            <a:srgbClr val="0F5C8B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" name="Picture 2" descr="http://www.gmw.cn/images/2010-06/03/xin_2206070305393121514544.jpg"/>
          <p:cNvPicPr>
            <a:picLocks noChangeArrowheads="1"/>
          </p:cNvPicPr>
          <p:nvPr userDrawn="1">
            <p:custDataLst>
              <p:tags r:id="rId1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080" y="791210"/>
            <a:ext cx="3179445" cy="214820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6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2"/>
          <p:cNvSpPr/>
          <p:nvPr userDrawn="1"/>
        </p:nvSpPr>
        <p:spPr>
          <a:xfrm>
            <a:off x="0" y="66"/>
            <a:ext cx="3719195" cy="6859905"/>
          </a:xfrm>
          <a:custGeom>
            <a:avLst/>
            <a:gdLst/>
            <a:ahLst/>
            <a:cxnLst/>
            <a:rect l="l" t="t" r="r" b="b"/>
            <a:pathLst>
              <a:path w="3719195" h="6859905">
                <a:moveTo>
                  <a:pt x="3718984" y="6859455"/>
                </a:moveTo>
                <a:lnTo>
                  <a:pt x="3718984" y="0"/>
                </a:lnTo>
                <a:lnTo>
                  <a:pt x="0" y="0"/>
                </a:lnTo>
                <a:lnTo>
                  <a:pt x="0" y="6859455"/>
                </a:lnTo>
                <a:lnTo>
                  <a:pt x="3718984" y="6859455"/>
                </a:lnTo>
                <a:close/>
              </a:path>
            </a:pathLst>
          </a:custGeom>
          <a:solidFill>
            <a:srgbClr val="0F5C8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3"/>
          <p:cNvSpPr/>
          <p:nvPr userDrawn="1"/>
        </p:nvSpPr>
        <p:spPr>
          <a:xfrm>
            <a:off x="373379" y="3261105"/>
            <a:ext cx="2910839" cy="145999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4"/>
          <p:cNvSpPr/>
          <p:nvPr userDrawn="1"/>
        </p:nvSpPr>
        <p:spPr>
          <a:xfrm>
            <a:off x="146304" y="3148710"/>
            <a:ext cx="3406140" cy="17526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5"/>
          <p:cNvSpPr txBox="1"/>
          <p:nvPr userDrawn="1"/>
        </p:nvSpPr>
        <p:spPr>
          <a:xfrm>
            <a:off x="580440" y="3366719"/>
            <a:ext cx="2567940" cy="1253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b="1" spc="200" dirty="0">
                <a:solidFill>
                  <a:srgbClr val="FFFFFF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汇报目录</a:t>
            </a:r>
            <a:endParaRPr sz="4800"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71755">
              <a:lnSpc>
                <a:spcPct val="100000"/>
              </a:lnSpc>
              <a:spcBef>
                <a:spcPts val="65"/>
              </a:spcBef>
            </a:pPr>
            <a:r>
              <a:rPr sz="3200" b="1" spc="165" dirty="0">
                <a:solidFill>
                  <a:srgbClr val="FFFFFF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CONTENTS</a:t>
            </a:r>
            <a:endParaRPr sz="3200"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2" name="矩形 21"/>
          <p:cNvSpPr/>
          <p:nvPr userDrawn="1"/>
        </p:nvSpPr>
        <p:spPr>
          <a:xfrm>
            <a:off x="5901055" y="492125"/>
            <a:ext cx="5036185" cy="630000"/>
          </a:xfrm>
          <a:prstGeom prst="rect">
            <a:avLst/>
          </a:prstGeom>
          <a:solidFill>
            <a:srgbClr val="9FBE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 22"/>
          <p:cNvSpPr/>
          <p:nvPr userDrawn="1"/>
        </p:nvSpPr>
        <p:spPr>
          <a:xfrm>
            <a:off x="5901055" y="1224915"/>
            <a:ext cx="5036185" cy="630000"/>
          </a:xfrm>
          <a:prstGeom prst="rect">
            <a:avLst/>
          </a:prstGeom>
          <a:solidFill>
            <a:srgbClr val="9FBE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矩形 1"/>
          <p:cNvSpPr/>
          <p:nvPr userDrawn="1"/>
        </p:nvSpPr>
        <p:spPr>
          <a:xfrm>
            <a:off x="4946015" y="492125"/>
            <a:ext cx="720000" cy="630000"/>
          </a:xfrm>
          <a:prstGeom prst="rect">
            <a:avLst/>
          </a:prstGeom>
          <a:solidFill>
            <a:srgbClr val="9FBE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 userDrawn="1"/>
        </p:nvSpPr>
        <p:spPr>
          <a:xfrm>
            <a:off x="5901055" y="2018030"/>
            <a:ext cx="5036185" cy="630000"/>
          </a:xfrm>
          <a:prstGeom prst="rect">
            <a:avLst/>
          </a:prstGeom>
          <a:solidFill>
            <a:srgbClr val="0F5C8B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 userDrawn="1"/>
        </p:nvSpPr>
        <p:spPr>
          <a:xfrm>
            <a:off x="5901055" y="2811145"/>
            <a:ext cx="5036185" cy="630000"/>
          </a:xfrm>
          <a:prstGeom prst="rect">
            <a:avLst/>
          </a:prstGeom>
          <a:solidFill>
            <a:srgbClr val="0F5C8B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 userDrawn="1"/>
        </p:nvSpPr>
        <p:spPr>
          <a:xfrm>
            <a:off x="5901055" y="3604260"/>
            <a:ext cx="5036185" cy="630000"/>
          </a:xfrm>
          <a:prstGeom prst="rect">
            <a:avLst/>
          </a:prstGeom>
          <a:solidFill>
            <a:srgbClr val="0F5C8B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 userDrawn="1"/>
        </p:nvSpPr>
        <p:spPr>
          <a:xfrm>
            <a:off x="5901055" y="4397375"/>
            <a:ext cx="5036185" cy="630000"/>
          </a:xfrm>
          <a:prstGeom prst="rect">
            <a:avLst/>
          </a:prstGeom>
          <a:solidFill>
            <a:srgbClr val="0F5C8B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5901055" y="5190490"/>
            <a:ext cx="5036185" cy="630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 userDrawn="1"/>
        </p:nvSpPr>
        <p:spPr>
          <a:xfrm>
            <a:off x="5901055" y="5983605"/>
            <a:ext cx="5036185" cy="630000"/>
          </a:xfrm>
          <a:prstGeom prst="rect">
            <a:avLst/>
          </a:prstGeom>
          <a:solidFill>
            <a:srgbClr val="0F5C8B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 userDrawn="1"/>
        </p:nvSpPr>
        <p:spPr>
          <a:xfrm>
            <a:off x="4946015" y="1224915"/>
            <a:ext cx="720000" cy="630000"/>
          </a:xfrm>
          <a:prstGeom prst="rect">
            <a:avLst/>
          </a:prstGeom>
          <a:solidFill>
            <a:srgbClr val="9FBE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 25"/>
          <p:cNvSpPr/>
          <p:nvPr userDrawn="1"/>
        </p:nvSpPr>
        <p:spPr>
          <a:xfrm>
            <a:off x="4946015" y="2007235"/>
            <a:ext cx="720000" cy="630000"/>
          </a:xfrm>
          <a:prstGeom prst="rect">
            <a:avLst/>
          </a:prstGeom>
          <a:solidFill>
            <a:srgbClr val="0F5C8B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 26"/>
          <p:cNvSpPr/>
          <p:nvPr userDrawn="1"/>
        </p:nvSpPr>
        <p:spPr>
          <a:xfrm>
            <a:off x="4946015" y="2814955"/>
            <a:ext cx="720000" cy="630000"/>
          </a:xfrm>
          <a:prstGeom prst="rect">
            <a:avLst/>
          </a:prstGeom>
          <a:solidFill>
            <a:srgbClr val="0F5C8B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矩形 27"/>
          <p:cNvSpPr/>
          <p:nvPr userDrawn="1"/>
        </p:nvSpPr>
        <p:spPr>
          <a:xfrm>
            <a:off x="4946015" y="3604895"/>
            <a:ext cx="720000" cy="630000"/>
          </a:xfrm>
          <a:prstGeom prst="rect">
            <a:avLst/>
          </a:prstGeom>
          <a:solidFill>
            <a:srgbClr val="0F5C8B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矩形 29"/>
          <p:cNvSpPr/>
          <p:nvPr userDrawn="1"/>
        </p:nvSpPr>
        <p:spPr>
          <a:xfrm>
            <a:off x="4946015" y="4404995"/>
            <a:ext cx="720000" cy="630000"/>
          </a:xfrm>
          <a:prstGeom prst="rect">
            <a:avLst/>
          </a:prstGeom>
          <a:solidFill>
            <a:srgbClr val="0F5C8B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矩形 30"/>
          <p:cNvSpPr/>
          <p:nvPr userDrawn="1"/>
        </p:nvSpPr>
        <p:spPr>
          <a:xfrm>
            <a:off x="4946015" y="5212715"/>
            <a:ext cx="720000" cy="630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矩形 31"/>
          <p:cNvSpPr/>
          <p:nvPr userDrawn="1"/>
        </p:nvSpPr>
        <p:spPr>
          <a:xfrm>
            <a:off x="4946015" y="6002655"/>
            <a:ext cx="720000" cy="630000"/>
          </a:xfrm>
          <a:prstGeom prst="rect">
            <a:avLst/>
          </a:prstGeom>
          <a:solidFill>
            <a:srgbClr val="0F5C8B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" name="Picture 2" descr="http://www.gmw.cn/images/2010-06/03/xin_2206070305393121514544.jpg"/>
          <p:cNvPicPr>
            <a:picLocks noChangeArrowheads="1"/>
          </p:cNvPicPr>
          <p:nvPr userDrawn="1">
            <p:custDataLst>
              <p:tags r:id="rId1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080" y="791210"/>
            <a:ext cx="3179445" cy="214820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7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2"/>
          <p:cNvSpPr/>
          <p:nvPr userDrawn="1"/>
        </p:nvSpPr>
        <p:spPr>
          <a:xfrm>
            <a:off x="0" y="66"/>
            <a:ext cx="3719195" cy="6859905"/>
          </a:xfrm>
          <a:custGeom>
            <a:avLst/>
            <a:gdLst/>
            <a:ahLst/>
            <a:cxnLst/>
            <a:rect l="l" t="t" r="r" b="b"/>
            <a:pathLst>
              <a:path w="3719195" h="6859905">
                <a:moveTo>
                  <a:pt x="3718984" y="6859455"/>
                </a:moveTo>
                <a:lnTo>
                  <a:pt x="3718984" y="0"/>
                </a:lnTo>
                <a:lnTo>
                  <a:pt x="0" y="0"/>
                </a:lnTo>
                <a:lnTo>
                  <a:pt x="0" y="6859455"/>
                </a:lnTo>
                <a:lnTo>
                  <a:pt x="3718984" y="6859455"/>
                </a:lnTo>
                <a:close/>
              </a:path>
            </a:pathLst>
          </a:custGeom>
          <a:solidFill>
            <a:srgbClr val="0F5C8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3"/>
          <p:cNvSpPr/>
          <p:nvPr userDrawn="1"/>
        </p:nvSpPr>
        <p:spPr>
          <a:xfrm>
            <a:off x="373379" y="3261105"/>
            <a:ext cx="2910839" cy="145999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4"/>
          <p:cNvSpPr/>
          <p:nvPr userDrawn="1"/>
        </p:nvSpPr>
        <p:spPr>
          <a:xfrm>
            <a:off x="146304" y="3148710"/>
            <a:ext cx="3406140" cy="17526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5"/>
          <p:cNvSpPr txBox="1"/>
          <p:nvPr userDrawn="1"/>
        </p:nvSpPr>
        <p:spPr>
          <a:xfrm>
            <a:off x="580440" y="3366719"/>
            <a:ext cx="2567940" cy="1253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b="1" spc="200" dirty="0">
                <a:solidFill>
                  <a:srgbClr val="FFFFFF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汇报目录</a:t>
            </a:r>
            <a:endParaRPr sz="4800"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71755">
              <a:lnSpc>
                <a:spcPct val="100000"/>
              </a:lnSpc>
              <a:spcBef>
                <a:spcPts val="65"/>
              </a:spcBef>
            </a:pPr>
            <a:r>
              <a:rPr sz="3200" b="1" spc="165" dirty="0">
                <a:solidFill>
                  <a:srgbClr val="FFFFFF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CONTENTS</a:t>
            </a:r>
            <a:endParaRPr sz="3200"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2" name="矩形 21"/>
          <p:cNvSpPr/>
          <p:nvPr userDrawn="1"/>
        </p:nvSpPr>
        <p:spPr>
          <a:xfrm>
            <a:off x="5901055" y="492125"/>
            <a:ext cx="5036185" cy="630000"/>
          </a:xfrm>
          <a:prstGeom prst="rect">
            <a:avLst/>
          </a:prstGeom>
          <a:solidFill>
            <a:srgbClr val="9FBE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 22"/>
          <p:cNvSpPr/>
          <p:nvPr userDrawn="1"/>
        </p:nvSpPr>
        <p:spPr>
          <a:xfrm>
            <a:off x="5901055" y="1224915"/>
            <a:ext cx="5036185" cy="630000"/>
          </a:xfrm>
          <a:prstGeom prst="rect">
            <a:avLst/>
          </a:prstGeom>
          <a:solidFill>
            <a:srgbClr val="9FBE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矩形 1"/>
          <p:cNvSpPr/>
          <p:nvPr userDrawn="1"/>
        </p:nvSpPr>
        <p:spPr>
          <a:xfrm>
            <a:off x="4946015" y="492125"/>
            <a:ext cx="720000" cy="630000"/>
          </a:xfrm>
          <a:prstGeom prst="rect">
            <a:avLst/>
          </a:prstGeom>
          <a:solidFill>
            <a:srgbClr val="9FBE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 userDrawn="1"/>
        </p:nvSpPr>
        <p:spPr>
          <a:xfrm>
            <a:off x="5901055" y="2018030"/>
            <a:ext cx="5036185" cy="630000"/>
          </a:xfrm>
          <a:prstGeom prst="rect">
            <a:avLst/>
          </a:prstGeom>
          <a:solidFill>
            <a:srgbClr val="0F5C8B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 userDrawn="1"/>
        </p:nvSpPr>
        <p:spPr>
          <a:xfrm>
            <a:off x="5901055" y="2811145"/>
            <a:ext cx="5036185" cy="630000"/>
          </a:xfrm>
          <a:prstGeom prst="rect">
            <a:avLst/>
          </a:prstGeom>
          <a:solidFill>
            <a:srgbClr val="0F5C8B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 userDrawn="1"/>
        </p:nvSpPr>
        <p:spPr>
          <a:xfrm>
            <a:off x="5901055" y="3604260"/>
            <a:ext cx="5036185" cy="630000"/>
          </a:xfrm>
          <a:prstGeom prst="rect">
            <a:avLst/>
          </a:prstGeom>
          <a:solidFill>
            <a:srgbClr val="0F5C8B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 userDrawn="1"/>
        </p:nvSpPr>
        <p:spPr>
          <a:xfrm>
            <a:off x="5901055" y="4397375"/>
            <a:ext cx="5036185" cy="630000"/>
          </a:xfrm>
          <a:prstGeom prst="rect">
            <a:avLst/>
          </a:prstGeom>
          <a:solidFill>
            <a:srgbClr val="0F5C8B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 userDrawn="1"/>
        </p:nvSpPr>
        <p:spPr>
          <a:xfrm>
            <a:off x="5901055" y="5205095"/>
            <a:ext cx="5036185" cy="630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 userDrawn="1"/>
        </p:nvSpPr>
        <p:spPr>
          <a:xfrm>
            <a:off x="4946015" y="1224915"/>
            <a:ext cx="720000" cy="630000"/>
          </a:xfrm>
          <a:prstGeom prst="rect">
            <a:avLst/>
          </a:prstGeom>
          <a:solidFill>
            <a:srgbClr val="9FBE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 25"/>
          <p:cNvSpPr/>
          <p:nvPr userDrawn="1"/>
        </p:nvSpPr>
        <p:spPr>
          <a:xfrm>
            <a:off x="4946015" y="2007235"/>
            <a:ext cx="720000" cy="630000"/>
          </a:xfrm>
          <a:prstGeom prst="rect">
            <a:avLst/>
          </a:prstGeom>
          <a:solidFill>
            <a:srgbClr val="0F5C8B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 26"/>
          <p:cNvSpPr/>
          <p:nvPr userDrawn="1"/>
        </p:nvSpPr>
        <p:spPr>
          <a:xfrm>
            <a:off x="4946015" y="2814955"/>
            <a:ext cx="720000" cy="630000"/>
          </a:xfrm>
          <a:prstGeom prst="rect">
            <a:avLst/>
          </a:prstGeom>
          <a:solidFill>
            <a:srgbClr val="0F5C8B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矩形 27"/>
          <p:cNvSpPr/>
          <p:nvPr userDrawn="1"/>
        </p:nvSpPr>
        <p:spPr>
          <a:xfrm>
            <a:off x="4946015" y="3604895"/>
            <a:ext cx="720000" cy="630000"/>
          </a:xfrm>
          <a:prstGeom prst="rect">
            <a:avLst/>
          </a:prstGeom>
          <a:solidFill>
            <a:srgbClr val="0F5C8B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矩形 29"/>
          <p:cNvSpPr/>
          <p:nvPr userDrawn="1"/>
        </p:nvSpPr>
        <p:spPr>
          <a:xfrm>
            <a:off x="4946015" y="4404995"/>
            <a:ext cx="720000" cy="630000"/>
          </a:xfrm>
          <a:prstGeom prst="rect">
            <a:avLst/>
          </a:prstGeom>
          <a:solidFill>
            <a:srgbClr val="0F5C8B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矩形 31"/>
          <p:cNvSpPr/>
          <p:nvPr userDrawn="1"/>
        </p:nvSpPr>
        <p:spPr>
          <a:xfrm>
            <a:off x="4946015" y="5224145"/>
            <a:ext cx="720000" cy="630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" name="Picture 2" descr="http://www.gmw.cn/images/2010-06/03/xin_2206070305393121514544.jpg"/>
          <p:cNvPicPr>
            <a:picLocks noChangeArrowheads="1"/>
          </p:cNvPicPr>
          <p:nvPr userDrawn="1">
            <p:custDataLst>
              <p:tags r:id="rId1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080" y="791210"/>
            <a:ext cx="3179445" cy="214820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4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9" name="菱形 18"/>
          <p:cNvSpPr/>
          <p:nvPr userDrawn="1"/>
        </p:nvSpPr>
        <p:spPr>
          <a:xfrm>
            <a:off x="5512435" y="387350"/>
            <a:ext cx="720000" cy="720000"/>
          </a:xfrm>
          <a:prstGeom prst="diamond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object 2"/>
          <p:cNvSpPr/>
          <p:nvPr userDrawn="1"/>
        </p:nvSpPr>
        <p:spPr>
          <a:xfrm>
            <a:off x="0" y="66"/>
            <a:ext cx="3719195" cy="6859905"/>
          </a:xfrm>
          <a:custGeom>
            <a:avLst/>
            <a:gdLst/>
            <a:ahLst/>
            <a:cxnLst/>
            <a:rect l="l" t="t" r="r" b="b"/>
            <a:pathLst>
              <a:path w="3719195" h="6859905">
                <a:moveTo>
                  <a:pt x="3718984" y="6859455"/>
                </a:moveTo>
                <a:lnTo>
                  <a:pt x="3718984" y="0"/>
                </a:lnTo>
                <a:lnTo>
                  <a:pt x="0" y="0"/>
                </a:lnTo>
                <a:lnTo>
                  <a:pt x="0" y="6859455"/>
                </a:lnTo>
                <a:lnTo>
                  <a:pt x="3718984" y="6859455"/>
                </a:lnTo>
                <a:close/>
              </a:path>
            </a:pathLst>
          </a:custGeom>
          <a:solidFill>
            <a:srgbClr val="0F5C8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菱形 5"/>
          <p:cNvSpPr/>
          <p:nvPr userDrawn="1"/>
        </p:nvSpPr>
        <p:spPr>
          <a:xfrm>
            <a:off x="5521325" y="1170305"/>
            <a:ext cx="720000" cy="720000"/>
          </a:xfrm>
          <a:prstGeom prst="diamond">
            <a:avLst/>
          </a:prstGeom>
          <a:solidFill>
            <a:srgbClr val="0F5C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菱形 6"/>
          <p:cNvSpPr/>
          <p:nvPr userDrawn="1"/>
        </p:nvSpPr>
        <p:spPr>
          <a:xfrm>
            <a:off x="5521325" y="1953260"/>
            <a:ext cx="720000" cy="720000"/>
          </a:xfrm>
          <a:prstGeom prst="diamond">
            <a:avLst/>
          </a:prstGeom>
          <a:solidFill>
            <a:srgbClr val="0F5C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菱形 8"/>
          <p:cNvSpPr/>
          <p:nvPr userDrawn="1"/>
        </p:nvSpPr>
        <p:spPr>
          <a:xfrm>
            <a:off x="5512435" y="2736215"/>
            <a:ext cx="720000" cy="720000"/>
          </a:xfrm>
          <a:prstGeom prst="diamond">
            <a:avLst/>
          </a:prstGeom>
          <a:solidFill>
            <a:srgbClr val="0F5C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菱形 9"/>
          <p:cNvSpPr/>
          <p:nvPr userDrawn="1"/>
        </p:nvSpPr>
        <p:spPr>
          <a:xfrm>
            <a:off x="5512435" y="3519170"/>
            <a:ext cx="720000" cy="720000"/>
          </a:xfrm>
          <a:prstGeom prst="diamond">
            <a:avLst/>
          </a:prstGeom>
          <a:solidFill>
            <a:srgbClr val="0F5C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菱形 11"/>
          <p:cNvSpPr/>
          <p:nvPr userDrawn="1"/>
        </p:nvSpPr>
        <p:spPr>
          <a:xfrm>
            <a:off x="5512435" y="4302125"/>
            <a:ext cx="720000" cy="720000"/>
          </a:xfrm>
          <a:prstGeom prst="diamond">
            <a:avLst/>
          </a:prstGeom>
          <a:solidFill>
            <a:srgbClr val="0F5C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菱形 13"/>
          <p:cNvSpPr/>
          <p:nvPr userDrawn="1"/>
        </p:nvSpPr>
        <p:spPr>
          <a:xfrm>
            <a:off x="5503545" y="5085080"/>
            <a:ext cx="720000" cy="720000"/>
          </a:xfrm>
          <a:prstGeom prst="diamond">
            <a:avLst/>
          </a:prstGeom>
          <a:solidFill>
            <a:srgbClr val="0F5C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菱形 14"/>
          <p:cNvSpPr/>
          <p:nvPr userDrawn="1"/>
        </p:nvSpPr>
        <p:spPr>
          <a:xfrm>
            <a:off x="5503545" y="5868035"/>
            <a:ext cx="720000" cy="720000"/>
          </a:xfrm>
          <a:prstGeom prst="diamond">
            <a:avLst/>
          </a:prstGeom>
          <a:solidFill>
            <a:srgbClr val="0F5C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object 3"/>
          <p:cNvSpPr/>
          <p:nvPr userDrawn="1"/>
        </p:nvSpPr>
        <p:spPr>
          <a:xfrm>
            <a:off x="373379" y="3261105"/>
            <a:ext cx="2910839" cy="1459991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 userDrawn="1"/>
        </p:nvSpPr>
        <p:spPr>
          <a:xfrm>
            <a:off x="146304" y="3148710"/>
            <a:ext cx="3406140" cy="175260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5"/>
          <p:cNvSpPr txBox="1"/>
          <p:nvPr userDrawn="1"/>
        </p:nvSpPr>
        <p:spPr>
          <a:xfrm>
            <a:off x="580440" y="3366719"/>
            <a:ext cx="2567940" cy="1253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b="1" spc="200" dirty="0">
                <a:solidFill>
                  <a:srgbClr val="FFFFFF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汇报目录</a:t>
            </a:r>
            <a:endParaRPr sz="4800"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71755">
              <a:lnSpc>
                <a:spcPct val="100000"/>
              </a:lnSpc>
              <a:spcBef>
                <a:spcPts val="65"/>
              </a:spcBef>
            </a:pPr>
            <a:r>
              <a:rPr sz="3200" b="1" spc="165" dirty="0">
                <a:solidFill>
                  <a:srgbClr val="FFFFFF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CONTENTS</a:t>
            </a:r>
            <a:endParaRPr sz="3200"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17" name="Picture 2" descr="http://www.gmw.cn/images/2010-06/03/xin_2206070305393121514544.jpg"/>
          <p:cNvPicPr>
            <a:picLocks noChangeArrowheads="1"/>
          </p:cNvPicPr>
          <p:nvPr userDrawn="1">
            <p:custDataLst>
              <p:tags r:id="rId3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080" y="791210"/>
            <a:ext cx="3179445" cy="214820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>
            <a:lvl1pPr>
              <a:defRPr>
                <a:latin typeface="Consolas" panose="020B0609020204030204" pitchFamily="49" charset="0"/>
              </a:defRPr>
            </a:lvl1pPr>
          </a:lstStyle>
          <a:p>
            <a:fld id="{760FBDFE-C587-4B4C-A407-44438C67B59E}" type="datetimeFigureOut">
              <a:rPr lang="zh-CN" altLang="en-US" smtClean="0"/>
              <a:pPr/>
              <a:t>2026/5/18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>
            <a:lvl1pPr>
              <a:defRPr>
                <a:latin typeface="Consolas" panose="020B0609020204030204" pitchFamily="49" charset="0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latin typeface="Consolas" panose="020B0609020204030204" pitchFamily="49" charset="0"/>
              </a:defRPr>
            </a:lvl1pPr>
          </a:lstStyle>
          <a:p>
            <a:fld id="{49AE70B2-8BF9-45C0-BB95-33D1B9D3A854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1"/>
            </p:custDataLst>
          </p:nvPr>
        </p:nvSpPr>
        <p:spPr>
          <a:xfrm>
            <a:off x="608330" y="1555115"/>
            <a:ext cx="5233035" cy="4608195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2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  <a:t>2026/5/18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1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2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4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5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ags" Target="../tags/tag2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ags" Target="../tags/tag6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ags" Target="../tags/tag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ags" Target="../tags/tag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ags" Target="../tags/tag4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ags" Target="../tags/tag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21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2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3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4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5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custDataLst>
      <p:tags r:id="rId20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55.xml"/><Relationship Id="rId5" Type="http://schemas.openxmlformats.org/officeDocument/2006/relationships/image" Target="../media/image8.jpeg"/><Relationship Id="rId4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video" Target="file:///D:\2&#25945;&#23398;\2026&#35745;&#31639;&#19982;&#26234;&#33021;&#31243;&#24207;&#35774;&#35745;\&#20219;&#21153;&#20132;&#20184;\bird4.mp4" TargetMode="External"/><Relationship Id="rId1" Type="http://schemas.microsoft.com/office/2007/relationships/media" Target="file:///D:\2&#25945;&#23398;\2026&#35745;&#31639;&#19982;&#26234;&#33021;&#31243;&#24207;&#35774;&#35745;\&#20219;&#21153;&#20132;&#20184;\bird4.mp4" TargetMode="External"/><Relationship Id="rId5" Type="http://schemas.openxmlformats.org/officeDocument/2006/relationships/image" Target="../media/image9.png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notesSlide" Target="../notesSlides/notesSlide3.xml"/><Relationship Id="rId7" Type="http://schemas.openxmlformats.org/officeDocument/2006/relationships/image" Target="../media/image13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56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video" Target="file:///D:\2&#25945;&#23398;\2026&#35745;&#31639;&#19982;&#26234;&#33021;&#31243;&#24207;&#35774;&#35745;\&#20219;&#21153;&#20132;&#20184;\bird1.mp4" TargetMode="External"/><Relationship Id="rId2" Type="http://schemas.microsoft.com/office/2007/relationships/media" Target="file:///D:\2&#25945;&#23398;\2026&#35745;&#31639;&#19982;&#26234;&#33021;&#31243;&#24207;&#35774;&#35745;\&#20219;&#21153;&#20132;&#20184;\bird1.mp4" TargetMode="External"/><Relationship Id="rId1" Type="http://schemas.openxmlformats.org/officeDocument/2006/relationships/tags" Target="../tags/tag57.xml"/><Relationship Id="rId6" Type="http://schemas.openxmlformats.org/officeDocument/2006/relationships/image" Target="../media/image15.png"/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video" Target="file:///D:\2&#25945;&#23398;\2026&#35745;&#31639;&#19982;&#26234;&#33021;&#31243;&#24207;&#35774;&#35745;\&#20219;&#21153;&#20132;&#20184;\bird1.mp4" TargetMode="External"/><Relationship Id="rId7" Type="http://schemas.openxmlformats.org/officeDocument/2006/relationships/image" Target="../media/image17.png"/><Relationship Id="rId2" Type="http://schemas.microsoft.com/office/2007/relationships/media" Target="file:///D:\2&#25945;&#23398;\2026&#35745;&#31639;&#19982;&#26234;&#33021;&#31243;&#24207;&#35774;&#35745;\&#20219;&#21153;&#20132;&#20184;\bird1.mp4" TargetMode="External"/><Relationship Id="rId1" Type="http://schemas.openxmlformats.org/officeDocument/2006/relationships/tags" Target="../tags/tag58.xml"/><Relationship Id="rId6" Type="http://schemas.openxmlformats.org/officeDocument/2006/relationships/image" Target="../media/image16.png"/><Relationship Id="rId11" Type="http://schemas.openxmlformats.org/officeDocument/2006/relationships/image" Target="../media/image20.png"/><Relationship Id="rId5" Type="http://schemas.openxmlformats.org/officeDocument/2006/relationships/notesSlide" Target="../notesSlides/notesSlide5.xml"/><Relationship Id="rId10" Type="http://schemas.openxmlformats.org/officeDocument/2006/relationships/image" Target="../media/image15.png"/><Relationship Id="rId4" Type="http://schemas.openxmlformats.org/officeDocument/2006/relationships/slideLayout" Target="../slideLayouts/slideLayout14.xml"/><Relationship Id="rId9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5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video" Target="file:///D:\2&#25945;&#23398;\2026&#35745;&#31639;&#19982;&#26234;&#33021;&#31243;&#24207;&#35774;&#35745;\&#20219;&#21153;&#20132;&#20184;\bird1.mp4" TargetMode="External"/><Relationship Id="rId2" Type="http://schemas.microsoft.com/office/2007/relationships/media" Target="file:///D:\2&#25945;&#23398;\2026&#35745;&#31639;&#19982;&#26234;&#33021;&#31243;&#24207;&#35774;&#35745;\&#20219;&#21153;&#20132;&#20184;\bird1.mp4" TargetMode="External"/><Relationship Id="rId1" Type="http://schemas.openxmlformats.org/officeDocument/2006/relationships/tags" Target="../tags/tag60.xml"/><Relationship Id="rId6" Type="http://schemas.openxmlformats.org/officeDocument/2006/relationships/image" Target="../media/image15.png"/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video" Target="file:///D:\2&#25945;&#23398;\2026&#35745;&#31639;&#19982;&#26234;&#33021;&#31243;&#24207;&#35774;&#35745;\&#20219;&#21153;&#20132;&#20184;\bird1.mp4" TargetMode="External"/><Relationship Id="rId2" Type="http://schemas.microsoft.com/office/2007/relationships/media" Target="file:///D:\2&#25945;&#23398;\2026&#35745;&#31639;&#19982;&#26234;&#33021;&#31243;&#24207;&#35774;&#35745;\&#20219;&#21153;&#20132;&#20184;\bird1.mp4" TargetMode="External"/><Relationship Id="rId1" Type="http://schemas.openxmlformats.org/officeDocument/2006/relationships/tags" Target="../tags/tag61.xml"/><Relationship Id="rId6" Type="http://schemas.openxmlformats.org/officeDocument/2006/relationships/image" Target="../media/image15.png"/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6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video" Target="file:///D:\2&#25945;&#23398;\2026&#35745;&#31639;&#19982;&#26234;&#33021;&#31243;&#24207;&#35774;&#35745;\&#20219;&#21153;&#20132;&#20184;\bird2.mp4" TargetMode="External"/><Relationship Id="rId2" Type="http://schemas.microsoft.com/office/2007/relationships/media" Target="file:///D:\2&#25945;&#23398;\2026&#35745;&#31639;&#19982;&#26234;&#33021;&#31243;&#24207;&#35774;&#35745;\&#20219;&#21153;&#20132;&#20184;\bird2.mp4" TargetMode="External"/><Relationship Id="rId1" Type="http://schemas.openxmlformats.org/officeDocument/2006/relationships/tags" Target="../tags/tag63.xml"/><Relationship Id="rId6" Type="http://schemas.openxmlformats.org/officeDocument/2006/relationships/image" Target="../media/image21.png"/><Relationship Id="rId5" Type="http://schemas.openxmlformats.org/officeDocument/2006/relationships/notesSlide" Target="../notesSlides/notesSlide10.xml"/><Relationship Id="rId4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video" Target="file:///D:\2&#25945;&#23398;\2026&#35745;&#31639;&#19982;&#26234;&#33021;&#31243;&#24207;&#35774;&#35745;\&#20219;&#21153;&#20132;&#20184;\bird2.mp4" TargetMode="External"/><Relationship Id="rId7" Type="http://schemas.openxmlformats.org/officeDocument/2006/relationships/image" Target="../media/image23.png"/><Relationship Id="rId2" Type="http://schemas.microsoft.com/office/2007/relationships/media" Target="file:///D:\2&#25945;&#23398;\2026&#35745;&#31639;&#19982;&#26234;&#33021;&#31243;&#24207;&#35774;&#35745;\&#20219;&#21153;&#20132;&#20184;\bird2.mp4" TargetMode="External"/><Relationship Id="rId1" Type="http://schemas.openxmlformats.org/officeDocument/2006/relationships/tags" Target="../tags/tag64.xml"/><Relationship Id="rId6" Type="http://schemas.openxmlformats.org/officeDocument/2006/relationships/image" Target="../media/image22.png"/><Relationship Id="rId5" Type="http://schemas.openxmlformats.org/officeDocument/2006/relationships/notesSlide" Target="../notesSlides/notesSlide11.xml"/><Relationship Id="rId10" Type="http://schemas.openxmlformats.org/officeDocument/2006/relationships/image" Target="../media/image20.png"/><Relationship Id="rId4" Type="http://schemas.openxmlformats.org/officeDocument/2006/relationships/slideLayout" Target="../slideLayouts/slideLayout14.xml"/><Relationship Id="rId9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video" Target="file:///D:\2&#25945;&#23398;\2026&#35745;&#31639;&#19982;&#26234;&#33021;&#31243;&#24207;&#35774;&#35745;\&#20219;&#21153;&#20132;&#20184;\bird2.mp4" TargetMode="External"/><Relationship Id="rId2" Type="http://schemas.microsoft.com/office/2007/relationships/media" Target="file:///D:\2&#25945;&#23398;\2026&#35745;&#31639;&#19982;&#26234;&#33021;&#31243;&#24207;&#35774;&#35745;\&#20219;&#21153;&#20132;&#20184;\bird2.mp4" TargetMode="External"/><Relationship Id="rId1" Type="http://schemas.openxmlformats.org/officeDocument/2006/relationships/tags" Target="../tags/tag65.xml"/><Relationship Id="rId6" Type="http://schemas.openxmlformats.org/officeDocument/2006/relationships/image" Target="../media/image21.png"/><Relationship Id="rId5" Type="http://schemas.openxmlformats.org/officeDocument/2006/relationships/notesSlide" Target="../notesSlides/notesSlide12.xml"/><Relationship Id="rId4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video" Target="file:///D:\2&#25945;&#23398;\2026&#35745;&#31639;&#19982;&#26234;&#33021;&#31243;&#24207;&#35774;&#35745;\&#20219;&#21153;&#20132;&#20184;\bird2.mp4" TargetMode="External"/><Relationship Id="rId2" Type="http://schemas.microsoft.com/office/2007/relationships/media" Target="file:///D:\2&#25945;&#23398;\2026&#35745;&#31639;&#19982;&#26234;&#33021;&#31243;&#24207;&#35774;&#35745;\&#20219;&#21153;&#20132;&#20184;\bird2.mp4" TargetMode="External"/><Relationship Id="rId1" Type="http://schemas.openxmlformats.org/officeDocument/2006/relationships/tags" Target="../tags/tag66.xml"/><Relationship Id="rId6" Type="http://schemas.openxmlformats.org/officeDocument/2006/relationships/image" Target="../media/image21.png"/><Relationship Id="rId5" Type="http://schemas.openxmlformats.org/officeDocument/2006/relationships/notesSlide" Target="../notesSlides/notesSlide13.xml"/><Relationship Id="rId4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video" Target="file:///D:\2&#25945;&#23398;\2026&#35745;&#31639;&#19982;&#26234;&#33021;&#31243;&#24207;&#35774;&#35745;\&#20219;&#21153;&#20132;&#20184;\bird2.mp4" TargetMode="External"/><Relationship Id="rId2" Type="http://schemas.microsoft.com/office/2007/relationships/media" Target="file:///D:\2&#25945;&#23398;\2026&#35745;&#31639;&#19982;&#26234;&#33021;&#31243;&#24207;&#35774;&#35745;\&#20219;&#21153;&#20132;&#20184;\bird2.mp4" TargetMode="External"/><Relationship Id="rId1" Type="http://schemas.openxmlformats.org/officeDocument/2006/relationships/tags" Target="../tags/tag67.xml"/><Relationship Id="rId6" Type="http://schemas.openxmlformats.org/officeDocument/2006/relationships/image" Target="../media/image21.png"/><Relationship Id="rId5" Type="http://schemas.openxmlformats.org/officeDocument/2006/relationships/notesSlide" Target="../notesSlides/notesSlide14.xml"/><Relationship Id="rId4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6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video" Target="file:///D:\2&#25945;&#23398;\2026&#35745;&#31639;&#19982;&#26234;&#33021;&#31243;&#24207;&#35774;&#35745;\&#20219;&#21153;&#20132;&#20184;\bird3.mp4" TargetMode="External"/><Relationship Id="rId2" Type="http://schemas.microsoft.com/office/2007/relationships/media" Target="file:///D:\2&#25945;&#23398;\2026&#35745;&#31639;&#19982;&#26234;&#33021;&#31243;&#24207;&#35774;&#35745;\&#20219;&#21153;&#20132;&#20184;\bird3.mp4" TargetMode="External"/><Relationship Id="rId1" Type="http://schemas.openxmlformats.org/officeDocument/2006/relationships/tags" Target="../tags/tag69.xml"/><Relationship Id="rId6" Type="http://schemas.openxmlformats.org/officeDocument/2006/relationships/image" Target="../media/image25.png"/><Relationship Id="rId5" Type="http://schemas.openxmlformats.org/officeDocument/2006/relationships/notesSlide" Target="../notesSlides/notesSlide16.xml"/><Relationship Id="rId4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video" Target="file:///D:\2&#25945;&#23398;\2026&#35745;&#31639;&#19982;&#26234;&#33021;&#31243;&#24207;&#35774;&#35745;\&#20219;&#21153;&#20132;&#20184;\bird3.mp4" TargetMode="External"/><Relationship Id="rId7" Type="http://schemas.openxmlformats.org/officeDocument/2006/relationships/image" Target="../media/image26.png"/><Relationship Id="rId2" Type="http://schemas.microsoft.com/office/2007/relationships/media" Target="file:///D:\2&#25945;&#23398;\2026&#35745;&#31639;&#19982;&#26234;&#33021;&#31243;&#24207;&#35774;&#35745;\&#20219;&#21153;&#20132;&#20184;\bird3.mp4" TargetMode="External"/><Relationship Id="rId1" Type="http://schemas.openxmlformats.org/officeDocument/2006/relationships/tags" Target="../tags/tag70.xml"/><Relationship Id="rId6" Type="http://schemas.openxmlformats.org/officeDocument/2006/relationships/image" Target="../media/image20.png"/><Relationship Id="rId5" Type="http://schemas.openxmlformats.org/officeDocument/2006/relationships/notesSlide" Target="../notesSlides/notesSlide17.xml"/><Relationship Id="rId10" Type="http://schemas.openxmlformats.org/officeDocument/2006/relationships/image" Target="../media/image25.png"/><Relationship Id="rId4" Type="http://schemas.openxmlformats.org/officeDocument/2006/relationships/slideLayout" Target="../slideLayouts/slideLayout14.xml"/><Relationship Id="rId9" Type="http://schemas.openxmlformats.org/officeDocument/2006/relationships/image" Target="../media/image2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video" Target="file:///D:\2&#25945;&#23398;\2026&#35745;&#31639;&#19982;&#26234;&#33021;&#31243;&#24207;&#35774;&#35745;\&#20219;&#21153;&#20132;&#20184;\bird3.mp4" TargetMode="External"/><Relationship Id="rId2" Type="http://schemas.microsoft.com/office/2007/relationships/media" Target="file:///D:\2&#25945;&#23398;\2026&#35745;&#31639;&#19982;&#26234;&#33021;&#31243;&#24207;&#35774;&#35745;\&#20219;&#21153;&#20132;&#20184;\bird3.mp4" TargetMode="External"/><Relationship Id="rId1" Type="http://schemas.openxmlformats.org/officeDocument/2006/relationships/tags" Target="../tags/tag71.xml"/><Relationship Id="rId6" Type="http://schemas.openxmlformats.org/officeDocument/2006/relationships/image" Target="../media/image25.png"/><Relationship Id="rId5" Type="http://schemas.openxmlformats.org/officeDocument/2006/relationships/notesSlide" Target="../notesSlides/notesSlide18.xml"/><Relationship Id="rId4" Type="http://schemas.openxmlformats.org/officeDocument/2006/relationships/slideLayout" Target="../slideLayouts/slideLayout1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video" Target="file:///D:\2&#25945;&#23398;\2026&#35745;&#31639;&#19982;&#26234;&#33021;&#31243;&#24207;&#35774;&#35745;\&#20219;&#21153;&#20132;&#20184;\bird3.mp4" TargetMode="External"/><Relationship Id="rId2" Type="http://schemas.microsoft.com/office/2007/relationships/media" Target="file:///D:\2&#25945;&#23398;\2026&#35745;&#31639;&#19982;&#26234;&#33021;&#31243;&#24207;&#35774;&#35745;\&#20219;&#21153;&#20132;&#20184;\bird3.mp4" TargetMode="External"/><Relationship Id="rId1" Type="http://schemas.openxmlformats.org/officeDocument/2006/relationships/tags" Target="../tags/tag72.xml"/><Relationship Id="rId6" Type="http://schemas.openxmlformats.org/officeDocument/2006/relationships/image" Target="../media/image25.png"/><Relationship Id="rId5" Type="http://schemas.openxmlformats.org/officeDocument/2006/relationships/notesSlide" Target="../notesSlides/notesSlide19.xml"/><Relationship Id="rId4" Type="http://schemas.openxmlformats.org/officeDocument/2006/relationships/slideLayout" Target="../slideLayouts/slideLayout1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7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video" Target="file:///D:\2&#25945;&#23398;\2026&#35745;&#31639;&#19982;&#26234;&#33021;&#31243;&#24207;&#35774;&#35745;\&#20219;&#21153;&#20132;&#20184;\bird4.mp4" TargetMode="External"/><Relationship Id="rId2" Type="http://schemas.microsoft.com/office/2007/relationships/media" Target="file:///D:\2&#25945;&#23398;\2026&#35745;&#31639;&#19982;&#26234;&#33021;&#31243;&#24207;&#35774;&#35745;\&#20219;&#21153;&#20132;&#20184;\bird4.mp4" TargetMode="External"/><Relationship Id="rId1" Type="http://schemas.openxmlformats.org/officeDocument/2006/relationships/tags" Target="../tags/tag74.xml"/><Relationship Id="rId6" Type="http://schemas.openxmlformats.org/officeDocument/2006/relationships/image" Target="../media/image9.png"/><Relationship Id="rId5" Type="http://schemas.openxmlformats.org/officeDocument/2006/relationships/notesSlide" Target="../notesSlides/notesSlide21.xml"/><Relationship Id="rId4" Type="http://schemas.openxmlformats.org/officeDocument/2006/relationships/slideLayout" Target="../slideLayouts/slideLayout14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video" Target="file:///D:\2&#25945;&#23398;\2026&#35745;&#31639;&#19982;&#26234;&#33021;&#31243;&#24207;&#35774;&#35745;\&#20219;&#21153;&#20132;&#20184;\bird4.mp4" TargetMode="External"/><Relationship Id="rId7" Type="http://schemas.openxmlformats.org/officeDocument/2006/relationships/image" Target="../media/image26.png"/><Relationship Id="rId2" Type="http://schemas.microsoft.com/office/2007/relationships/media" Target="file:///D:\2&#25945;&#23398;\2026&#35745;&#31639;&#19982;&#26234;&#33021;&#31243;&#24207;&#35774;&#35745;\&#20219;&#21153;&#20132;&#20184;\bird4.mp4" TargetMode="External"/><Relationship Id="rId1" Type="http://schemas.openxmlformats.org/officeDocument/2006/relationships/tags" Target="../tags/tag75.xml"/><Relationship Id="rId6" Type="http://schemas.openxmlformats.org/officeDocument/2006/relationships/image" Target="../media/image20.png"/><Relationship Id="rId5" Type="http://schemas.openxmlformats.org/officeDocument/2006/relationships/notesSlide" Target="../notesSlides/notesSlide22.xml"/><Relationship Id="rId10" Type="http://schemas.openxmlformats.org/officeDocument/2006/relationships/image" Target="../media/image9.png"/><Relationship Id="rId4" Type="http://schemas.openxmlformats.org/officeDocument/2006/relationships/slideLayout" Target="../slideLayouts/slideLayout14.xml"/><Relationship Id="rId9" Type="http://schemas.openxmlformats.org/officeDocument/2006/relationships/image" Target="../media/image23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notesSlide" Target="../notesSlides/notesSlide23.xml"/><Relationship Id="rId7" Type="http://schemas.openxmlformats.org/officeDocument/2006/relationships/image" Target="../media/image31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76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Relationship Id="rId9" Type="http://schemas.openxmlformats.org/officeDocument/2006/relationships/image" Target="../media/image3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video" Target="file:///D:\2&#25945;&#23398;\2026&#35745;&#31639;&#19982;&#26234;&#33021;&#31243;&#24207;&#35774;&#35745;\&#20219;&#21153;&#20132;&#20184;\bird4.mp4" TargetMode="External"/><Relationship Id="rId2" Type="http://schemas.microsoft.com/office/2007/relationships/media" Target="file:///D:\2&#25945;&#23398;\2026&#35745;&#31639;&#19982;&#26234;&#33021;&#31243;&#24207;&#35774;&#35745;\&#20219;&#21153;&#20132;&#20184;\bird4.mp4" TargetMode="External"/><Relationship Id="rId1" Type="http://schemas.openxmlformats.org/officeDocument/2006/relationships/tags" Target="../tags/tag77.xml"/><Relationship Id="rId6" Type="http://schemas.openxmlformats.org/officeDocument/2006/relationships/image" Target="../media/image9.png"/><Relationship Id="rId5" Type="http://schemas.openxmlformats.org/officeDocument/2006/relationships/notesSlide" Target="../notesSlides/notesSlide24.xml"/><Relationship Id="rId4" Type="http://schemas.openxmlformats.org/officeDocument/2006/relationships/slideLayout" Target="../slideLayouts/slideLayout1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video" Target="file:///D:\2&#25945;&#23398;\2026&#35745;&#31639;&#19982;&#26234;&#33021;&#31243;&#24207;&#35774;&#35745;\&#20219;&#21153;&#20132;&#20184;\bird4.mp4" TargetMode="External"/><Relationship Id="rId2" Type="http://schemas.microsoft.com/office/2007/relationships/media" Target="file:///D:\2&#25945;&#23398;\2026&#35745;&#31639;&#19982;&#26234;&#33021;&#31243;&#24207;&#35774;&#35745;\&#20219;&#21153;&#20132;&#20184;\bird4.mp4" TargetMode="External"/><Relationship Id="rId1" Type="http://schemas.openxmlformats.org/officeDocument/2006/relationships/tags" Target="../tags/tag78.xml"/><Relationship Id="rId6" Type="http://schemas.openxmlformats.org/officeDocument/2006/relationships/image" Target="../media/image9.png"/><Relationship Id="rId5" Type="http://schemas.openxmlformats.org/officeDocument/2006/relationships/notesSlide" Target="../notesSlides/notesSlide25.xml"/><Relationship Id="rId4" Type="http://schemas.openxmlformats.org/officeDocument/2006/relationships/slideLayout" Target="../slideLayouts/slideLayout1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video" Target="file:///D:\2&#25945;&#23398;\2026&#35745;&#31639;&#19982;&#26234;&#33021;&#31243;&#24207;&#35774;&#35745;\&#20219;&#21153;&#20132;&#20184;\bird4.mp4" TargetMode="External"/><Relationship Id="rId2" Type="http://schemas.microsoft.com/office/2007/relationships/media" Target="file:///D:\2&#25945;&#23398;\2026&#35745;&#31639;&#19982;&#26234;&#33021;&#31243;&#24207;&#35774;&#35745;\&#20219;&#21153;&#20132;&#20184;\bird4.mp4" TargetMode="External"/><Relationship Id="rId1" Type="http://schemas.openxmlformats.org/officeDocument/2006/relationships/tags" Target="../tags/tag79.xml"/><Relationship Id="rId6" Type="http://schemas.openxmlformats.org/officeDocument/2006/relationships/image" Target="../media/image9.png"/><Relationship Id="rId5" Type="http://schemas.openxmlformats.org/officeDocument/2006/relationships/notesSlide" Target="../notesSlides/notesSlide26.xml"/><Relationship Id="rId4" Type="http://schemas.openxmlformats.org/officeDocument/2006/relationships/slideLayout" Target="../slideLayouts/slideLayout1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video" Target="file:///D:\2&#25945;&#23398;\2026&#35745;&#31639;&#19982;&#26234;&#33021;&#31243;&#24207;&#35774;&#35745;\&#20219;&#21153;&#20132;&#20184;\bird4.mp4" TargetMode="External"/><Relationship Id="rId2" Type="http://schemas.microsoft.com/office/2007/relationships/media" Target="file:///D:\2&#25945;&#23398;\2026&#35745;&#31639;&#19982;&#26234;&#33021;&#31243;&#24207;&#35774;&#35745;\&#20219;&#21153;&#20132;&#20184;\bird4.mp4" TargetMode="External"/><Relationship Id="rId1" Type="http://schemas.openxmlformats.org/officeDocument/2006/relationships/tags" Target="../tags/tag80.xml"/><Relationship Id="rId6" Type="http://schemas.openxmlformats.org/officeDocument/2006/relationships/image" Target="../media/image9.png"/><Relationship Id="rId5" Type="http://schemas.openxmlformats.org/officeDocument/2006/relationships/notesSlide" Target="../notesSlides/notesSlide27.xml"/><Relationship Id="rId4" Type="http://schemas.openxmlformats.org/officeDocument/2006/relationships/slideLayout" Target="../slideLayouts/slideLayout1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81.xml"/><Relationship Id="rId4" Type="http://schemas.openxmlformats.org/officeDocument/2006/relationships/image" Target="../media/image34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9.xml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8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video" Target="file:///D:\2&#25945;&#23398;\2026&#35745;&#31639;&#19982;&#26234;&#33021;&#31243;&#24207;&#35774;&#35745;\&#20219;&#21153;&#20132;&#20184;\bird5.mp4" TargetMode="External"/><Relationship Id="rId2" Type="http://schemas.microsoft.com/office/2007/relationships/media" Target="file:///D:\2&#25945;&#23398;\2026&#35745;&#31639;&#19982;&#26234;&#33021;&#31243;&#24207;&#35774;&#35745;\&#20219;&#21153;&#20132;&#20184;\bird5.mp4" TargetMode="External"/><Relationship Id="rId1" Type="http://schemas.openxmlformats.org/officeDocument/2006/relationships/tags" Target="../tags/tag83.xml"/><Relationship Id="rId6" Type="http://schemas.openxmlformats.org/officeDocument/2006/relationships/image" Target="../media/image35.png"/><Relationship Id="rId5" Type="http://schemas.openxmlformats.org/officeDocument/2006/relationships/notesSlide" Target="../notesSlides/notesSlide30.xml"/><Relationship Id="rId4" Type="http://schemas.openxmlformats.org/officeDocument/2006/relationships/slideLayout" Target="../slideLayouts/slideLayout14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video" Target="file:///D:\2&#25945;&#23398;\2026&#35745;&#31639;&#19982;&#26234;&#33021;&#31243;&#24207;&#35774;&#35745;\&#20219;&#21153;&#20132;&#20184;\bird5.mp4" TargetMode="External"/><Relationship Id="rId7" Type="http://schemas.openxmlformats.org/officeDocument/2006/relationships/image" Target="../media/image37.png"/><Relationship Id="rId2" Type="http://schemas.microsoft.com/office/2007/relationships/media" Target="file:///D:\2&#25945;&#23398;\2026&#35745;&#31639;&#19982;&#26234;&#33021;&#31243;&#24207;&#35774;&#35745;\&#20219;&#21153;&#20132;&#20184;\bird5.mp4" TargetMode="External"/><Relationship Id="rId1" Type="http://schemas.openxmlformats.org/officeDocument/2006/relationships/tags" Target="../tags/tag84.xml"/><Relationship Id="rId6" Type="http://schemas.openxmlformats.org/officeDocument/2006/relationships/image" Target="../media/image36.png"/><Relationship Id="rId5" Type="http://schemas.openxmlformats.org/officeDocument/2006/relationships/notesSlide" Target="../notesSlides/notesSlide31.xml"/><Relationship Id="rId4" Type="http://schemas.openxmlformats.org/officeDocument/2006/relationships/slideLayout" Target="../slideLayouts/slideLayout14.xml"/><Relationship Id="rId9" Type="http://schemas.openxmlformats.org/officeDocument/2006/relationships/image" Target="../media/image35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video" Target="file:///D:\2&#25945;&#23398;\2026&#35745;&#31639;&#19982;&#26234;&#33021;&#31243;&#24207;&#35774;&#35745;\&#20219;&#21153;&#20132;&#20184;\bird5.mp4" TargetMode="External"/><Relationship Id="rId2" Type="http://schemas.microsoft.com/office/2007/relationships/media" Target="file:///D:\2&#25945;&#23398;\2026&#35745;&#31639;&#19982;&#26234;&#33021;&#31243;&#24207;&#35774;&#35745;\&#20219;&#21153;&#20132;&#20184;\bird5.mp4" TargetMode="External"/><Relationship Id="rId1" Type="http://schemas.openxmlformats.org/officeDocument/2006/relationships/tags" Target="../tags/tag85.xml"/><Relationship Id="rId6" Type="http://schemas.openxmlformats.org/officeDocument/2006/relationships/image" Target="../media/image35.png"/><Relationship Id="rId5" Type="http://schemas.openxmlformats.org/officeDocument/2006/relationships/notesSlide" Target="../notesSlides/notesSlide32.xml"/><Relationship Id="rId4" Type="http://schemas.openxmlformats.org/officeDocument/2006/relationships/slideLayout" Target="../slideLayouts/slideLayout14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video" Target="file:///D:\2&#25945;&#23398;\2026&#35745;&#31639;&#19982;&#26234;&#33021;&#31243;&#24207;&#35774;&#35745;\&#20219;&#21153;&#20132;&#20184;\bird5.mp4" TargetMode="External"/><Relationship Id="rId2" Type="http://schemas.microsoft.com/office/2007/relationships/media" Target="file:///D:\2&#25945;&#23398;\2026&#35745;&#31639;&#19982;&#26234;&#33021;&#31243;&#24207;&#35774;&#35745;\&#20219;&#21153;&#20132;&#20184;\bird5.mp4" TargetMode="External"/><Relationship Id="rId1" Type="http://schemas.openxmlformats.org/officeDocument/2006/relationships/tags" Target="../tags/tag86.xml"/><Relationship Id="rId6" Type="http://schemas.openxmlformats.org/officeDocument/2006/relationships/image" Target="../media/image35.png"/><Relationship Id="rId5" Type="http://schemas.openxmlformats.org/officeDocument/2006/relationships/notesSlide" Target="../notesSlides/notesSlide33.xml"/><Relationship Id="rId4" Type="http://schemas.openxmlformats.org/officeDocument/2006/relationships/slideLayout" Target="../slideLayouts/slideLayout1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4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5.xml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8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6.xml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88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7.xml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8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 15">
            <a:extLst>
              <a:ext uri="{FF2B5EF4-FFF2-40B4-BE49-F238E27FC236}">
                <a16:creationId xmlns:a16="http://schemas.microsoft.com/office/drawing/2014/main" id="{38D06CB4-5E32-536A-FC15-054CB54606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132391"/>
            <a:ext cx="12292235" cy="5756900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27699962-E473-220A-D0AB-B92A4E837BE0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hqprint"/>
          <a:srcRect/>
          <a:stretch>
            <a:fillRect/>
          </a:stretch>
        </p:blipFill>
        <p:spPr>
          <a:xfrm>
            <a:off x="0" y="1"/>
            <a:ext cx="12292235" cy="2958895"/>
          </a:xfrm>
          <a:prstGeom prst="rect">
            <a:avLst/>
          </a:prstGeom>
        </p:spPr>
      </p:pic>
      <p:sp>
        <p:nvSpPr>
          <p:cNvPr id="2" name="Text Box 3">
            <a:extLst>
              <a:ext uri="{FF2B5EF4-FFF2-40B4-BE49-F238E27FC236}">
                <a16:creationId xmlns:a16="http://schemas.microsoft.com/office/drawing/2014/main" id="{242836C5-0771-2367-EFD0-B42E086630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0087" y="3104759"/>
            <a:ext cx="11383617" cy="18302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150000"/>
              </a:lnSpc>
              <a:buClr>
                <a:srgbClr val="00517C"/>
              </a:buClr>
              <a:buSzPct val="80000"/>
            </a:pPr>
            <a:r>
              <a:rPr lang="en-US" altLang="zh-CN" sz="4000" b="1" dirty="0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《</a:t>
            </a:r>
            <a:r>
              <a:rPr lang="zh-CN" altLang="en-US" sz="4000" b="1" dirty="0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计算与智能程序设计</a:t>
            </a:r>
            <a:r>
              <a:rPr lang="en-US" altLang="zh-CN" sz="4000" b="1" dirty="0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》</a:t>
            </a:r>
            <a:r>
              <a:rPr lang="zh-CN" altLang="en-US" sz="4000" b="1" dirty="0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实践项目</a:t>
            </a:r>
            <a:endParaRPr lang="en-US" altLang="zh-CN" sz="4000" b="1" dirty="0">
              <a:solidFill>
                <a:schemeClr val="bg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50000"/>
              </a:lnSpc>
              <a:buClr>
                <a:srgbClr val="00517C"/>
              </a:buClr>
              <a:buSzPct val="80000"/>
            </a:pPr>
            <a:r>
              <a:rPr lang="zh-CN" altLang="en-US" sz="4000" b="1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综合项目：</a:t>
            </a:r>
            <a:r>
              <a:rPr lang="en-US" altLang="zh-CN" sz="4000" b="1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FlappyBird</a:t>
            </a:r>
            <a:r>
              <a:rPr lang="zh-CN" altLang="en-US" sz="4000" b="1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闯关系统</a:t>
            </a:r>
            <a:endParaRPr lang="zh-CN" altLang="en-US" sz="3200" b="1" dirty="0">
              <a:solidFill>
                <a:schemeClr val="bg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6CB185B-B251-0E86-4313-589E7FF3F21A}"/>
              </a:ext>
            </a:extLst>
          </p:cNvPr>
          <p:cNvSpPr txBox="1"/>
          <p:nvPr/>
        </p:nvSpPr>
        <p:spPr>
          <a:xfrm>
            <a:off x="1855520" y="4991984"/>
            <a:ext cx="883381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altLang="zh-CN" sz="2400" b="1" dirty="0">
              <a:solidFill>
                <a:schemeClr val="bg2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ctr"/>
            <a:r>
              <a:rPr lang="zh-CN" altLang="en-US" sz="2400" b="1" dirty="0">
                <a:solidFill>
                  <a:schemeClr val="bg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哈尔滨工业大学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79784133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标题 1">
            <a:extLst>
              <a:ext uri="{FF2B5EF4-FFF2-40B4-BE49-F238E27FC236}">
                <a16:creationId xmlns:a16="http://schemas.microsoft.com/office/drawing/2014/main" id="{0B4E4B28-A110-46E1-9DC1-C87EC0D13B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1938" y="117475"/>
            <a:ext cx="11615737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ß"/>
              <a:defRPr sz="3200" b="1">
                <a:solidFill>
                  <a:schemeClr val="tx1"/>
                </a:solidFill>
                <a:latin typeface="Consolas" panose="020B0609020204030204" pitchFamily="49" charset="0"/>
              </a:defRPr>
            </a:lvl1pPr>
            <a:lvl2pPr marL="742950" indent="-28575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 b="1">
                <a:solidFill>
                  <a:srgbClr val="333399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2pPr>
            <a:lvl3pPr marL="1143000" indent="-2286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 b="1">
                <a:solidFill>
                  <a:srgbClr val="3333CC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3pPr>
            <a:lvl4pPr marL="1600200" indent="-2286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4pPr>
            <a:lvl5pPr marL="2057400" indent="-2286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智能算法类实践项目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01F7BA2-7204-4B2C-B9FC-7D8BA9358F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9938" y="976313"/>
            <a:ext cx="10601325" cy="517525"/>
          </a:xfrm>
          <a:prstGeom prst="roundRect">
            <a:avLst/>
          </a:prstGeo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CN" altLang="en-US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智能算法类综合实践项目：</a:t>
            </a:r>
            <a:r>
              <a:rPr lang="en-US" altLang="zh-CN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FlappyBird</a:t>
            </a:r>
            <a:r>
              <a:rPr lang="zh-CN" altLang="en-US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闯关系统 </a:t>
            </a:r>
            <a:endParaRPr lang="zh-CN" altLang="en-US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AutoShape 3">
            <a:extLst>
              <a:ext uri="{FF2B5EF4-FFF2-40B4-BE49-F238E27FC236}">
                <a16:creationId xmlns:a16="http://schemas.microsoft.com/office/drawing/2014/main" id="{87129BD0-031A-4EA8-AC6D-1A7EB72F3D13}"/>
              </a:ext>
            </a:extLst>
          </p:cNvPr>
          <p:cNvSpPr/>
          <p:nvPr/>
        </p:nvSpPr>
        <p:spPr>
          <a:xfrm>
            <a:off x="762000" y="1524000"/>
            <a:ext cx="5334000" cy="2298700"/>
          </a:xfrm>
          <a:prstGeom prst="roundRect">
            <a:avLst>
              <a:gd name="adj" fmla="val 588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00000">
                <a:alpha val="5000"/>
              </a:srgbClr>
            </a:outerShdw>
          </a:effectLst>
        </p:spPr>
        <p:txBody>
          <a:bodyPr lIns="63500" tIns="63500" rIns="63500" bIns="63500" anchor="ctr"/>
          <a:lstStyle/>
          <a:p>
            <a:pPr algn="ctr">
              <a:defRPr/>
            </a:pPr>
            <a:endParaRPr/>
          </a:p>
        </p:txBody>
      </p:sp>
      <p:sp>
        <p:nvSpPr>
          <p:cNvPr id="45062" name="AutoShape 5">
            <a:extLst>
              <a:ext uri="{FF2B5EF4-FFF2-40B4-BE49-F238E27FC236}">
                <a16:creationId xmlns:a16="http://schemas.microsoft.com/office/drawing/2014/main" id="{A0030ECF-B54D-4164-A3CB-73E4E756A8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4861" y="1778000"/>
            <a:ext cx="4318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342900" indent="-34290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p"/>
            </a:pPr>
            <a:r>
              <a:rPr lang="zh-CN" altLang="en-US" sz="24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Noto Sans SC" panose="020B0200000000000000" pitchFamily="34" charset="-122"/>
              </a:rPr>
              <a:t>问题描述</a:t>
            </a:r>
            <a:endParaRPr lang="zh-CN" altLang="en-US" sz="2400" b="1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45063" name="Connector 6">
            <a:extLst>
              <a:ext uri="{FF2B5EF4-FFF2-40B4-BE49-F238E27FC236}">
                <a16:creationId xmlns:a16="http://schemas.microsoft.com/office/drawing/2014/main" id="{9362AF18-0EF6-42A1-9D50-3C88AF595E1E}"/>
              </a:ext>
            </a:extLst>
          </p:cNvPr>
          <p:cNvCxnSpPr>
            <a:cxnSpLocks noChangeShapeType="1"/>
          </p:cNvCxnSpPr>
          <p:nvPr/>
        </p:nvCxnSpPr>
        <p:spPr bwMode="auto">
          <a:xfrm rot="-9046">
            <a:off x="1016000" y="2216150"/>
            <a:ext cx="4826000" cy="12700"/>
          </a:xfrm>
          <a:prstGeom prst="line">
            <a:avLst/>
          </a:prstGeom>
          <a:noFill/>
          <a:ln w="12700">
            <a:solidFill>
              <a:srgbClr val="E2E8F0"/>
            </a:solidFill>
            <a:round/>
            <a:headEnd/>
            <a:tailEnd/>
          </a:ln>
        </p:spPr>
      </p:cxnSp>
      <p:sp>
        <p:nvSpPr>
          <p:cNvPr id="45064" name="AutoShape 7">
            <a:extLst>
              <a:ext uri="{FF2B5EF4-FFF2-40B4-BE49-F238E27FC236}">
                <a16:creationId xmlns:a16="http://schemas.microsoft.com/office/drawing/2014/main" id="{B656FE4A-FADE-4999-86D7-E2F1649432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5688" y="2349500"/>
            <a:ext cx="4826000" cy="138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5000"/>
              </a:lnSpc>
            </a:pPr>
            <a:r>
              <a:rPr lang="zh-CN" altLang="en-US" sz="1800" b="1"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pitchFamily="34" charset="-122"/>
                <a:sym typeface="Noto Sans SC" panose="020B0200000000000000" pitchFamily="34" charset="-122"/>
              </a:rPr>
              <a:t>增量式设计实现一个</a:t>
            </a:r>
            <a:r>
              <a:rPr lang="en-US" altLang="zh-CN" sz="1800" b="1"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pitchFamily="34" charset="-122"/>
                <a:sym typeface="Noto Sans SC" panose="020B0200000000000000" pitchFamily="34" charset="-122"/>
              </a:rPr>
              <a:t>FlappyBird</a:t>
            </a:r>
            <a:r>
              <a:rPr lang="zh-CN" altLang="en-US" sz="1800" b="1"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pitchFamily="34" charset="-122"/>
                <a:sym typeface="Noto Sans SC" panose="020B0200000000000000" pitchFamily="34" charset="-122"/>
              </a:rPr>
              <a:t>闯关系统。游戏中玩家控制一只小鸟，跨越由各种不同长度管道所组成的障碍。</a:t>
            </a:r>
            <a:endParaRPr lang="zh-CN" altLang="en-US" sz="1800" b="1">
              <a:latin typeface="微软雅黑" panose="020B0503020204020204" pitchFamily="34" charset="-122"/>
              <a:ea typeface="微软雅黑" panose="020B0503020204020204" pitchFamily="34" charset="-122"/>
              <a:cs typeface="Noto Sans SC" panose="020B0200000000000000" pitchFamily="34" charset="-122"/>
            </a:endParaRPr>
          </a:p>
        </p:txBody>
      </p:sp>
      <p:sp>
        <p:nvSpPr>
          <p:cNvPr id="20" name="AutoShape 8">
            <a:extLst>
              <a:ext uri="{FF2B5EF4-FFF2-40B4-BE49-F238E27FC236}">
                <a16:creationId xmlns:a16="http://schemas.microsoft.com/office/drawing/2014/main" id="{76DDE069-4E21-4A6C-9DCD-106D476958D8}"/>
              </a:ext>
            </a:extLst>
          </p:cNvPr>
          <p:cNvSpPr/>
          <p:nvPr/>
        </p:nvSpPr>
        <p:spPr>
          <a:xfrm>
            <a:off x="762000" y="3937000"/>
            <a:ext cx="5334000" cy="2159000"/>
          </a:xfrm>
          <a:prstGeom prst="roundRect">
            <a:avLst>
              <a:gd name="adj" fmla="val 588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00000">
                <a:alpha val="5000"/>
              </a:srgbClr>
            </a:outerShdw>
          </a:effectLst>
        </p:spPr>
        <p:txBody>
          <a:bodyPr lIns="63500" tIns="63500" rIns="63500" bIns="63500" anchor="ctr"/>
          <a:lstStyle/>
          <a:p>
            <a:pPr algn="ctr">
              <a:defRPr/>
            </a:pPr>
            <a:endParaRPr/>
          </a:p>
        </p:txBody>
      </p:sp>
      <p:sp>
        <p:nvSpPr>
          <p:cNvPr id="45067" name="AutoShape 10">
            <a:extLst>
              <a:ext uri="{FF2B5EF4-FFF2-40B4-BE49-F238E27FC236}">
                <a16:creationId xmlns:a16="http://schemas.microsoft.com/office/drawing/2014/main" id="{B3A1B360-4FDA-46D7-87F8-8C504E134B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4861" y="4191000"/>
            <a:ext cx="4318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342900" indent="-34290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p"/>
            </a:pPr>
            <a:r>
              <a:rPr lang="zh-CN" altLang="en-US" sz="24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Noto Sans SC" panose="020B0200000000000000" pitchFamily="34" charset="-122"/>
              </a:rPr>
              <a:t>问题来源与意义</a:t>
            </a:r>
            <a:endParaRPr lang="zh-CN" altLang="en-US" sz="2400" b="1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45068" name="Connector 11">
            <a:extLst>
              <a:ext uri="{FF2B5EF4-FFF2-40B4-BE49-F238E27FC236}">
                <a16:creationId xmlns:a16="http://schemas.microsoft.com/office/drawing/2014/main" id="{2ABA3DBF-720A-44D3-AF21-9792D42BA992}"/>
              </a:ext>
            </a:extLst>
          </p:cNvPr>
          <p:cNvCxnSpPr>
            <a:cxnSpLocks noChangeShapeType="1"/>
          </p:cNvCxnSpPr>
          <p:nvPr/>
        </p:nvCxnSpPr>
        <p:spPr bwMode="auto">
          <a:xfrm rot="-9046">
            <a:off x="1016000" y="4629150"/>
            <a:ext cx="4826000" cy="12700"/>
          </a:xfrm>
          <a:prstGeom prst="line">
            <a:avLst/>
          </a:prstGeom>
          <a:noFill/>
          <a:ln w="12700">
            <a:solidFill>
              <a:srgbClr val="E2E8F0"/>
            </a:solidFill>
            <a:round/>
            <a:headEnd/>
            <a:tailEnd/>
          </a:ln>
        </p:spPr>
      </p:cxnSp>
      <p:sp>
        <p:nvSpPr>
          <p:cNvPr id="45069" name="AutoShape 12">
            <a:extLst>
              <a:ext uri="{FF2B5EF4-FFF2-40B4-BE49-F238E27FC236}">
                <a16:creationId xmlns:a16="http://schemas.microsoft.com/office/drawing/2014/main" id="{CDD25243-9676-4A5D-90F9-45E4EE84B4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6000" y="4762500"/>
            <a:ext cx="4826000" cy="133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marL="342900" indent="-3429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zh-CN" altLang="en-US" sz="1800" b="1">
                <a:latin typeface="微软雅黑" panose="020B0503020204020204" pitchFamily="34" charset="-122"/>
                <a:ea typeface="微软雅黑" panose="020B0503020204020204" pitchFamily="34" charset="-122"/>
                <a:sym typeface="Noto Sans SC" panose="020B0200000000000000" pitchFamily="34" charset="-122"/>
              </a:rPr>
              <a:t>基于经典</a:t>
            </a:r>
            <a:r>
              <a:rPr lang="en-US" altLang="zh-CN" sz="1800" b="1">
                <a:latin typeface="微软雅黑" panose="020B0503020204020204" pitchFamily="34" charset="-122"/>
                <a:ea typeface="微软雅黑" panose="020B0503020204020204" pitchFamily="34" charset="-122"/>
                <a:sym typeface="Noto Sans SC" panose="020B0200000000000000" pitchFamily="34" charset="-122"/>
              </a:rPr>
              <a:t>FlappyBird</a:t>
            </a:r>
            <a:r>
              <a:rPr lang="zh-CN" altLang="en-US" sz="1800" b="1">
                <a:latin typeface="微软雅黑" panose="020B0503020204020204" pitchFamily="34" charset="-122"/>
                <a:ea typeface="微软雅黑" panose="020B0503020204020204" pitchFamily="34" charset="-122"/>
                <a:sym typeface="Noto Sans SC" panose="020B0200000000000000" pitchFamily="34" charset="-122"/>
              </a:rPr>
              <a:t>游戏，设计支持</a:t>
            </a:r>
            <a:r>
              <a:rPr lang="en-US" altLang="zh-CN" sz="1800" b="1">
                <a:latin typeface="微软雅黑" panose="020B0503020204020204" pitchFamily="34" charset="-122"/>
                <a:ea typeface="微软雅黑" panose="020B0503020204020204" pitchFamily="34" charset="-122"/>
                <a:sym typeface="Noto Sans SC" panose="020B0200000000000000" pitchFamily="34" charset="-122"/>
              </a:rPr>
              <a:t>AI</a:t>
            </a:r>
            <a:r>
              <a:rPr lang="zh-CN" altLang="en-US" sz="1800" b="1">
                <a:latin typeface="微软雅黑" panose="020B0503020204020204" pitchFamily="34" charset="-122"/>
                <a:ea typeface="微软雅黑" panose="020B0503020204020204" pitchFamily="34" charset="-122"/>
                <a:sym typeface="Noto Sans SC" panose="020B0200000000000000" pitchFamily="34" charset="-122"/>
              </a:rPr>
              <a:t>智能体自主学习和闯关的实验系统</a:t>
            </a:r>
          </a:p>
          <a:p>
            <a:pPr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zh-CN" altLang="en-US" sz="1800" b="1">
                <a:latin typeface="微软雅黑" panose="020B0503020204020204" pitchFamily="34" charset="-122"/>
                <a:ea typeface="微软雅黑" panose="020B0503020204020204" pitchFamily="34" charset="-122"/>
                <a:sym typeface="Noto Sans SC" panose="020B0200000000000000" pitchFamily="34" charset="-122"/>
              </a:rPr>
              <a:t>将图形图像技术、物理模拟和人工智能等多学科知识融为一体</a:t>
            </a:r>
          </a:p>
        </p:txBody>
      </p:sp>
      <p:pic>
        <p:nvPicPr>
          <p:cNvPr id="25" name="bird4.mp4">
            <a:hlinkClick r:id="" action="ppaction://media"/>
            <a:extLst>
              <a:ext uri="{FF2B5EF4-FFF2-40B4-BE49-F238E27FC236}">
                <a16:creationId xmlns:a16="http://schemas.microsoft.com/office/drawing/2014/main" id="{8EDB6811-FDA8-40C5-BF89-32E0D1922510}"/>
              </a:ext>
            </a:extLst>
          </p:cNvPr>
          <p:cNvPicPr>
            <a:picLocks noChangeAspect="1" noChangeArrowheads="1"/>
          </p:cNvPicPr>
          <p:nvPr>
            <a:videoFile r:link="rId2"/>
            <p:extLst>
              <p:ext uri="{DAA4B4D4-6D71-4841-9C94-3DE7FCFB9230}">
                <p14:media xmlns:p14="http://schemas.microsoft.com/office/powerpoint/2010/main" r:link="rId1"/>
              </p:ext>
            </p:ext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00825" y="2132013"/>
            <a:ext cx="4991100" cy="3743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28639" fill="hold"/>
                                        <p:tgtEl>
                                          <p:spTgt spid="2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 nodeType="clickPar">
                      <p:stCondLst>
                        <p:cond delay="0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2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video>
              <p:cMediaNode vol="80000">
                <p:cTn id="12" fill="hold" display="0">
                  <p:stCondLst>
                    <p:cond delay="indefinite"/>
                  </p:stCondLst>
                </p:cTn>
                <p:tgtEl>
                  <p:spTgt spid="25"/>
                </p:tgtEl>
              </p:cMediaNode>
            </p:vide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2">
            <a:extLst>
              <a:ext uri="{FF2B5EF4-FFF2-40B4-BE49-F238E27FC236}">
                <a16:creationId xmlns:a16="http://schemas.microsoft.com/office/drawing/2014/main" id="{ABC7FF6E-E0CC-4681-9F87-C2971398EC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9938" y="976313"/>
            <a:ext cx="10601325" cy="517525"/>
          </a:xfrm>
          <a:prstGeom prst="roundRect">
            <a:avLst/>
          </a:prstGeo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CN" altLang="en-US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智能算法类综合实践项目：</a:t>
            </a:r>
            <a:r>
              <a:rPr lang="en-US" altLang="zh-CN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FlappyBird</a:t>
            </a:r>
            <a:r>
              <a:rPr lang="zh-CN" altLang="en-US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闯关系统</a:t>
            </a:r>
            <a:endParaRPr lang="zh-CN" altLang="en-US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107" name="标题 1">
            <a:extLst>
              <a:ext uri="{FF2B5EF4-FFF2-40B4-BE49-F238E27FC236}">
                <a16:creationId xmlns:a16="http://schemas.microsoft.com/office/drawing/2014/main" id="{1A0E6129-0AFD-443A-BA53-E247D87B4F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1938" y="117475"/>
            <a:ext cx="11615737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ß"/>
              <a:defRPr sz="3200" b="1">
                <a:solidFill>
                  <a:schemeClr val="tx1"/>
                </a:solidFill>
                <a:latin typeface="Consolas" panose="020B0609020204030204" pitchFamily="49" charset="0"/>
              </a:defRPr>
            </a:lvl1pPr>
            <a:lvl2pPr marL="742950" indent="-28575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 b="1">
                <a:solidFill>
                  <a:srgbClr val="333399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2pPr>
            <a:lvl3pPr marL="1143000" indent="-2286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 b="1">
                <a:solidFill>
                  <a:srgbClr val="3333CC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3pPr>
            <a:lvl4pPr marL="1600200" indent="-2286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4pPr>
            <a:lvl5pPr marL="2057400" indent="-2286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智能算法类综合实践项目</a:t>
            </a:r>
          </a:p>
        </p:txBody>
      </p:sp>
      <p:sp>
        <p:nvSpPr>
          <p:cNvPr id="47108" name="矩形 16">
            <a:extLst>
              <a:ext uri="{FF2B5EF4-FFF2-40B4-BE49-F238E27FC236}">
                <a16:creationId xmlns:a16="http://schemas.microsoft.com/office/drawing/2014/main" id="{E467A1E7-080A-4CBA-A7B5-3464CCF8D2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5025" y="4318000"/>
            <a:ext cx="1873250" cy="1023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ß"/>
              <a:defRPr sz="3200" b="1">
                <a:solidFill>
                  <a:schemeClr val="tx1"/>
                </a:solidFill>
                <a:latin typeface="Consolas" panose="020B0609020204030204" pitchFamily="49" charset="0"/>
              </a:defRPr>
            </a:lvl1pPr>
            <a:lvl2pPr marL="742950" indent="-28575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 b="1">
                <a:solidFill>
                  <a:srgbClr val="333399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2pPr>
            <a:lvl3pPr marL="1143000" indent="-2286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 b="1">
                <a:solidFill>
                  <a:srgbClr val="3333CC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3pPr>
            <a:lvl4pPr marL="1600200" indent="-2286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4pPr>
            <a:lvl5pPr marL="2057400" indent="-2286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9pPr>
          </a:lstStyle>
          <a:p>
            <a:pPr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1400" b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结构体</a:t>
            </a:r>
            <a:endParaRPr lang="en-US" altLang="zh-CN" sz="1400" b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Symbol" panose="05050102010706020507" pitchFamily="18" charset="2"/>
            </a:endParaRPr>
          </a:p>
          <a:p>
            <a:pPr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1400" b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基础物理模拟</a:t>
            </a:r>
            <a:endParaRPr lang="en-US" altLang="zh-CN" sz="1400" b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Symbol" panose="05050102010706020507" pitchFamily="18" charset="2"/>
            </a:endParaRPr>
          </a:p>
          <a:p>
            <a:pPr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1400" b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图形渲染</a:t>
            </a:r>
            <a:endParaRPr lang="en-US" altLang="zh-CN" sz="1400" b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7109" name="矩形 17">
            <a:extLst>
              <a:ext uri="{FF2B5EF4-FFF2-40B4-BE49-F238E27FC236}">
                <a16:creationId xmlns:a16="http://schemas.microsoft.com/office/drawing/2014/main" id="{CDEA7DBD-6867-4353-A0BB-8785A49398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52700" y="3624263"/>
            <a:ext cx="2751138" cy="1022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ß"/>
              <a:defRPr sz="3200" b="1">
                <a:solidFill>
                  <a:schemeClr val="tx1"/>
                </a:solidFill>
                <a:latin typeface="Consolas" panose="020B0609020204030204" pitchFamily="49" charset="0"/>
              </a:defRPr>
            </a:lvl1pPr>
            <a:lvl2pPr marL="742950" indent="-28575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 b="1">
                <a:solidFill>
                  <a:srgbClr val="333399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2pPr>
            <a:lvl3pPr marL="1143000" indent="-2286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 b="1">
                <a:solidFill>
                  <a:srgbClr val="3333CC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3pPr>
            <a:lvl4pPr marL="1600200" indent="-2286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4pPr>
            <a:lvl5pPr marL="2057400" indent="-2286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1400" b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结构体数组</a:t>
            </a:r>
            <a:endParaRPr lang="en-US" altLang="zh-CN" sz="1400" b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Symbol" panose="05050102010706020507" pitchFamily="18" charset="2"/>
            </a:endParaRPr>
          </a:p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1400" b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卷轴地图</a:t>
            </a:r>
            <a:endParaRPr lang="en-US" altLang="zh-CN" sz="1400" b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Symbol" panose="05050102010706020507" pitchFamily="18" charset="2"/>
            </a:endParaRPr>
          </a:p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1400" b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动态障碍物管理 </a:t>
            </a:r>
            <a:endParaRPr lang="en-US" altLang="zh-CN" sz="1400" b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7110" name="矩形 7">
            <a:extLst>
              <a:ext uri="{FF2B5EF4-FFF2-40B4-BE49-F238E27FC236}">
                <a16:creationId xmlns:a16="http://schemas.microsoft.com/office/drawing/2014/main" id="{7811D22F-3D18-4A9B-A4B7-9621D55B45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91313" y="2978150"/>
            <a:ext cx="1995487" cy="1346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ß"/>
              <a:defRPr sz="3200" b="1">
                <a:solidFill>
                  <a:schemeClr val="tx1"/>
                </a:solidFill>
                <a:latin typeface="Consolas" panose="020B0609020204030204" pitchFamily="49" charset="0"/>
              </a:defRPr>
            </a:lvl1pPr>
            <a:lvl2pPr marL="742950" indent="-28575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 b="1">
                <a:solidFill>
                  <a:srgbClr val="333399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2pPr>
            <a:lvl3pPr marL="1143000" indent="-2286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 b="1">
                <a:solidFill>
                  <a:srgbClr val="3333CC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3pPr>
            <a:lvl4pPr marL="1600200" indent="-2286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4pPr>
            <a:lvl5pPr marL="2057400" indent="-2286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1400" b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排序算法</a:t>
            </a:r>
            <a:endParaRPr lang="en-US" altLang="zh-CN" sz="1400" b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Symbol" panose="05050102010706020507" pitchFamily="18" charset="2"/>
            </a:endParaRPr>
          </a:p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1400" b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数据持久化与文件 </a:t>
            </a:r>
            <a:r>
              <a:rPr lang="en-US" altLang="zh-CN" sz="1400" b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IO</a:t>
            </a:r>
          </a:p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1200" b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</a:t>
            </a:r>
            <a:r>
              <a:rPr lang="zh-CN" altLang="en-US" sz="1400" b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实时计分</a:t>
            </a:r>
            <a:r>
              <a:rPr lang="en-US" altLang="zh-CN" sz="1400" b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r>
              <a:rPr lang="zh-CN" altLang="en-US" sz="1400" b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回合数统计</a:t>
            </a:r>
            <a:endParaRPr lang="en-US" altLang="zh-CN" sz="1400" b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Symbol" panose="05050102010706020507" pitchFamily="18" charset="2"/>
            </a:endParaRPr>
          </a:p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1400" b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按钮等界面元素设计</a:t>
            </a:r>
          </a:p>
        </p:txBody>
      </p:sp>
      <p:sp>
        <p:nvSpPr>
          <p:cNvPr id="47111" name="矩形 8">
            <a:extLst>
              <a:ext uri="{FF2B5EF4-FFF2-40B4-BE49-F238E27FC236}">
                <a16:creationId xmlns:a16="http://schemas.microsoft.com/office/drawing/2014/main" id="{6258257D-E601-4017-996E-91DB34C8B9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16500" y="3259138"/>
            <a:ext cx="1804988" cy="1022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ß"/>
              <a:defRPr sz="3200" b="1">
                <a:solidFill>
                  <a:schemeClr val="tx1"/>
                </a:solidFill>
                <a:latin typeface="Consolas" panose="020B0609020204030204" pitchFamily="49" charset="0"/>
              </a:defRPr>
            </a:lvl1pPr>
            <a:lvl2pPr marL="742950" indent="-28575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 b="1">
                <a:solidFill>
                  <a:srgbClr val="333399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2pPr>
            <a:lvl3pPr marL="1143000" indent="-2286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 b="1">
                <a:solidFill>
                  <a:srgbClr val="3333CC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3pPr>
            <a:lvl4pPr marL="1600200" indent="-2286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4pPr>
            <a:lvl5pPr marL="2057400" indent="-2286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1400" b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基于枚举类型设计游戏状态机</a:t>
            </a:r>
            <a:endParaRPr lang="en-US" altLang="zh-CN" sz="1400" b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Symbol" panose="05050102010706020507" pitchFamily="18" charset="2"/>
            </a:endParaRPr>
          </a:p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1400" b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 碰撞检测算法</a:t>
            </a:r>
            <a:endParaRPr lang="en-US" altLang="zh-CN" sz="1400" b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2D9E4FF1-62D2-4D45-AE60-A730271B1344}"/>
              </a:ext>
            </a:extLst>
          </p:cNvPr>
          <p:cNvCxnSpPr/>
          <p:nvPr/>
        </p:nvCxnSpPr>
        <p:spPr>
          <a:xfrm>
            <a:off x="911225" y="4319588"/>
            <a:ext cx="1657350" cy="0"/>
          </a:xfrm>
          <a:prstGeom prst="line">
            <a:avLst/>
          </a:prstGeom>
          <a:ln w="38100">
            <a:solidFill>
              <a:srgbClr val="3F81E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2B720DB6-8AE8-4CA3-8915-AF088D97C64F}"/>
              </a:ext>
            </a:extLst>
          </p:cNvPr>
          <p:cNvCxnSpPr>
            <a:cxnSpLocks/>
          </p:cNvCxnSpPr>
          <p:nvPr/>
        </p:nvCxnSpPr>
        <p:spPr>
          <a:xfrm flipV="1">
            <a:off x="2568575" y="3635375"/>
            <a:ext cx="2447925" cy="0"/>
          </a:xfrm>
          <a:prstGeom prst="line">
            <a:avLst/>
          </a:prstGeom>
          <a:ln w="38100">
            <a:solidFill>
              <a:srgbClr val="3F81E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C2B17F45-0EA6-4BA0-8489-AA6D49BF1061}"/>
              </a:ext>
            </a:extLst>
          </p:cNvPr>
          <p:cNvCxnSpPr/>
          <p:nvPr/>
        </p:nvCxnSpPr>
        <p:spPr>
          <a:xfrm>
            <a:off x="5016500" y="3275013"/>
            <a:ext cx="1692275" cy="0"/>
          </a:xfrm>
          <a:prstGeom prst="line">
            <a:avLst/>
          </a:prstGeom>
          <a:ln w="38100">
            <a:solidFill>
              <a:srgbClr val="3F81E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13CC0238-1DC1-4AF8-9468-0199B5C61E96}"/>
              </a:ext>
            </a:extLst>
          </p:cNvPr>
          <p:cNvCxnSpPr>
            <a:cxnSpLocks/>
          </p:cNvCxnSpPr>
          <p:nvPr/>
        </p:nvCxnSpPr>
        <p:spPr>
          <a:xfrm>
            <a:off x="6734175" y="3016250"/>
            <a:ext cx="3348038" cy="0"/>
          </a:xfrm>
          <a:prstGeom prst="line">
            <a:avLst/>
          </a:prstGeom>
          <a:ln w="38100">
            <a:solidFill>
              <a:srgbClr val="3F81E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2FF83003-621A-43DA-91B1-461FBCCE194B}"/>
              </a:ext>
            </a:extLst>
          </p:cNvPr>
          <p:cNvCxnSpPr>
            <a:cxnSpLocks/>
          </p:cNvCxnSpPr>
          <p:nvPr/>
        </p:nvCxnSpPr>
        <p:spPr>
          <a:xfrm>
            <a:off x="2568575" y="3608388"/>
            <a:ext cx="0" cy="684212"/>
          </a:xfrm>
          <a:prstGeom prst="line">
            <a:avLst/>
          </a:prstGeom>
          <a:ln w="38100">
            <a:solidFill>
              <a:srgbClr val="3F81E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50618138-9ED5-4FC9-AD31-BD6A0E6D1F97}"/>
              </a:ext>
            </a:extLst>
          </p:cNvPr>
          <p:cNvCxnSpPr>
            <a:cxnSpLocks/>
          </p:cNvCxnSpPr>
          <p:nvPr/>
        </p:nvCxnSpPr>
        <p:spPr>
          <a:xfrm>
            <a:off x="5016500" y="3275013"/>
            <a:ext cx="0" cy="360362"/>
          </a:xfrm>
          <a:prstGeom prst="line">
            <a:avLst/>
          </a:prstGeom>
          <a:ln w="38100">
            <a:solidFill>
              <a:srgbClr val="3F81E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02602C31-E810-4996-8422-582CCABE998A}"/>
              </a:ext>
            </a:extLst>
          </p:cNvPr>
          <p:cNvCxnSpPr>
            <a:cxnSpLocks/>
          </p:cNvCxnSpPr>
          <p:nvPr/>
        </p:nvCxnSpPr>
        <p:spPr>
          <a:xfrm>
            <a:off x="6734175" y="3028950"/>
            <a:ext cx="0" cy="250825"/>
          </a:xfrm>
          <a:prstGeom prst="line">
            <a:avLst/>
          </a:prstGeom>
          <a:ln w="38100">
            <a:solidFill>
              <a:srgbClr val="3F81E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119" name="矩形 26">
            <a:extLst>
              <a:ext uri="{FF2B5EF4-FFF2-40B4-BE49-F238E27FC236}">
                <a16:creationId xmlns:a16="http://schemas.microsoft.com/office/drawing/2014/main" id="{E320ED58-0EDA-4353-89CB-51AA901B73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7238" y="3205163"/>
            <a:ext cx="1992312" cy="41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ß"/>
              <a:defRPr sz="3200" b="1">
                <a:solidFill>
                  <a:schemeClr val="tx1"/>
                </a:solidFill>
                <a:latin typeface="Consolas" panose="020B0609020204030204" pitchFamily="49" charset="0"/>
              </a:defRPr>
            </a:lvl1pPr>
            <a:lvl2pPr marL="742950" indent="-28575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 b="1">
                <a:solidFill>
                  <a:srgbClr val="333399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2pPr>
            <a:lvl3pPr marL="1143000" indent="-2286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 b="1">
                <a:solidFill>
                  <a:srgbClr val="3333CC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3pPr>
            <a:lvl4pPr marL="1600200" indent="-2286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4pPr>
            <a:lvl5pPr marL="2057400" indent="-2286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9pPr>
          </a:lstStyle>
          <a:p>
            <a:pPr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sz="16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FlappyBirdV1.0</a:t>
            </a:r>
          </a:p>
        </p:txBody>
      </p:sp>
      <p:grpSp>
        <p:nvGrpSpPr>
          <p:cNvPr id="47120" name="组合 30">
            <a:extLst>
              <a:ext uri="{FF2B5EF4-FFF2-40B4-BE49-F238E27FC236}">
                <a16:creationId xmlns:a16="http://schemas.microsoft.com/office/drawing/2014/main" id="{DED61B1B-57E8-448F-9250-7448CBACA61F}"/>
              </a:ext>
            </a:extLst>
          </p:cNvPr>
          <p:cNvGrpSpPr>
            <a:grpSpLocks/>
          </p:cNvGrpSpPr>
          <p:nvPr/>
        </p:nvGrpSpPr>
        <p:grpSpPr bwMode="auto">
          <a:xfrm>
            <a:off x="6672263" y="4652963"/>
            <a:ext cx="5059362" cy="1655762"/>
            <a:chOff x="-208686" y="4869120"/>
            <a:chExt cx="9037781" cy="1880457"/>
          </a:xfrm>
        </p:grpSpPr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1B212F5D-02FC-4E31-AE60-8D9E53D1BE4A}"/>
                </a:ext>
              </a:extLst>
            </p:cNvPr>
            <p:cNvSpPr txBox="1"/>
            <p:nvPr/>
          </p:nvSpPr>
          <p:spPr>
            <a:xfrm>
              <a:off x="-98090" y="4869120"/>
              <a:ext cx="8850618" cy="1637062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marL="285750" indent="-285750">
                <a:lnSpc>
                  <a:spcPct val="130000"/>
                </a:lnSpc>
                <a:buFont typeface="Wingdings" panose="05000000000000000000" pitchFamily="2" charset="2"/>
                <a:buChar char="p"/>
                <a:defRPr/>
              </a:pPr>
              <a:r>
                <a:rPr lang="zh-CN" altLang="en-US" sz="1800" b="1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项目支撑的能力</a:t>
              </a:r>
              <a:endParaRPr lang="en-US" altLang="zh-CN" sz="18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342900" indent="-342900">
                <a:lnSpc>
                  <a:spcPct val="130000"/>
                </a:lnSpc>
                <a:buFontTx/>
                <a:buAutoNum type="arabicPeriod"/>
                <a:defRPr/>
              </a:pPr>
              <a:r>
                <a:rPr lang="zh-CN" altLang="en-US" sz="120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学会使用结构体进行数据封装</a:t>
              </a:r>
              <a:endParaRPr lang="en-US" altLang="zh-CN" sz="120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342900" indent="-342900">
                <a:lnSpc>
                  <a:spcPct val="130000"/>
                </a:lnSpc>
                <a:buFontTx/>
                <a:buAutoNum type="arabicPeriod"/>
                <a:defRPr/>
              </a:pPr>
              <a:r>
                <a:rPr lang="zh-CN" altLang="en-US" sz="120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掌握 </a:t>
              </a:r>
              <a:r>
                <a:rPr lang="en-US" altLang="zh-CN" sz="120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EasyX </a:t>
              </a:r>
              <a:r>
                <a:rPr lang="zh-CN" altLang="en-US" sz="120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图形库的图形处理与界面渲染、人机交互处理</a:t>
              </a:r>
              <a:endParaRPr lang="en-US" altLang="zh-CN" sz="120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342900" indent="-342900">
                <a:lnSpc>
                  <a:spcPct val="130000"/>
                </a:lnSpc>
                <a:buFontTx/>
                <a:buAutoNum type="arabicPeriod"/>
                <a:defRPr/>
              </a:pPr>
              <a:r>
                <a:rPr lang="zh-CN" altLang="en-US" sz="120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能够基于枚举类型设计游戏状态机，实现不同游戏状态的有序切换</a:t>
              </a:r>
            </a:p>
            <a:p>
              <a:pPr marL="342900" indent="-342900">
                <a:lnSpc>
                  <a:spcPct val="130000"/>
                </a:lnSpc>
                <a:buFontTx/>
                <a:buAutoNum type="arabicPeriod"/>
                <a:defRPr/>
              </a:pPr>
              <a:r>
                <a:rPr lang="zh-CN" altLang="en-US" sz="120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体验环境模拟和建模、碰撞检测在项目中的应用</a:t>
              </a:r>
              <a:endParaRPr lang="en-US" altLang="zh-CN" sz="120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342900" indent="-342900">
                <a:lnSpc>
                  <a:spcPct val="130000"/>
                </a:lnSpc>
                <a:buFontTx/>
                <a:buAutoNum type="arabicPeriod"/>
                <a:defRPr/>
              </a:pPr>
              <a:r>
                <a:rPr lang="zh-CN" altLang="en-US" sz="120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了解</a:t>
              </a:r>
              <a:r>
                <a:rPr lang="en-US" altLang="zh-CN" sz="120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Q</a:t>
              </a:r>
              <a:r>
                <a:rPr lang="zh-CN" altLang="en-US" sz="120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学习等强化学习算法在训练小鸟智能避障方面的应用</a:t>
              </a:r>
              <a:endParaRPr lang="zh-CN" altLang="en-US" sz="16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9" name="矩形: 圆角 28">
              <a:extLst>
                <a:ext uri="{FF2B5EF4-FFF2-40B4-BE49-F238E27FC236}">
                  <a16:creationId xmlns:a16="http://schemas.microsoft.com/office/drawing/2014/main" id="{D196DFA8-038D-4A74-BDF6-E50B394315C7}"/>
                </a:ext>
              </a:extLst>
            </p:cNvPr>
            <p:cNvSpPr/>
            <p:nvPr/>
          </p:nvSpPr>
          <p:spPr>
            <a:xfrm>
              <a:off x="-208686" y="4921404"/>
              <a:ext cx="9037781" cy="1828173"/>
            </a:xfrm>
            <a:prstGeom prst="roundRect">
              <a:avLst>
                <a:gd name="adj" fmla="val 11579"/>
              </a:avLst>
            </a:prstGeom>
            <a:noFill/>
            <a:ln w="19050">
              <a:solidFill>
                <a:srgbClr val="0070C0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47121" name="矩形 31">
            <a:extLst>
              <a:ext uri="{FF2B5EF4-FFF2-40B4-BE49-F238E27FC236}">
                <a16:creationId xmlns:a16="http://schemas.microsoft.com/office/drawing/2014/main" id="{EED324E0-8F22-4BA8-9CEC-A1EB640821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8963" y="3490913"/>
            <a:ext cx="1963737" cy="78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ß"/>
              <a:defRPr sz="3200" b="1">
                <a:solidFill>
                  <a:schemeClr val="tx1"/>
                </a:solidFill>
                <a:latin typeface="Consolas" panose="020B0609020204030204" pitchFamily="49" charset="0"/>
              </a:defRPr>
            </a:lvl1pPr>
            <a:lvl2pPr marL="742950" indent="-28575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 b="1">
                <a:solidFill>
                  <a:srgbClr val="333399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2pPr>
            <a:lvl3pPr marL="1143000" indent="-2286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 b="1">
                <a:solidFill>
                  <a:srgbClr val="3333CC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3pPr>
            <a:lvl4pPr marL="1600200" indent="-2286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4pPr>
            <a:lvl5pPr marL="2057400" indent="-2286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9pPr>
          </a:lstStyle>
          <a:p>
            <a:pPr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sz="160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(1)</a:t>
            </a:r>
            <a:r>
              <a:rPr lang="zh-CN" altLang="en-US" sz="160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小鸟与环境状态空间数据结构建模</a:t>
            </a:r>
            <a:endParaRPr lang="en-US" altLang="zh-CN" sz="160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7122" name="矩形 32">
            <a:extLst>
              <a:ext uri="{FF2B5EF4-FFF2-40B4-BE49-F238E27FC236}">
                <a16:creationId xmlns:a16="http://schemas.microsoft.com/office/drawing/2014/main" id="{D06908E7-E84B-4013-83EA-4ACF376770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82863" y="2492375"/>
            <a:ext cx="1816100" cy="41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ß"/>
              <a:defRPr sz="3200" b="1">
                <a:solidFill>
                  <a:schemeClr val="tx1"/>
                </a:solidFill>
                <a:latin typeface="Consolas" panose="020B0609020204030204" pitchFamily="49" charset="0"/>
              </a:defRPr>
            </a:lvl1pPr>
            <a:lvl2pPr marL="742950" indent="-28575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 b="1">
                <a:solidFill>
                  <a:srgbClr val="333399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2pPr>
            <a:lvl3pPr marL="1143000" indent="-2286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 b="1">
                <a:solidFill>
                  <a:srgbClr val="3333CC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3pPr>
            <a:lvl4pPr marL="1600200" indent="-2286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4pPr>
            <a:lvl5pPr marL="2057400" indent="-2286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9pPr>
          </a:lstStyle>
          <a:p>
            <a:pPr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sz="16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FlappyBirdV2.0</a:t>
            </a:r>
          </a:p>
        </p:txBody>
      </p:sp>
      <p:sp>
        <p:nvSpPr>
          <p:cNvPr id="47123" name="矩形 33">
            <a:extLst>
              <a:ext uri="{FF2B5EF4-FFF2-40B4-BE49-F238E27FC236}">
                <a16:creationId xmlns:a16="http://schemas.microsoft.com/office/drawing/2014/main" id="{B1B3541D-E6DA-45C2-A576-C980720E2A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38425" y="2852738"/>
            <a:ext cx="2090738" cy="78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ß"/>
              <a:defRPr sz="3200" b="1">
                <a:solidFill>
                  <a:schemeClr val="tx1"/>
                </a:solidFill>
                <a:latin typeface="Consolas" panose="020B0609020204030204" pitchFamily="49" charset="0"/>
              </a:defRPr>
            </a:lvl1pPr>
            <a:lvl2pPr marL="742950" indent="-28575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 b="1">
                <a:solidFill>
                  <a:srgbClr val="333399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2pPr>
            <a:lvl3pPr marL="1143000" indent="-2286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 b="1">
                <a:solidFill>
                  <a:srgbClr val="3333CC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3pPr>
            <a:lvl4pPr marL="1600200" indent="-2286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4pPr>
            <a:lvl5pPr marL="2057400" indent="-2286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9pPr>
          </a:lstStyle>
          <a:p>
            <a:pPr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sz="160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(2)</a:t>
            </a:r>
            <a:r>
              <a:rPr lang="zh-CN" altLang="en-US" sz="160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障碍物与卷轴滚动场景图形渲染</a:t>
            </a:r>
            <a:endParaRPr lang="en-US" altLang="zh-CN" sz="160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7124" name="矩形 38">
            <a:extLst>
              <a:ext uri="{FF2B5EF4-FFF2-40B4-BE49-F238E27FC236}">
                <a16:creationId xmlns:a16="http://schemas.microsoft.com/office/drawing/2014/main" id="{077DEA68-C12C-4221-94A6-376FEB46AA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40288" y="2074863"/>
            <a:ext cx="1860550" cy="417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ß"/>
              <a:defRPr sz="3200" b="1">
                <a:solidFill>
                  <a:schemeClr val="tx1"/>
                </a:solidFill>
                <a:latin typeface="Consolas" panose="020B0609020204030204" pitchFamily="49" charset="0"/>
              </a:defRPr>
            </a:lvl1pPr>
            <a:lvl2pPr marL="742950" indent="-28575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 b="1">
                <a:solidFill>
                  <a:srgbClr val="333399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2pPr>
            <a:lvl3pPr marL="1143000" indent="-2286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 b="1">
                <a:solidFill>
                  <a:srgbClr val="3333CC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3pPr>
            <a:lvl4pPr marL="1600200" indent="-2286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4pPr>
            <a:lvl5pPr marL="2057400" indent="-2286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9pPr>
          </a:lstStyle>
          <a:p>
            <a:pPr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sz="16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FlappyBirdV3.0</a:t>
            </a:r>
          </a:p>
        </p:txBody>
      </p:sp>
      <p:sp>
        <p:nvSpPr>
          <p:cNvPr id="47125" name="矩形 39">
            <a:extLst>
              <a:ext uri="{FF2B5EF4-FFF2-40B4-BE49-F238E27FC236}">
                <a16:creationId xmlns:a16="http://schemas.microsoft.com/office/drawing/2014/main" id="{8ECDEB88-8D64-4849-BFD9-524E12AFD3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8550" y="2522538"/>
            <a:ext cx="1804988" cy="78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ß"/>
              <a:defRPr sz="3200" b="1">
                <a:solidFill>
                  <a:schemeClr val="tx1"/>
                </a:solidFill>
                <a:latin typeface="Consolas" panose="020B0609020204030204" pitchFamily="49" charset="0"/>
              </a:defRPr>
            </a:lvl1pPr>
            <a:lvl2pPr marL="742950" indent="-28575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 b="1">
                <a:solidFill>
                  <a:srgbClr val="333399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2pPr>
            <a:lvl3pPr marL="1143000" indent="-2286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 b="1">
                <a:solidFill>
                  <a:srgbClr val="3333CC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3pPr>
            <a:lvl4pPr marL="1600200" indent="-2286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4pPr>
            <a:lvl5pPr marL="2057400" indent="-2286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9pPr>
          </a:lstStyle>
          <a:p>
            <a:pPr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sz="160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(3)</a:t>
            </a:r>
            <a:r>
              <a:rPr lang="zh-CN" altLang="en-US" sz="160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飞行控制与碰撞检测</a:t>
            </a:r>
            <a:endParaRPr lang="en-US" altLang="zh-CN" sz="160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7126" name="矩形 43">
            <a:extLst>
              <a:ext uri="{FF2B5EF4-FFF2-40B4-BE49-F238E27FC236}">
                <a16:creationId xmlns:a16="http://schemas.microsoft.com/office/drawing/2014/main" id="{BD562710-C29F-453C-9B40-C49DF9CCD0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02538" y="1925638"/>
            <a:ext cx="1804987" cy="417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ß"/>
              <a:defRPr sz="3200" b="1">
                <a:solidFill>
                  <a:schemeClr val="tx1"/>
                </a:solidFill>
                <a:latin typeface="Consolas" panose="020B0609020204030204" pitchFamily="49" charset="0"/>
              </a:defRPr>
            </a:lvl1pPr>
            <a:lvl2pPr marL="742950" indent="-28575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 b="1">
                <a:solidFill>
                  <a:srgbClr val="333399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2pPr>
            <a:lvl3pPr marL="1143000" indent="-2286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 b="1">
                <a:solidFill>
                  <a:srgbClr val="3333CC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3pPr>
            <a:lvl4pPr marL="1600200" indent="-2286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4pPr>
            <a:lvl5pPr marL="2057400" indent="-2286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9pPr>
          </a:lstStyle>
          <a:p>
            <a:pPr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sz="16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FlappyBirdV4.0</a:t>
            </a:r>
          </a:p>
        </p:txBody>
      </p:sp>
      <p:sp>
        <p:nvSpPr>
          <p:cNvPr id="47127" name="矩形 44">
            <a:extLst>
              <a:ext uri="{FF2B5EF4-FFF2-40B4-BE49-F238E27FC236}">
                <a16:creationId xmlns:a16="http://schemas.microsoft.com/office/drawing/2014/main" id="{7715D220-FBB0-43D1-97A5-595BDD0EB6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61275" y="2470150"/>
            <a:ext cx="2106613" cy="41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ß"/>
              <a:defRPr sz="3200" b="1">
                <a:solidFill>
                  <a:schemeClr val="tx1"/>
                </a:solidFill>
                <a:latin typeface="Consolas" panose="020B0609020204030204" pitchFamily="49" charset="0"/>
              </a:defRPr>
            </a:lvl1pPr>
            <a:lvl2pPr marL="742950" indent="-28575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 b="1">
                <a:solidFill>
                  <a:srgbClr val="333399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2pPr>
            <a:lvl3pPr marL="1143000" indent="-2286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 b="1">
                <a:solidFill>
                  <a:srgbClr val="3333CC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3pPr>
            <a:lvl4pPr marL="1600200" indent="-2286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4pPr>
            <a:lvl5pPr marL="2057400" indent="-2286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9pPr>
          </a:lstStyle>
          <a:p>
            <a:pPr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sz="160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(4)</a:t>
            </a:r>
            <a:r>
              <a:rPr lang="zh-CN" altLang="en-US" sz="160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系统功能拓展</a:t>
            </a:r>
            <a:endParaRPr lang="en-US" altLang="zh-CN" sz="160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7128" name="矩形 45">
            <a:extLst>
              <a:ext uri="{FF2B5EF4-FFF2-40B4-BE49-F238E27FC236}">
                <a16:creationId xmlns:a16="http://schemas.microsoft.com/office/drawing/2014/main" id="{0246B90C-5953-4A3D-AC67-5887711B4E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74275" y="2393950"/>
            <a:ext cx="20701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ß"/>
              <a:defRPr sz="3200" b="1">
                <a:solidFill>
                  <a:schemeClr val="tx1"/>
                </a:solidFill>
                <a:latin typeface="Consolas" panose="020B0609020204030204" pitchFamily="49" charset="0"/>
              </a:defRPr>
            </a:lvl1pPr>
            <a:lvl2pPr marL="742950" indent="-28575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 b="1">
                <a:solidFill>
                  <a:srgbClr val="333399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2pPr>
            <a:lvl3pPr marL="1143000" indent="-2286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 b="1">
                <a:solidFill>
                  <a:srgbClr val="3333CC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3pPr>
            <a:lvl4pPr marL="1600200" indent="-2286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4pPr>
            <a:lvl5pPr marL="2057400" indent="-2286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1400" b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</a:t>
            </a:r>
            <a:r>
              <a:rPr lang="zh-CN" altLang="en-US" sz="1400" b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多维数组</a:t>
            </a:r>
            <a:endParaRPr lang="en-US" altLang="zh-CN" sz="1400" b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1400" b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 </a:t>
            </a:r>
            <a:r>
              <a:rPr lang="en-US" altLang="zh-CN" sz="1400" b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Q-Learning</a:t>
            </a:r>
            <a:r>
              <a:rPr lang="zh-CN" altLang="en-US" sz="1400" b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算法</a:t>
            </a:r>
            <a:endParaRPr lang="en-US" altLang="zh-CN" sz="1400" b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Symbol" panose="05050102010706020507" pitchFamily="18" charset="2"/>
            </a:endParaRPr>
          </a:p>
        </p:txBody>
      </p:sp>
      <p:sp>
        <p:nvSpPr>
          <p:cNvPr id="47129" name="矩形 46">
            <a:extLst>
              <a:ext uri="{FF2B5EF4-FFF2-40B4-BE49-F238E27FC236}">
                <a16:creationId xmlns:a16="http://schemas.microsoft.com/office/drawing/2014/main" id="{27DEE287-398E-4AB6-A089-90C7B7F6BA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99675" y="1379538"/>
            <a:ext cx="2116138" cy="41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ß"/>
              <a:defRPr sz="3200" b="1">
                <a:solidFill>
                  <a:schemeClr val="tx1"/>
                </a:solidFill>
                <a:latin typeface="Consolas" panose="020B0609020204030204" pitchFamily="49" charset="0"/>
              </a:defRPr>
            </a:lvl1pPr>
            <a:lvl2pPr marL="742950" indent="-28575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 b="1">
                <a:solidFill>
                  <a:srgbClr val="333399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2pPr>
            <a:lvl3pPr marL="1143000" indent="-2286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 b="1">
                <a:solidFill>
                  <a:srgbClr val="3333CC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3pPr>
            <a:lvl4pPr marL="1600200" indent="-2286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4pPr>
            <a:lvl5pPr marL="2057400" indent="-2286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9pPr>
          </a:lstStyle>
          <a:p>
            <a:pPr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sz="16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FlappyBirdV5.0</a:t>
            </a:r>
          </a:p>
        </p:txBody>
      </p:sp>
      <p:sp>
        <p:nvSpPr>
          <p:cNvPr id="47130" name="矩形 47">
            <a:extLst>
              <a:ext uri="{FF2B5EF4-FFF2-40B4-BE49-F238E27FC236}">
                <a16:creationId xmlns:a16="http://schemas.microsoft.com/office/drawing/2014/main" id="{1392AA58-DEBA-489E-85BD-E7720786A6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34588" y="1639888"/>
            <a:ext cx="1958975" cy="78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ß"/>
              <a:defRPr sz="3200" b="1">
                <a:solidFill>
                  <a:schemeClr val="tx1"/>
                </a:solidFill>
                <a:latin typeface="Consolas" panose="020B0609020204030204" pitchFamily="49" charset="0"/>
              </a:defRPr>
            </a:lvl1pPr>
            <a:lvl2pPr marL="742950" indent="-28575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 b="1">
                <a:solidFill>
                  <a:srgbClr val="333399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2pPr>
            <a:lvl3pPr marL="1143000" indent="-2286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 b="1">
                <a:solidFill>
                  <a:srgbClr val="3333CC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3pPr>
            <a:lvl4pPr marL="1600200" indent="-2286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4pPr>
            <a:lvl5pPr marL="2057400" indent="-2286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9pPr>
          </a:lstStyle>
          <a:p>
            <a:pPr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sz="160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(5)</a:t>
            </a:r>
            <a:r>
              <a:rPr lang="zh-CN" altLang="en-US" sz="160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强化学习驱动的智能避障决策算法</a:t>
            </a:r>
            <a:endParaRPr lang="en-US" altLang="zh-CN" sz="160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49" name="直接连接符 48">
            <a:extLst>
              <a:ext uri="{FF2B5EF4-FFF2-40B4-BE49-F238E27FC236}">
                <a16:creationId xmlns:a16="http://schemas.microsoft.com/office/drawing/2014/main" id="{71A5EAD2-0304-4E8C-B7F1-DB48A5FCCD58}"/>
              </a:ext>
            </a:extLst>
          </p:cNvPr>
          <p:cNvCxnSpPr>
            <a:cxnSpLocks/>
          </p:cNvCxnSpPr>
          <p:nvPr/>
        </p:nvCxnSpPr>
        <p:spPr>
          <a:xfrm>
            <a:off x="10128250" y="2398713"/>
            <a:ext cx="1512888" cy="0"/>
          </a:xfrm>
          <a:prstGeom prst="line">
            <a:avLst/>
          </a:prstGeom>
          <a:ln w="38100">
            <a:solidFill>
              <a:srgbClr val="3F81E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连接符 49">
            <a:extLst>
              <a:ext uri="{FF2B5EF4-FFF2-40B4-BE49-F238E27FC236}">
                <a16:creationId xmlns:a16="http://schemas.microsoft.com/office/drawing/2014/main" id="{124C8E7D-732B-4F67-9CF5-60B35C301F12}"/>
              </a:ext>
            </a:extLst>
          </p:cNvPr>
          <p:cNvCxnSpPr>
            <a:cxnSpLocks/>
          </p:cNvCxnSpPr>
          <p:nvPr/>
        </p:nvCxnSpPr>
        <p:spPr>
          <a:xfrm>
            <a:off x="10128250" y="2398713"/>
            <a:ext cx="0" cy="612775"/>
          </a:xfrm>
          <a:prstGeom prst="line">
            <a:avLst/>
          </a:prstGeom>
          <a:ln w="38100">
            <a:solidFill>
              <a:srgbClr val="3F81E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133" name="文本框 52">
            <a:extLst>
              <a:ext uri="{FF2B5EF4-FFF2-40B4-BE49-F238E27FC236}">
                <a16:creationId xmlns:a16="http://schemas.microsoft.com/office/drawing/2014/main" id="{EC645F01-BA56-4A94-950C-1EF68E719A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3675" y="1484313"/>
            <a:ext cx="9582150" cy="7997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ß"/>
              <a:defRPr sz="3200" b="1">
                <a:solidFill>
                  <a:schemeClr val="tx1"/>
                </a:solidFill>
                <a:latin typeface="Consolas" panose="020B0609020204030204" pitchFamily="49" charset="0"/>
              </a:defRPr>
            </a:lvl1pPr>
            <a:lvl2pPr marL="800100" indent="-3429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 b="1">
                <a:solidFill>
                  <a:srgbClr val="333399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2pPr>
            <a:lvl3pPr marL="1143000" indent="-2286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 b="1">
                <a:solidFill>
                  <a:srgbClr val="3333CC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3pPr>
            <a:lvl4pPr marL="1600200" indent="-2286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4pPr>
            <a:lvl5pPr marL="2057400" indent="-2286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p"/>
            </a:pPr>
            <a:r>
              <a:rPr lang="zh-CN" altLang="en-US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任务拆解为</a:t>
            </a:r>
            <a:r>
              <a:rPr lang="en-US" altLang="zh-CN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个子任务，</a:t>
            </a:r>
            <a:r>
              <a:rPr lang="en-US" altLang="zh-CN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Noto Sans SC" panose="020B0200000000000000" pitchFamily="34" charset="-122"/>
              </a:rPr>
              <a:t> 任务分解-逐步实现-迭代优化</a:t>
            </a:r>
            <a:endParaRPr lang="en-US" altLang="zh-CN" sz="20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p"/>
            </a:pPr>
            <a:endParaRPr lang="en-US" altLang="zh-CN" sz="20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47134" name="图片 1">
            <a:extLst>
              <a:ext uri="{FF2B5EF4-FFF2-40B4-BE49-F238E27FC236}">
                <a16:creationId xmlns:a16="http://schemas.microsoft.com/office/drawing/2014/main" id="{1260AE14-8268-4AFF-ADD4-18ABBA227C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0888" y="5381625"/>
            <a:ext cx="1423987" cy="1060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7135" name="图片 6">
            <a:extLst>
              <a:ext uri="{FF2B5EF4-FFF2-40B4-BE49-F238E27FC236}">
                <a16:creationId xmlns:a16="http://schemas.microsoft.com/office/drawing/2014/main" id="{F0060F27-E5D5-4D01-A7EC-8FBEF0AA24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19375" y="4657725"/>
            <a:ext cx="1660525" cy="1236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7136" name="图片 11">
            <a:extLst>
              <a:ext uri="{FF2B5EF4-FFF2-40B4-BE49-F238E27FC236}">
                <a16:creationId xmlns:a16="http://schemas.microsoft.com/office/drawing/2014/main" id="{5940EA5C-30AE-4213-BD7A-06F3F9F01D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02200" y="4319588"/>
            <a:ext cx="1692275" cy="1258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7137" name="图片 18">
            <a:extLst>
              <a:ext uri="{FF2B5EF4-FFF2-40B4-BE49-F238E27FC236}">
                <a16:creationId xmlns:a16="http://schemas.microsoft.com/office/drawing/2014/main" id="{2CC40263-68E1-4A06-92E2-416A9F4E99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78850" y="3146425"/>
            <a:ext cx="1557338" cy="1173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7138" name="图片 21">
            <a:extLst>
              <a:ext uri="{FF2B5EF4-FFF2-40B4-BE49-F238E27FC236}">
                <a16:creationId xmlns:a16="http://schemas.microsoft.com/office/drawing/2014/main" id="{1E155B74-2A27-4E2F-BB0C-E490A75C5F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61613" y="3176588"/>
            <a:ext cx="1484312" cy="1122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4" name="文本框 52">
            <a:extLst>
              <a:ext uri="{FF2B5EF4-FFF2-40B4-BE49-F238E27FC236}">
                <a16:creationId xmlns:a16="http://schemas.microsoft.com/office/drawing/2014/main" id="{9DA82089-C5DE-4EEF-9061-F9041F5237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4248" y="1029586"/>
            <a:ext cx="5561722" cy="38752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ß"/>
              <a:defRPr sz="3200" b="1">
                <a:solidFill>
                  <a:schemeClr val="tx1"/>
                </a:solidFill>
                <a:latin typeface="Consolas" panose="020B0609020204030204" pitchFamily="49" charset="0"/>
              </a:defRPr>
            </a:lvl1pPr>
            <a:lvl2pPr marL="800100" indent="-3429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 b="1">
                <a:solidFill>
                  <a:srgbClr val="333399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2pPr>
            <a:lvl3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 b="1">
                <a:solidFill>
                  <a:srgbClr val="3333CC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3pPr>
            <a:lvl4pPr marL="1714500" indent="-3429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4pPr>
            <a:lvl5pPr marL="2057400" indent="-2286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p"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任务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1——</a:t>
            </a: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小鸟与环境状态空间数据结构建模</a:t>
            </a: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800100" marR="0" lvl="1" indent="-34290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p"/>
              <a:tabLst/>
              <a:defRPr/>
            </a:pP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任务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目标（运行</a:t>
            </a: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效果）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914400" marR="0" lvl="2" indent="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编程实现一个 </a:t>
            </a: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Flappy Bird </a:t>
            </a: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基础原型，程序启动后在 </a:t>
            </a: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640×480 </a:t>
            </a: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窗口中加载背景图与小鸟贴图，小鸟在重力作用下持续下落；玩家通过键盘按键（如空格键）控制小鸟上抬，不按键则继续下落。每帧更新小鸟的速度与位置，并限制小鸟不能飞出窗口上下边界；按 </a:t>
            </a: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ESC </a:t>
            </a: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可退出程序。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1DF8E92B-827B-3B38-FC63-8B8DF643BB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33639"/>
            <a:ext cx="11615737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ß"/>
              <a:defRPr sz="3200" b="1">
                <a:solidFill>
                  <a:schemeClr val="tx1"/>
                </a:solidFill>
                <a:latin typeface="Consolas" panose="020B0609020204030204" pitchFamily="49" charset="0"/>
              </a:defRPr>
            </a:lvl1pPr>
            <a:lvl2pPr marL="742950" indent="-28575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 b="1">
                <a:solidFill>
                  <a:srgbClr val="333399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2pPr>
            <a:lvl3pPr marL="1143000" indent="-2286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 b="1">
                <a:solidFill>
                  <a:srgbClr val="3333CC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3pPr>
            <a:lvl4pPr marL="1600200" indent="-2286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4pPr>
            <a:lvl5pPr marL="2057400" indent="-2286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综合实践项目</a:t>
            </a:r>
            <a:r>
              <a:rPr kumimoji="1" lang="en-US" altLang="zh-CN" sz="32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——FlappyBird</a:t>
            </a:r>
            <a:r>
              <a:rPr kumimoji="1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闯关系统</a:t>
            </a:r>
            <a:endParaRPr kumimoji="1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4178632D-29DB-596B-388D-DB7E3E0C3BE0}"/>
              </a:ext>
            </a:extLst>
          </p:cNvPr>
          <p:cNvCxnSpPr>
            <a:cxnSpLocks/>
          </p:cNvCxnSpPr>
          <p:nvPr/>
        </p:nvCxnSpPr>
        <p:spPr>
          <a:xfrm>
            <a:off x="6261238" y="1291472"/>
            <a:ext cx="0" cy="4846416"/>
          </a:xfrm>
          <a:prstGeom prst="line">
            <a:avLst/>
          </a:prstGeom>
          <a:ln w="28575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bird1.mp4">
            <a:hlinkClick r:id="" action="ppaction://media"/>
            <a:extLst>
              <a:ext uri="{FF2B5EF4-FFF2-40B4-BE49-F238E27FC236}">
                <a16:creationId xmlns:a16="http://schemas.microsoft.com/office/drawing/2014/main" id="{02020FEB-1D2E-4D66-896E-B4C4FB0DBC07}"/>
              </a:ext>
            </a:extLst>
          </p:cNvPr>
          <p:cNvPicPr>
            <a:picLocks noChangeAspect="1" noChangeArrowheads="1"/>
          </p:cNvPicPr>
          <p:nvPr>
            <a:videoFile r:link="rId3"/>
            <p:extLst>
              <p:ext uri="{DAA4B4D4-6D71-4841-9C94-3DE7FCFB9230}">
                <p14:media xmlns:p14="http://schemas.microsoft.com/office/powerpoint/2010/main" r:link="rId2"/>
              </p:ext>
            </p:ext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73297" y="1399648"/>
            <a:ext cx="4677062" cy="35051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4378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video>
              <p:cMediaNode vol="80000">
                <p:cTn id="12" fill="hold" display="0">
                  <p:stCondLst>
                    <p:cond delay="indefinite"/>
                  </p:stCondLst>
                </p:cTn>
                <p:tgtEl>
                  <p:spTgt spid="11"/>
                </p:tgtEl>
              </p:cMediaNode>
            </p:vide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4" name="文本框 52">
            <a:extLst>
              <a:ext uri="{FF2B5EF4-FFF2-40B4-BE49-F238E27FC236}">
                <a16:creationId xmlns:a16="http://schemas.microsoft.com/office/drawing/2014/main" id="{9DA82089-C5DE-4EEF-9061-F9041F5237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4248" y="1029586"/>
            <a:ext cx="5561722" cy="499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ß"/>
              <a:defRPr sz="3200" b="1">
                <a:solidFill>
                  <a:schemeClr val="tx1"/>
                </a:solidFill>
                <a:latin typeface="Consolas" panose="020B0609020204030204" pitchFamily="49" charset="0"/>
              </a:defRPr>
            </a:lvl1pPr>
            <a:lvl2pPr marL="800100" indent="-3429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 b="1">
                <a:solidFill>
                  <a:srgbClr val="333399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2pPr>
            <a:lvl3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 b="1">
                <a:solidFill>
                  <a:srgbClr val="3333CC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3pPr>
            <a:lvl4pPr marL="1714500" indent="-3429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4pPr>
            <a:lvl5pPr marL="2057400" indent="-2286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p"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任务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1——</a:t>
            </a: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小鸟与环境状态空间数据结构建模</a:t>
            </a: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1DF8E92B-827B-3B38-FC63-8B8DF643BB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33639"/>
            <a:ext cx="11615737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ß"/>
              <a:defRPr sz="3200" b="1">
                <a:solidFill>
                  <a:schemeClr val="tx1"/>
                </a:solidFill>
                <a:latin typeface="Consolas" panose="020B0609020204030204" pitchFamily="49" charset="0"/>
              </a:defRPr>
            </a:lvl1pPr>
            <a:lvl2pPr marL="742950" indent="-28575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 b="1">
                <a:solidFill>
                  <a:srgbClr val="333399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2pPr>
            <a:lvl3pPr marL="1143000" indent="-2286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 b="1">
                <a:solidFill>
                  <a:srgbClr val="3333CC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3pPr>
            <a:lvl4pPr marL="1600200" indent="-2286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4pPr>
            <a:lvl5pPr marL="2057400" indent="-2286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综合实践项目</a:t>
            </a:r>
            <a:r>
              <a:rPr kumimoji="1" lang="en-US" altLang="zh-CN" sz="32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——FlappyBird</a:t>
            </a:r>
            <a:r>
              <a:rPr kumimoji="1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闯关系统</a:t>
            </a:r>
            <a:endParaRPr kumimoji="1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AutoShape 20">
            <a:extLst>
              <a:ext uri="{FF2B5EF4-FFF2-40B4-BE49-F238E27FC236}">
                <a16:creationId xmlns:a16="http://schemas.microsoft.com/office/drawing/2014/main" id="{451AC417-5F5F-4231-A37E-7155871305B3}"/>
              </a:ext>
            </a:extLst>
          </p:cNvPr>
          <p:cNvSpPr/>
          <p:nvPr/>
        </p:nvSpPr>
        <p:spPr>
          <a:xfrm>
            <a:off x="630238" y="1575178"/>
            <a:ext cx="5207000" cy="4826000"/>
          </a:xfrm>
          <a:prstGeom prst="roundRect">
            <a:avLst>
              <a:gd name="adj" fmla="val 2631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00000">
                <a:alpha val="5000"/>
              </a:srgbClr>
            </a:outerShdw>
          </a:effectLst>
        </p:spPr>
        <p:txBody>
          <a:bodyPr lIns="63500" tIns="63500" rIns="63500" bIns="635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pic>
        <p:nvPicPr>
          <p:cNvPr id="7" name="Picture 5">
            <a:extLst>
              <a:ext uri="{FF2B5EF4-FFF2-40B4-BE49-F238E27FC236}">
                <a16:creationId xmlns:a16="http://schemas.microsoft.com/office/drawing/2014/main" id="{B765F591-A9BB-4AD6-BCC0-29D9D682957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23000" y="2012439"/>
            <a:ext cx="406400" cy="406400"/>
          </a:xfrm>
          <a:prstGeom prst="rect">
            <a:avLst/>
          </a:prstGeom>
        </p:spPr>
      </p:pic>
      <p:sp>
        <p:nvSpPr>
          <p:cNvPr id="8" name="AutoShape 6">
            <a:extLst>
              <a:ext uri="{FF2B5EF4-FFF2-40B4-BE49-F238E27FC236}">
                <a16:creationId xmlns:a16="http://schemas.microsoft.com/office/drawing/2014/main" id="{57D8BA1F-5B30-498F-86F2-9F371FCFA5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31000" y="1863214"/>
            <a:ext cx="4699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pitchFamily="34" charset="-122"/>
                <a:sym typeface="Noto Sans SC" panose="020B0200000000000000" pitchFamily="34" charset="-122"/>
              </a:rPr>
              <a:t>图形图像库使用 </a:t>
            </a: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pitchFamily="34" charset="-122"/>
                <a:sym typeface="Noto Sans SC" panose="020B0200000000000000" pitchFamily="34" charset="-122"/>
              </a:rPr>
              <a:t>(EasyX)</a:t>
            </a:r>
            <a:endParaRPr kumimoji="0" lang="en-US" altLang="zh-CN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Noto Sans SC" panose="020B0200000000000000" pitchFamily="34" charset="-122"/>
            </a:endParaRPr>
          </a:p>
        </p:txBody>
      </p:sp>
      <p:sp>
        <p:nvSpPr>
          <p:cNvPr id="9" name="AutoShape 7">
            <a:extLst>
              <a:ext uri="{FF2B5EF4-FFF2-40B4-BE49-F238E27FC236}">
                <a16:creationId xmlns:a16="http://schemas.microsoft.com/office/drawing/2014/main" id="{FE08A0B3-142F-410E-986B-00BDD2D9E1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31000" y="2355339"/>
            <a:ext cx="4699000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pitchFamily="34" charset="-122"/>
                <a:sym typeface="Noto Sans SC" panose="020B0200000000000000" pitchFamily="34" charset="-122"/>
              </a:rPr>
              <a:t>掌握窗口创建、图片资源加载与绘制技术，构建游戏的视觉基础。</a:t>
            </a:r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Noto Sans SC" panose="020B0200000000000000" pitchFamily="34" charset="-122"/>
            </a:endParaRPr>
          </a:p>
        </p:txBody>
      </p:sp>
      <p:pic>
        <p:nvPicPr>
          <p:cNvPr id="10" name="Picture 8">
            <a:extLst>
              <a:ext uri="{FF2B5EF4-FFF2-40B4-BE49-F238E27FC236}">
                <a16:creationId xmlns:a16="http://schemas.microsoft.com/office/drawing/2014/main" id="{F16C14D8-A24B-45A4-A08D-FEC13235393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23000" y="3028439"/>
            <a:ext cx="406400" cy="406400"/>
          </a:xfrm>
          <a:prstGeom prst="rect">
            <a:avLst/>
          </a:prstGeom>
        </p:spPr>
      </p:pic>
      <p:sp>
        <p:nvSpPr>
          <p:cNvPr id="12" name="AutoShape 9">
            <a:extLst>
              <a:ext uri="{FF2B5EF4-FFF2-40B4-BE49-F238E27FC236}">
                <a16:creationId xmlns:a16="http://schemas.microsoft.com/office/drawing/2014/main" id="{830DB7F9-2098-4410-A897-720D099B64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31000" y="2990339"/>
            <a:ext cx="4699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pitchFamily="34" charset="-122"/>
                <a:sym typeface="Noto Sans SC" panose="020B0200000000000000" pitchFamily="34" charset="-122"/>
              </a:rPr>
              <a:t>游戏状态封装 </a:t>
            </a: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pitchFamily="34" charset="-122"/>
                <a:sym typeface="Noto Sans SC" panose="020B0200000000000000" pitchFamily="34" charset="-122"/>
              </a:rPr>
              <a:t>(Struct)</a:t>
            </a:r>
            <a:endParaRPr kumimoji="0" lang="en-US" altLang="zh-CN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Noto Sans SC" panose="020B0200000000000000" pitchFamily="34" charset="-122"/>
            </a:endParaRPr>
          </a:p>
        </p:txBody>
      </p:sp>
      <p:sp>
        <p:nvSpPr>
          <p:cNvPr id="13" name="AutoShape 10">
            <a:extLst>
              <a:ext uri="{FF2B5EF4-FFF2-40B4-BE49-F238E27FC236}">
                <a16:creationId xmlns:a16="http://schemas.microsoft.com/office/drawing/2014/main" id="{B1DEFFBD-FDC5-4383-B876-5B2F362626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31000" y="3371339"/>
            <a:ext cx="4699000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pitchFamily="34" charset="-122"/>
                <a:sym typeface="Noto Sans SC" panose="020B0200000000000000" pitchFamily="34" charset="-122"/>
              </a:rPr>
              <a:t>利用结构体封装小鸟的位置、速度等属性，体现面向对象的编程思想。</a:t>
            </a:r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Noto Sans SC" panose="020B0200000000000000" pitchFamily="34" charset="-122"/>
            </a:endParaRPr>
          </a:p>
        </p:txBody>
      </p:sp>
      <p:pic>
        <p:nvPicPr>
          <p:cNvPr id="14" name="Picture 11">
            <a:extLst>
              <a:ext uri="{FF2B5EF4-FFF2-40B4-BE49-F238E27FC236}">
                <a16:creationId xmlns:a16="http://schemas.microsoft.com/office/drawing/2014/main" id="{AD55E314-6663-4E3F-91F6-2D820455337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23000" y="4044439"/>
            <a:ext cx="406400" cy="406400"/>
          </a:xfrm>
          <a:prstGeom prst="rect">
            <a:avLst/>
          </a:prstGeom>
        </p:spPr>
      </p:pic>
      <p:sp>
        <p:nvSpPr>
          <p:cNvPr id="16" name="AutoShape 12">
            <a:extLst>
              <a:ext uri="{FF2B5EF4-FFF2-40B4-BE49-F238E27FC236}">
                <a16:creationId xmlns:a16="http://schemas.microsoft.com/office/drawing/2014/main" id="{11E61822-BA7D-48F4-B709-8940E1E84C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31000" y="4006339"/>
            <a:ext cx="4699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pitchFamily="34" charset="-122"/>
                <a:sym typeface="Noto Sans SC" panose="020B0200000000000000" pitchFamily="34" charset="-122"/>
              </a:rPr>
              <a:t>物理运动模拟</a:t>
            </a:r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Noto Sans SC" panose="020B0200000000000000" pitchFamily="34" charset="-122"/>
            </a:endParaRPr>
          </a:p>
        </p:txBody>
      </p:sp>
      <p:sp>
        <p:nvSpPr>
          <p:cNvPr id="17" name="AutoShape 13">
            <a:extLst>
              <a:ext uri="{FF2B5EF4-FFF2-40B4-BE49-F238E27FC236}">
                <a16:creationId xmlns:a16="http://schemas.microsoft.com/office/drawing/2014/main" id="{A9AE1E66-E388-4E41-9AB4-A7454171E8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31000" y="4387339"/>
            <a:ext cx="4699000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pitchFamily="34" charset="-122"/>
                <a:sym typeface="Noto Sans SC" panose="020B0200000000000000" pitchFamily="34" charset="-122"/>
              </a:rPr>
              <a:t>实现重力加速度与速度更新模拟自由下落，响应键盘输入实现拍翅上升。</a:t>
            </a:r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Noto Sans SC" panose="020B0200000000000000" pitchFamily="34" charset="-122"/>
            </a:endParaRPr>
          </a:p>
        </p:txBody>
      </p:sp>
      <p:pic>
        <p:nvPicPr>
          <p:cNvPr id="18" name="Picture 14">
            <a:extLst>
              <a:ext uri="{FF2B5EF4-FFF2-40B4-BE49-F238E27FC236}">
                <a16:creationId xmlns:a16="http://schemas.microsoft.com/office/drawing/2014/main" id="{AA536B83-CD19-4BD0-8EFF-C70ABB41D16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23000" y="5060439"/>
            <a:ext cx="406400" cy="406400"/>
          </a:xfrm>
          <a:prstGeom prst="rect">
            <a:avLst/>
          </a:prstGeom>
        </p:spPr>
      </p:pic>
      <p:sp>
        <p:nvSpPr>
          <p:cNvPr id="19" name="AutoShape 15">
            <a:extLst>
              <a:ext uri="{FF2B5EF4-FFF2-40B4-BE49-F238E27FC236}">
                <a16:creationId xmlns:a16="http://schemas.microsoft.com/office/drawing/2014/main" id="{1A95745A-A3AC-44B4-810B-002B39F8E3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31000" y="5022339"/>
            <a:ext cx="4699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pitchFamily="34" charset="-122"/>
                <a:sym typeface="Noto Sans SC" panose="020B0200000000000000" pitchFamily="34" charset="-122"/>
              </a:rPr>
              <a:t>游戏主循环 </a:t>
            </a: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pitchFamily="34" charset="-122"/>
                <a:sym typeface="Noto Sans SC" panose="020B0200000000000000" pitchFamily="34" charset="-122"/>
              </a:rPr>
              <a:t>(Game Loop)</a:t>
            </a:r>
            <a:endParaRPr kumimoji="0" lang="en-US" altLang="zh-CN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Noto Sans SC" panose="020B0200000000000000" pitchFamily="34" charset="-122"/>
            </a:endParaRPr>
          </a:p>
        </p:txBody>
      </p:sp>
      <p:sp>
        <p:nvSpPr>
          <p:cNvPr id="20" name="AutoShape 16">
            <a:extLst>
              <a:ext uri="{FF2B5EF4-FFF2-40B4-BE49-F238E27FC236}">
                <a16:creationId xmlns:a16="http://schemas.microsoft.com/office/drawing/2014/main" id="{CFCC3B9B-80BD-4D35-9265-E8F45CF951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31000" y="5403339"/>
            <a:ext cx="4699000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pitchFamily="34" charset="-122"/>
                <a:sym typeface="Noto Sans SC" panose="020B0200000000000000" pitchFamily="34" charset="-122"/>
              </a:rPr>
              <a:t>理解并实现“输入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pitchFamily="34" charset="-122"/>
                <a:sym typeface="Noto Sans SC" panose="020B0200000000000000" pitchFamily="34" charset="-122"/>
              </a:rPr>
              <a:t>-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pitchFamily="34" charset="-122"/>
                <a:sym typeface="Noto Sans SC" panose="020B0200000000000000" pitchFamily="34" charset="-122"/>
              </a:rPr>
              <a:t>更新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pitchFamily="34" charset="-122"/>
                <a:sym typeface="Noto Sans SC" panose="020B0200000000000000" pitchFamily="34" charset="-122"/>
              </a:rPr>
              <a:t>-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pitchFamily="34" charset="-122"/>
                <a:sym typeface="Noto Sans SC" panose="020B0200000000000000" pitchFamily="34" charset="-122"/>
              </a:rPr>
              <a:t>渲染”的经典机制，掌握实时交互系统的核心逻辑。</a:t>
            </a:r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Noto Sans SC" panose="020B0200000000000000" pitchFamily="34" charset="-122"/>
            </a:endParaRPr>
          </a:p>
        </p:txBody>
      </p:sp>
      <p:pic>
        <p:nvPicPr>
          <p:cNvPr id="22" name="bird1.mp4">
            <a:hlinkClick r:id="" action="ppaction://media"/>
            <a:extLst>
              <a:ext uri="{FF2B5EF4-FFF2-40B4-BE49-F238E27FC236}">
                <a16:creationId xmlns:a16="http://schemas.microsoft.com/office/drawing/2014/main" id="{BA09A7F8-F0B4-4B7F-9C3C-F1ECE2936D81}"/>
              </a:ext>
            </a:extLst>
          </p:cNvPr>
          <p:cNvPicPr>
            <a:picLocks noChangeAspect="1" noChangeArrowheads="1"/>
          </p:cNvPicPr>
          <p:nvPr>
            <a:videoFile r:link="rId3"/>
            <p:extLst>
              <p:ext uri="{DAA4B4D4-6D71-4841-9C94-3DE7FCFB9230}">
                <p14:media xmlns:p14="http://schemas.microsoft.com/office/powerpoint/2010/main" r:link="rId2"/>
              </p:ext>
            </p:ext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2067303"/>
            <a:ext cx="3529013" cy="264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" name="Picture 6">
            <a:extLst>
              <a:ext uri="{FF2B5EF4-FFF2-40B4-BE49-F238E27FC236}">
                <a16:creationId xmlns:a16="http://schemas.microsoft.com/office/drawing/2014/main" id="{39A36DEF-0D5B-487A-B520-29AAF274DDCA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86500" y="1464752"/>
            <a:ext cx="355600" cy="355600"/>
          </a:xfrm>
          <a:prstGeom prst="rect">
            <a:avLst/>
          </a:prstGeom>
        </p:spPr>
      </p:pic>
      <p:sp>
        <p:nvSpPr>
          <p:cNvPr id="24" name="AutoShape 7">
            <a:extLst>
              <a:ext uri="{FF2B5EF4-FFF2-40B4-BE49-F238E27FC236}">
                <a16:creationId xmlns:a16="http://schemas.microsoft.com/office/drawing/2014/main" id="{6B90CB50-4255-4E5F-970C-176A972678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31000" y="1439352"/>
            <a:ext cx="4318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pitchFamily="34" charset="-122"/>
                <a:sym typeface="Noto Sans SC" panose="020B0200000000000000" pitchFamily="34" charset="-122"/>
              </a:rPr>
              <a:t>能力目标</a:t>
            </a:r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Noto Sans SC" panose="020B0200000000000000" pitchFamily="34" charset="-122"/>
            </a:endParaRPr>
          </a:p>
        </p:txBody>
      </p:sp>
      <p:cxnSp>
        <p:nvCxnSpPr>
          <p:cNvPr id="25" name="Connector 8">
            <a:extLst>
              <a:ext uri="{FF2B5EF4-FFF2-40B4-BE49-F238E27FC236}">
                <a16:creationId xmlns:a16="http://schemas.microsoft.com/office/drawing/2014/main" id="{530C0310-453C-4546-85D7-D12B01C2ADA0}"/>
              </a:ext>
            </a:extLst>
          </p:cNvPr>
          <p:cNvCxnSpPr>
            <a:cxnSpLocks noChangeShapeType="1"/>
          </p:cNvCxnSpPr>
          <p:nvPr/>
        </p:nvCxnSpPr>
        <p:spPr bwMode="auto">
          <a:xfrm rot="-9291">
            <a:off x="6286500" y="1902902"/>
            <a:ext cx="4699000" cy="12700"/>
          </a:xfrm>
          <a:prstGeom prst="straightConnector1">
            <a:avLst/>
          </a:prstGeom>
          <a:noFill/>
          <a:ln w="12700">
            <a:solidFill>
              <a:srgbClr val="38BDF8">
                <a:alpha val="30196"/>
              </a:srgbClr>
            </a:solidFill>
            <a:round/>
            <a:headEnd/>
            <a:tailEnd/>
          </a:ln>
        </p:spPr>
      </p:cxnSp>
    </p:spTree>
    <p:custDataLst>
      <p:tags r:id="rId1"/>
    </p:custDataLst>
    <p:extLst>
      <p:ext uri="{BB962C8B-B14F-4D97-AF65-F5344CB8AC3E}">
        <p14:creationId xmlns:p14="http://schemas.microsoft.com/office/powerpoint/2010/main" val="2085683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4378" fill="hold"/>
                                        <p:tgtEl>
                                          <p:spTgt spid="2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2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"/>
                  </p:tgtEl>
                </p:cond>
              </p:nextCondLst>
            </p:seq>
            <p:video>
              <p:cMediaNode vol="80000">
                <p:cTn id="12" fill="hold" display="0">
                  <p:stCondLst>
                    <p:cond delay="indefinite"/>
                  </p:stCondLst>
                </p:cTn>
                <p:tgtEl>
                  <p:spTgt spid="22"/>
                </p:tgtEl>
              </p:cMediaNode>
            </p:vide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4" name="文本框 52">
            <a:extLst>
              <a:ext uri="{FF2B5EF4-FFF2-40B4-BE49-F238E27FC236}">
                <a16:creationId xmlns:a16="http://schemas.microsoft.com/office/drawing/2014/main" id="{9DA82089-C5DE-4EEF-9061-F9041F5237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4248" y="1029586"/>
            <a:ext cx="5673810" cy="22132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ß"/>
              <a:defRPr sz="3200" b="1">
                <a:solidFill>
                  <a:schemeClr val="tx1"/>
                </a:solidFill>
                <a:latin typeface="Consolas" panose="020B0609020204030204" pitchFamily="49" charset="0"/>
              </a:defRPr>
            </a:lvl1pPr>
            <a:lvl2pPr marL="800100" indent="-3429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 b="1">
                <a:solidFill>
                  <a:srgbClr val="333399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2pPr>
            <a:lvl3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 b="1">
                <a:solidFill>
                  <a:srgbClr val="3333CC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3pPr>
            <a:lvl4pPr marL="1714500" indent="-3429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4pPr>
            <a:lvl5pPr marL="2057400" indent="-2286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p"/>
              <a:tabLst/>
              <a:defRPr/>
            </a:pP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任务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1——</a:t>
            </a: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小鸟与环境状态空间数据结构建模</a:t>
            </a: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lvl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p"/>
            </a:pPr>
            <a:r>
              <a:rPr lang="zh-CN" altLang="en-US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数据结构设计</a:t>
            </a:r>
            <a:endParaRPr lang="en-US" altLang="zh-CN" sz="20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marR="0" lvl="2" indent="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</a:rPr>
              <a:t>定义</a:t>
            </a: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小鸟数据结构</a:t>
            </a:r>
            <a:endParaRPr kumimoji="0" lang="en-US" altLang="zh-CN" sz="1800" b="1" i="0" u="none" strike="noStrike" kern="1200" cap="none" spc="0" normalizeH="0" baseline="0" noProof="0">
              <a:ln>
                <a:noFill/>
              </a:ln>
              <a:solidFill>
                <a:srgbClr val="3333CC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2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</a:rPr>
              <a:t>通过 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rPr>
              <a:t>vy 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</a:rPr>
              <a:t>控制小鸟垂直速度，通过 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rPr>
              <a:t>y 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</a:rPr>
              <a:t>控制位置，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rPr>
              <a:t>gravity 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</a:rPr>
              <a:t>用来模拟重力。</a:t>
            </a:r>
            <a:endPara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1DF8E92B-827B-3B38-FC63-8B8DF643BB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33639"/>
            <a:ext cx="11615737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ß"/>
              <a:defRPr sz="3200" b="1">
                <a:solidFill>
                  <a:schemeClr val="tx1"/>
                </a:solidFill>
                <a:latin typeface="Consolas" panose="020B0609020204030204" pitchFamily="49" charset="0"/>
              </a:defRPr>
            </a:lvl1pPr>
            <a:lvl2pPr marL="742950" indent="-28575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 b="1">
                <a:solidFill>
                  <a:srgbClr val="333399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2pPr>
            <a:lvl3pPr marL="1143000" indent="-2286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 b="1">
                <a:solidFill>
                  <a:srgbClr val="3333CC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3pPr>
            <a:lvl4pPr marL="1600200" indent="-2286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4pPr>
            <a:lvl5pPr marL="2057400" indent="-2286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综合实践项目</a:t>
            </a:r>
            <a:r>
              <a:rPr kumimoji="1" lang="en-US" altLang="zh-CN" sz="32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——FlappyBird</a:t>
            </a:r>
            <a:r>
              <a:rPr kumimoji="1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闯关系统</a:t>
            </a:r>
            <a:endParaRPr kumimoji="1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4178632D-29DB-596B-388D-DB7E3E0C3BE0}"/>
              </a:ext>
            </a:extLst>
          </p:cNvPr>
          <p:cNvCxnSpPr>
            <a:cxnSpLocks/>
          </p:cNvCxnSpPr>
          <p:nvPr/>
        </p:nvCxnSpPr>
        <p:spPr>
          <a:xfrm>
            <a:off x="6205147" y="1281276"/>
            <a:ext cx="0" cy="4846416"/>
          </a:xfrm>
          <a:prstGeom prst="line">
            <a:avLst/>
          </a:prstGeom>
          <a:ln w="28575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本框 20">
            <a:extLst>
              <a:ext uri="{FF2B5EF4-FFF2-40B4-BE49-F238E27FC236}">
                <a16:creationId xmlns:a16="http://schemas.microsoft.com/office/drawing/2014/main" id="{6FDE2618-6555-4D37-87C5-6A0F19F01BC7}"/>
              </a:ext>
            </a:extLst>
          </p:cNvPr>
          <p:cNvSpPr txBox="1"/>
          <p:nvPr/>
        </p:nvSpPr>
        <p:spPr>
          <a:xfrm>
            <a:off x="6280251" y="1580826"/>
            <a:ext cx="5911749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>
                <a:solidFill>
                  <a:srgbClr val="80808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#define</a:t>
            </a:r>
            <a:r>
              <a:rPr lang="en-US" altLang="zh-CN" sz="1800">
                <a:solidFill>
                  <a:srgbClr val="000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 </a:t>
            </a:r>
            <a:r>
              <a:rPr lang="en-US" altLang="zh-CN" sz="1800">
                <a:solidFill>
                  <a:srgbClr val="6F008A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WIN_W</a:t>
            </a:r>
            <a:r>
              <a:rPr lang="en-US" altLang="zh-CN" sz="1800">
                <a:solidFill>
                  <a:srgbClr val="000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 640          </a:t>
            </a:r>
            <a:r>
              <a:rPr lang="en-US" altLang="zh-CN" sz="1800">
                <a:solidFill>
                  <a:srgbClr val="008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// </a:t>
            </a:r>
            <a:r>
              <a:rPr lang="zh-CN" altLang="en-US" sz="1800">
                <a:solidFill>
                  <a:srgbClr val="008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窗口宽度</a:t>
            </a:r>
            <a:endParaRPr lang="zh-CN" altLang="en-US" sz="1800">
              <a:solidFill>
                <a:srgbClr val="000000"/>
              </a:solidFill>
              <a:highlight>
                <a:srgbClr val="FFFFFF"/>
              </a:highlight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r>
              <a:rPr lang="en-US" altLang="zh-CN" sz="1800">
                <a:solidFill>
                  <a:srgbClr val="80808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#define</a:t>
            </a:r>
            <a:r>
              <a:rPr lang="en-US" altLang="zh-CN" sz="1800">
                <a:solidFill>
                  <a:srgbClr val="000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 </a:t>
            </a:r>
            <a:r>
              <a:rPr lang="en-US" altLang="zh-CN" sz="1800">
                <a:solidFill>
                  <a:srgbClr val="6F008A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WIN_H</a:t>
            </a:r>
            <a:r>
              <a:rPr lang="en-US" altLang="zh-CN" sz="1800">
                <a:solidFill>
                  <a:srgbClr val="000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 480          </a:t>
            </a:r>
            <a:r>
              <a:rPr lang="en-US" altLang="zh-CN" sz="1800">
                <a:solidFill>
                  <a:srgbClr val="008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// </a:t>
            </a:r>
            <a:r>
              <a:rPr lang="zh-CN" altLang="en-US" sz="1800">
                <a:solidFill>
                  <a:srgbClr val="008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窗口高度</a:t>
            </a:r>
            <a:endParaRPr lang="zh-CN" altLang="en-US" sz="1800">
              <a:solidFill>
                <a:srgbClr val="000000"/>
              </a:solidFill>
              <a:highlight>
                <a:srgbClr val="FFFFFF"/>
              </a:highlight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endParaRPr lang="zh-CN" altLang="en-US" sz="1800">
              <a:solidFill>
                <a:srgbClr val="000000"/>
              </a:solidFill>
              <a:highlight>
                <a:srgbClr val="FFFFFF"/>
              </a:highlight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r>
              <a:rPr lang="en-US" altLang="zh-CN" sz="1800">
                <a:solidFill>
                  <a:srgbClr val="008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// </a:t>
            </a:r>
            <a:r>
              <a:rPr lang="zh-CN" altLang="en-US" sz="1800">
                <a:solidFill>
                  <a:srgbClr val="008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小鸟贴图显示尺寸</a:t>
            </a:r>
            <a:endParaRPr lang="en-US" altLang="zh-CN">
              <a:solidFill>
                <a:srgbClr val="008000"/>
              </a:solidFill>
              <a:highlight>
                <a:srgbClr val="FFFFFF"/>
              </a:highlight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r>
              <a:rPr lang="en-US" altLang="zh-CN" sz="1800">
                <a:solidFill>
                  <a:srgbClr val="80808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#define</a:t>
            </a:r>
            <a:r>
              <a:rPr lang="en-US" altLang="zh-CN" sz="1800">
                <a:solidFill>
                  <a:srgbClr val="000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 </a:t>
            </a:r>
            <a:r>
              <a:rPr lang="en-US" altLang="zh-CN" sz="1800">
                <a:solidFill>
                  <a:srgbClr val="6F008A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BIRD_W</a:t>
            </a:r>
            <a:r>
              <a:rPr lang="en-US" altLang="zh-CN" sz="1800">
                <a:solidFill>
                  <a:srgbClr val="000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 40</a:t>
            </a:r>
          </a:p>
          <a:p>
            <a:r>
              <a:rPr lang="en-US" altLang="zh-CN" sz="1800">
                <a:solidFill>
                  <a:srgbClr val="80808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#define</a:t>
            </a:r>
            <a:r>
              <a:rPr lang="en-US" altLang="zh-CN" sz="1800">
                <a:solidFill>
                  <a:srgbClr val="000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 </a:t>
            </a:r>
            <a:r>
              <a:rPr lang="en-US" altLang="zh-CN" sz="1800">
                <a:solidFill>
                  <a:srgbClr val="6F008A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BIRD_H</a:t>
            </a:r>
            <a:r>
              <a:rPr lang="en-US" altLang="zh-CN" sz="1800">
                <a:solidFill>
                  <a:srgbClr val="000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 30</a:t>
            </a:r>
          </a:p>
          <a:p>
            <a:endParaRPr lang="en-US" altLang="zh-CN">
              <a:solidFill>
                <a:srgbClr val="000000"/>
              </a:solidFill>
              <a:highlight>
                <a:srgbClr val="FFFFFF"/>
              </a:highlight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r>
              <a:rPr lang="en-US" altLang="zh-CN" sz="1800">
                <a:solidFill>
                  <a:srgbClr val="008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// </a:t>
            </a:r>
            <a:r>
              <a:rPr lang="zh-CN" altLang="en-US" sz="1800">
                <a:solidFill>
                  <a:srgbClr val="008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初始化小鸟</a:t>
            </a:r>
            <a:endParaRPr lang="zh-CN" altLang="en-US" sz="1800">
              <a:solidFill>
                <a:srgbClr val="000000"/>
              </a:solidFill>
              <a:highlight>
                <a:srgbClr val="FFFFFF"/>
              </a:highlight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r>
              <a:rPr lang="en-US" altLang="zh-CN" sz="1800">
                <a:solidFill>
                  <a:srgbClr val="0000FF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void</a:t>
            </a:r>
            <a:r>
              <a:rPr lang="en-US" altLang="zh-CN" sz="1800">
                <a:solidFill>
                  <a:srgbClr val="000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 InitBird(</a:t>
            </a:r>
            <a:r>
              <a:rPr lang="en-US" altLang="zh-CN" sz="1800">
                <a:solidFill>
                  <a:srgbClr val="2B91AF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Bird</a:t>
            </a:r>
            <a:r>
              <a:rPr lang="en-US" altLang="zh-CN" sz="1800">
                <a:solidFill>
                  <a:srgbClr val="000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* </a:t>
            </a:r>
            <a:r>
              <a:rPr lang="en-US" altLang="zh-CN" sz="1800">
                <a:solidFill>
                  <a:srgbClr val="80808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bird</a:t>
            </a:r>
            <a:r>
              <a:rPr lang="en-US" altLang="zh-CN" sz="1800">
                <a:solidFill>
                  <a:srgbClr val="000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) {</a:t>
            </a:r>
          </a:p>
          <a:p>
            <a:r>
              <a:rPr lang="en-US" altLang="zh-CN" sz="1800">
                <a:solidFill>
                  <a:srgbClr val="000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    </a:t>
            </a:r>
            <a:r>
              <a:rPr lang="en-US" altLang="zh-CN" sz="1800">
                <a:solidFill>
                  <a:srgbClr val="80808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bird</a:t>
            </a:r>
            <a:r>
              <a:rPr lang="en-US" altLang="zh-CN" sz="1800">
                <a:solidFill>
                  <a:srgbClr val="000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-&gt;x = 120;    </a:t>
            </a:r>
            <a:r>
              <a:rPr lang="en-US" altLang="zh-CN" sz="1800">
                <a:solidFill>
                  <a:srgbClr val="008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// </a:t>
            </a:r>
            <a:r>
              <a:rPr lang="zh-CN" altLang="en-US" sz="1800">
                <a:solidFill>
                  <a:srgbClr val="008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初始横坐标</a:t>
            </a:r>
            <a:endParaRPr lang="zh-CN" altLang="en-US" sz="1800">
              <a:solidFill>
                <a:srgbClr val="000000"/>
              </a:solidFill>
              <a:highlight>
                <a:srgbClr val="FFFFFF"/>
              </a:highlight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r>
              <a:rPr lang="en-US" altLang="zh-CN" sz="1800">
                <a:solidFill>
                  <a:srgbClr val="000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    </a:t>
            </a:r>
            <a:r>
              <a:rPr lang="en-US" altLang="zh-CN" sz="1800">
                <a:solidFill>
                  <a:srgbClr val="80808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bird</a:t>
            </a:r>
            <a:r>
              <a:rPr lang="en-US" altLang="zh-CN" sz="1800">
                <a:solidFill>
                  <a:srgbClr val="000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-&gt;y = </a:t>
            </a:r>
            <a:r>
              <a:rPr lang="en-US" altLang="zh-CN" sz="1800">
                <a:solidFill>
                  <a:srgbClr val="6F008A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WIN_H</a:t>
            </a:r>
            <a:r>
              <a:rPr lang="en-US" altLang="zh-CN" sz="1800">
                <a:solidFill>
                  <a:srgbClr val="000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 / 2.0f; </a:t>
            </a:r>
            <a:r>
              <a:rPr lang="en-US" altLang="zh-CN" sz="1800">
                <a:solidFill>
                  <a:srgbClr val="008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// </a:t>
            </a:r>
            <a:r>
              <a:rPr lang="zh-CN" altLang="en-US" sz="1800">
                <a:solidFill>
                  <a:srgbClr val="008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初始纵坐标</a:t>
            </a:r>
            <a:endParaRPr lang="zh-CN" altLang="en-US" sz="1800">
              <a:solidFill>
                <a:srgbClr val="000000"/>
              </a:solidFill>
              <a:highlight>
                <a:srgbClr val="FFFFFF"/>
              </a:highlight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r>
              <a:rPr lang="en-US" altLang="zh-CN" sz="1800">
                <a:solidFill>
                  <a:srgbClr val="000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    </a:t>
            </a:r>
            <a:r>
              <a:rPr lang="en-US" altLang="zh-CN" sz="1800">
                <a:solidFill>
                  <a:srgbClr val="80808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bird</a:t>
            </a:r>
            <a:r>
              <a:rPr lang="en-US" altLang="zh-CN" sz="1800">
                <a:solidFill>
                  <a:srgbClr val="000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-&gt;vy = 0.0f;    </a:t>
            </a:r>
            <a:r>
              <a:rPr lang="en-US" altLang="zh-CN" sz="1800">
                <a:solidFill>
                  <a:srgbClr val="008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// </a:t>
            </a:r>
            <a:r>
              <a:rPr lang="zh-CN" altLang="en-US" sz="1800">
                <a:solidFill>
                  <a:srgbClr val="008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初始速度</a:t>
            </a:r>
            <a:endParaRPr lang="zh-CN" altLang="en-US" sz="1800">
              <a:solidFill>
                <a:srgbClr val="000000"/>
              </a:solidFill>
              <a:highlight>
                <a:srgbClr val="FFFFFF"/>
              </a:highlight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r>
              <a:rPr lang="en-US" altLang="zh-CN" sz="1800">
                <a:solidFill>
                  <a:srgbClr val="000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    </a:t>
            </a:r>
            <a:r>
              <a:rPr lang="en-US" altLang="zh-CN" sz="1800">
                <a:solidFill>
                  <a:srgbClr val="80808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bird</a:t>
            </a:r>
            <a:r>
              <a:rPr lang="en-US" altLang="zh-CN" sz="1800">
                <a:solidFill>
                  <a:srgbClr val="000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-&gt;gravity = 0.35f; </a:t>
            </a:r>
            <a:r>
              <a:rPr lang="en-US" altLang="zh-CN" sz="1800">
                <a:solidFill>
                  <a:srgbClr val="008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// </a:t>
            </a:r>
            <a:r>
              <a:rPr lang="zh-CN" altLang="en-US" sz="1800">
                <a:solidFill>
                  <a:srgbClr val="008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重力加速度</a:t>
            </a:r>
            <a:endParaRPr lang="en-US" altLang="zh-CN" sz="1800">
              <a:solidFill>
                <a:srgbClr val="008000"/>
              </a:solidFill>
              <a:highlight>
                <a:srgbClr val="FFFFFF"/>
              </a:highlight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r>
              <a:rPr lang="en-US" altLang="zh-CN">
                <a:solidFill>
                  <a:srgbClr val="008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                           //</a:t>
            </a:r>
            <a:r>
              <a:rPr lang="zh-CN" altLang="en-US" sz="1800">
                <a:solidFill>
                  <a:srgbClr val="008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（可以根据需要调整）</a:t>
            </a:r>
            <a:endParaRPr lang="zh-CN" altLang="en-US" sz="1800">
              <a:solidFill>
                <a:srgbClr val="000000"/>
              </a:solidFill>
              <a:highlight>
                <a:srgbClr val="FFFFFF"/>
              </a:highlight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r>
              <a:rPr lang="en-US" altLang="zh-CN" sz="1800">
                <a:solidFill>
                  <a:srgbClr val="000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}</a:t>
            </a:r>
            <a:endParaRPr lang="zh-CN" altLang="en-US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8191D848-F582-4841-836B-C1F0D771134F}"/>
              </a:ext>
            </a:extLst>
          </p:cNvPr>
          <p:cNvSpPr txBox="1"/>
          <p:nvPr/>
        </p:nvSpPr>
        <p:spPr>
          <a:xfrm>
            <a:off x="184248" y="3776497"/>
            <a:ext cx="597311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highlight>
                  <a:srgbClr val="FFFFFF"/>
                </a:highlight>
                <a:uLnTx/>
                <a:uFillTx/>
                <a:latin typeface="新宋体" panose="02010609030101010101" pitchFamily="49" charset="-122"/>
                <a:ea typeface="新宋体" panose="02010609030101010101" pitchFamily="49" charset="-122"/>
                <a:cs typeface="+mn-cs"/>
              </a:rPr>
              <a:t>// 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highlight>
                  <a:srgbClr val="FFFFFF"/>
                </a:highlight>
                <a:uLnTx/>
                <a:uFillTx/>
                <a:latin typeface="新宋体" panose="02010609030101010101" pitchFamily="49" charset="-122"/>
                <a:ea typeface="新宋体" panose="02010609030101010101" pitchFamily="49" charset="-122"/>
                <a:cs typeface="+mn-cs"/>
              </a:rPr>
              <a:t>定义小鸟的数据结构</a:t>
            </a: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highlight>
                <a:srgbClr val="FFFFFF"/>
              </a:highlight>
              <a:uLnTx/>
              <a:uFillTx/>
              <a:latin typeface="新宋体" panose="02010609030101010101" pitchFamily="49" charset="-122"/>
              <a:ea typeface="新宋体" panose="02010609030101010101" pitchFamily="49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FF"/>
                </a:highlight>
                <a:uLnTx/>
                <a:uFillTx/>
                <a:latin typeface="新宋体" panose="02010609030101010101" pitchFamily="49" charset="-122"/>
                <a:ea typeface="新宋体" panose="02010609030101010101" pitchFamily="49" charset="-122"/>
                <a:cs typeface="+mn-cs"/>
              </a:rPr>
              <a:t>typedef</a:t>
            </a: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新宋体" panose="02010609030101010101" pitchFamily="49" charset="-122"/>
                <a:ea typeface="新宋体" panose="02010609030101010101" pitchFamily="49" charset="-122"/>
                <a:cs typeface="+mn-cs"/>
              </a:rPr>
              <a:t> </a:t>
            </a: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FF"/>
                </a:highlight>
                <a:uLnTx/>
                <a:uFillTx/>
                <a:latin typeface="新宋体" panose="02010609030101010101" pitchFamily="49" charset="-122"/>
                <a:ea typeface="新宋体" panose="02010609030101010101" pitchFamily="49" charset="-122"/>
                <a:cs typeface="+mn-cs"/>
              </a:rPr>
              <a:t>struct</a:t>
            </a: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新宋体" panose="02010609030101010101" pitchFamily="49" charset="-122"/>
                <a:ea typeface="新宋体" panose="02010609030101010101" pitchFamily="49" charset="-122"/>
                <a:cs typeface="+mn-cs"/>
              </a:rPr>
              <a:t> 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新宋体" panose="02010609030101010101" pitchFamily="49" charset="-122"/>
                <a:ea typeface="新宋体" panose="02010609030101010101" pitchFamily="49" charset="-122"/>
                <a:cs typeface="+mn-cs"/>
              </a:rPr>
              <a:t>    </a:t>
            </a: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FF"/>
                </a:highlight>
                <a:uLnTx/>
                <a:uFillTx/>
                <a:latin typeface="新宋体" panose="02010609030101010101" pitchFamily="49" charset="-122"/>
                <a:ea typeface="新宋体" panose="02010609030101010101" pitchFamily="49" charset="-122"/>
                <a:cs typeface="+mn-cs"/>
              </a:rPr>
              <a:t>int</a:t>
            </a: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新宋体" panose="02010609030101010101" pitchFamily="49" charset="-122"/>
                <a:ea typeface="新宋体" panose="02010609030101010101" pitchFamily="49" charset="-122"/>
                <a:cs typeface="+mn-cs"/>
              </a:rPr>
              <a:t> x, y;  </a:t>
            </a: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highlight>
                  <a:srgbClr val="FFFFFF"/>
                </a:highlight>
                <a:uLnTx/>
                <a:uFillTx/>
                <a:latin typeface="新宋体" panose="02010609030101010101" pitchFamily="49" charset="-122"/>
                <a:ea typeface="新宋体" panose="02010609030101010101" pitchFamily="49" charset="-122"/>
                <a:cs typeface="+mn-cs"/>
              </a:rPr>
              <a:t>// 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highlight>
                  <a:srgbClr val="FFFFFF"/>
                </a:highlight>
                <a:uLnTx/>
                <a:uFillTx/>
                <a:latin typeface="新宋体" panose="02010609030101010101" pitchFamily="49" charset="-122"/>
                <a:ea typeface="新宋体" panose="02010609030101010101" pitchFamily="49" charset="-122"/>
                <a:cs typeface="+mn-cs"/>
              </a:rPr>
              <a:t>位置（小鸟中心点）</a:t>
            </a: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highlight>
                <a:srgbClr val="FFFFFF"/>
              </a:highlight>
              <a:uLnTx/>
              <a:uFillTx/>
              <a:latin typeface="新宋体" panose="02010609030101010101" pitchFamily="49" charset="-122"/>
              <a:ea typeface="新宋体" panose="02010609030101010101" pitchFamily="49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新宋体" panose="02010609030101010101" pitchFamily="49" charset="-122"/>
                <a:ea typeface="新宋体" panose="02010609030101010101" pitchFamily="49" charset="-122"/>
                <a:cs typeface="+mn-cs"/>
              </a:rPr>
              <a:t>    </a:t>
            </a: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FF"/>
                </a:highlight>
                <a:uLnTx/>
                <a:uFillTx/>
                <a:latin typeface="新宋体" panose="02010609030101010101" pitchFamily="49" charset="-122"/>
                <a:ea typeface="新宋体" panose="02010609030101010101" pitchFamily="49" charset="-122"/>
                <a:cs typeface="+mn-cs"/>
              </a:rPr>
              <a:t>float</a:t>
            </a: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新宋体" panose="02010609030101010101" pitchFamily="49" charset="-122"/>
                <a:ea typeface="新宋体" panose="02010609030101010101" pitchFamily="49" charset="-122"/>
                <a:cs typeface="+mn-cs"/>
              </a:rPr>
              <a:t> vy;  </a:t>
            </a: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highlight>
                  <a:srgbClr val="FFFFFF"/>
                </a:highlight>
                <a:uLnTx/>
                <a:uFillTx/>
                <a:latin typeface="新宋体" panose="02010609030101010101" pitchFamily="49" charset="-122"/>
                <a:ea typeface="新宋体" panose="02010609030101010101" pitchFamily="49" charset="-122"/>
                <a:cs typeface="+mn-cs"/>
              </a:rPr>
              <a:t>// 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highlight>
                  <a:srgbClr val="FFFFFF"/>
                </a:highlight>
                <a:uLnTx/>
                <a:uFillTx/>
                <a:latin typeface="新宋体" panose="02010609030101010101" pitchFamily="49" charset="-122"/>
                <a:ea typeface="新宋体" panose="02010609030101010101" pitchFamily="49" charset="-122"/>
                <a:cs typeface="+mn-cs"/>
              </a:rPr>
              <a:t>垂直速度（正数</a:t>
            </a: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highlight>
                  <a:srgbClr val="FFFFFF"/>
                </a:highlight>
                <a:uLnTx/>
                <a:uFillTx/>
                <a:latin typeface="新宋体" panose="02010609030101010101" pitchFamily="49" charset="-122"/>
                <a:ea typeface="新宋体" panose="02010609030101010101" pitchFamily="49" charset="-122"/>
                <a:cs typeface="+mn-cs"/>
              </a:rPr>
              <a:t>: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highlight>
                  <a:srgbClr val="FFFFFF"/>
                </a:highlight>
                <a:uLnTx/>
                <a:uFillTx/>
                <a:latin typeface="新宋体" panose="02010609030101010101" pitchFamily="49" charset="-122"/>
                <a:ea typeface="新宋体" panose="02010609030101010101" pitchFamily="49" charset="-122"/>
                <a:cs typeface="+mn-cs"/>
              </a:rPr>
              <a:t>下落</a:t>
            </a: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highlight>
                  <a:srgbClr val="FFFFFF"/>
                </a:highlight>
                <a:uLnTx/>
                <a:uFillTx/>
                <a:latin typeface="新宋体" panose="02010609030101010101" pitchFamily="49" charset="-122"/>
                <a:ea typeface="新宋体" panose="02010609030101010101" pitchFamily="49" charset="-122"/>
                <a:cs typeface="+mn-cs"/>
              </a:rPr>
              <a:t>,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highlight>
                  <a:srgbClr val="FFFFFF"/>
                </a:highlight>
                <a:uLnTx/>
                <a:uFillTx/>
                <a:latin typeface="新宋体" panose="02010609030101010101" pitchFamily="49" charset="-122"/>
                <a:ea typeface="新宋体" panose="02010609030101010101" pitchFamily="49" charset="-122"/>
                <a:cs typeface="+mn-cs"/>
              </a:rPr>
              <a:t>负数</a:t>
            </a: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highlight>
                  <a:srgbClr val="FFFFFF"/>
                </a:highlight>
                <a:uLnTx/>
                <a:uFillTx/>
                <a:latin typeface="新宋体" panose="02010609030101010101" pitchFamily="49" charset="-122"/>
                <a:ea typeface="新宋体" panose="02010609030101010101" pitchFamily="49" charset="-122"/>
                <a:cs typeface="+mn-cs"/>
              </a:rPr>
              <a:t>: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highlight>
                  <a:srgbClr val="FFFFFF"/>
                </a:highlight>
                <a:uLnTx/>
                <a:uFillTx/>
                <a:latin typeface="新宋体" panose="02010609030101010101" pitchFamily="49" charset="-122"/>
                <a:ea typeface="新宋体" panose="02010609030101010101" pitchFamily="49" charset="-122"/>
                <a:cs typeface="+mn-cs"/>
              </a:rPr>
              <a:t>上升）</a:t>
            </a: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highlight>
                <a:srgbClr val="FFFFFF"/>
              </a:highlight>
              <a:uLnTx/>
              <a:uFillTx/>
              <a:latin typeface="新宋体" panose="02010609030101010101" pitchFamily="49" charset="-122"/>
              <a:ea typeface="新宋体" panose="02010609030101010101" pitchFamily="49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新宋体" panose="02010609030101010101" pitchFamily="49" charset="-122"/>
                <a:ea typeface="新宋体" panose="02010609030101010101" pitchFamily="49" charset="-122"/>
                <a:cs typeface="+mn-cs"/>
              </a:rPr>
              <a:t>    </a:t>
            </a: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FF"/>
                </a:highlight>
                <a:uLnTx/>
                <a:uFillTx/>
                <a:latin typeface="新宋体" panose="02010609030101010101" pitchFamily="49" charset="-122"/>
                <a:ea typeface="新宋体" panose="02010609030101010101" pitchFamily="49" charset="-122"/>
                <a:cs typeface="+mn-cs"/>
              </a:rPr>
              <a:t>float</a:t>
            </a: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新宋体" panose="02010609030101010101" pitchFamily="49" charset="-122"/>
                <a:ea typeface="新宋体" panose="02010609030101010101" pitchFamily="49" charset="-122"/>
                <a:cs typeface="+mn-cs"/>
              </a:rPr>
              <a:t> gravity; </a:t>
            </a: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highlight>
                  <a:srgbClr val="FFFFFF"/>
                </a:highlight>
                <a:uLnTx/>
                <a:uFillTx/>
                <a:latin typeface="新宋体" panose="02010609030101010101" pitchFamily="49" charset="-122"/>
                <a:ea typeface="新宋体" panose="02010609030101010101" pitchFamily="49" charset="-122"/>
                <a:cs typeface="+mn-cs"/>
              </a:rPr>
              <a:t>// 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highlight>
                  <a:srgbClr val="FFFFFF"/>
                </a:highlight>
                <a:uLnTx/>
                <a:uFillTx/>
                <a:latin typeface="新宋体" panose="02010609030101010101" pitchFamily="49" charset="-122"/>
                <a:ea typeface="新宋体" panose="02010609030101010101" pitchFamily="49" charset="-122"/>
                <a:cs typeface="+mn-cs"/>
              </a:rPr>
              <a:t>重力加速度</a:t>
            </a: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highlight>
                <a:srgbClr val="FFFFFF"/>
              </a:highlight>
              <a:uLnTx/>
              <a:uFillTx/>
              <a:latin typeface="新宋体" panose="02010609030101010101" pitchFamily="49" charset="-122"/>
              <a:ea typeface="新宋体" panose="02010609030101010101" pitchFamily="49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新宋体" panose="02010609030101010101" pitchFamily="49" charset="-122"/>
                <a:ea typeface="新宋体" panose="02010609030101010101" pitchFamily="49" charset="-122"/>
                <a:cs typeface="+mn-cs"/>
              </a:rPr>
              <a:t>} </a:t>
            </a: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2B91AF"/>
                </a:solidFill>
                <a:effectLst/>
                <a:highlight>
                  <a:srgbClr val="FFFFFF"/>
                </a:highlight>
                <a:uLnTx/>
                <a:uFillTx/>
                <a:latin typeface="新宋体" panose="02010609030101010101" pitchFamily="49" charset="-122"/>
                <a:ea typeface="新宋体" panose="02010609030101010101" pitchFamily="49" charset="-122"/>
                <a:cs typeface="+mn-cs"/>
              </a:rPr>
              <a:t>Bird</a:t>
            </a: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新宋体" panose="02010609030101010101" pitchFamily="49" charset="-122"/>
                <a:ea typeface="新宋体" panose="02010609030101010101" pitchFamily="49" charset="-122"/>
                <a:cs typeface="+mn-cs"/>
              </a:rPr>
              <a:t>;</a:t>
            </a: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4" name="文本框 52">
            <a:extLst>
              <a:ext uri="{FF2B5EF4-FFF2-40B4-BE49-F238E27FC236}">
                <a16:creationId xmlns:a16="http://schemas.microsoft.com/office/drawing/2014/main" id="{9DA82089-C5DE-4EEF-9061-F9041F5237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4248" y="1029586"/>
            <a:ext cx="5815396" cy="499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ß"/>
              <a:defRPr sz="3200" b="1">
                <a:solidFill>
                  <a:schemeClr val="tx1"/>
                </a:solidFill>
                <a:latin typeface="Consolas" panose="020B0609020204030204" pitchFamily="49" charset="0"/>
              </a:defRPr>
            </a:lvl1pPr>
            <a:lvl2pPr marL="800100" indent="-3429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 b="1">
                <a:solidFill>
                  <a:srgbClr val="333399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2pPr>
            <a:lvl3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 b="1">
                <a:solidFill>
                  <a:srgbClr val="3333CC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3pPr>
            <a:lvl4pPr marL="1714500" indent="-3429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4pPr>
            <a:lvl5pPr marL="2057400" indent="-2286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p"/>
              <a:tabLst/>
              <a:defRPr/>
            </a:pP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任务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1——</a:t>
            </a: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小鸟与环境状态空间数据结构建模</a:t>
            </a: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1DF8E92B-827B-3B38-FC63-8B8DF643BB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33639"/>
            <a:ext cx="11615737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ß"/>
              <a:defRPr sz="3200" b="1">
                <a:solidFill>
                  <a:schemeClr val="tx1"/>
                </a:solidFill>
                <a:latin typeface="Consolas" panose="020B0609020204030204" pitchFamily="49" charset="0"/>
              </a:defRPr>
            </a:lvl1pPr>
            <a:lvl2pPr marL="742950" indent="-28575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 b="1">
                <a:solidFill>
                  <a:srgbClr val="333399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2pPr>
            <a:lvl3pPr marL="1143000" indent="-2286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 b="1">
                <a:solidFill>
                  <a:srgbClr val="3333CC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3pPr>
            <a:lvl4pPr marL="1600200" indent="-2286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4pPr>
            <a:lvl5pPr marL="2057400" indent="-2286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综合实践项目</a:t>
            </a:r>
            <a:r>
              <a:rPr kumimoji="1" lang="en-US" altLang="zh-CN" sz="32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——FlappyBird</a:t>
            </a:r>
            <a:r>
              <a:rPr kumimoji="1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闯关系统</a:t>
            </a:r>
            <a:endParaRPr kumimoji="1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4178632D-29DB-596B-388D-DB7E3E0C3BE0}"/>
              </a:ext>
            </a:extLst>
          </p:cNvPr>
          <p:cNvCxnSpPr>
            <a:cxnSpLocks/>
          </p:cNvCxnSpPr>
          <p:nvPr/>
        </p:nvCxnSpPr>
        <p:spPr>
          <a:xfrm>
            <a:off x="6240542" y="1303270"/>
            <a:ext cx="0" cy="4846416"/>
          </a:xfrm>
          <a:prstGeom prst="line">
            <a:avLst/>
          </a:prstGeom>
          <a:ln w="28575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本框 18">
            <a:extLst>
              <a:ext uri="{FF2B5EF4-FFF2-40B4-BE49-F238E27FC236}">
                <a16:creationId xmlns:a16="http://schemas.microsoft.com/office/drawing/2014/main" id="{7883B9ED-DD6C-489C-A68B-32E89B636783}"/>
              </a:ext>
            </a:extLst>
          </p:cNvPr>
          <p:cNvSpPr txBox="1"/>
          <p:nvPr/>
        </p:nvSpPr>
        <p:spPr>
          <a:xfrm>
            <a:off x="267426" y="1663157"/>
            <a:ext cx="597311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highlight>
                  <a:srgbClr val="FFFFFF"/>
                </a:highlight>
                <a:uLnTx/>
                <a:uFillTx/>
                <a:latin typeface="新宋体" panose="02010609030101010101" pitchFamily="49" charset="-122"/>
                <a:ea typeface="新宋体" panose="02010609030101010101" pitchFamily="49" charset="-122"/>
                <a:cs typeface="+mn-cs"/>
              </a:rPr>
              <a:t>// 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highlight>
                  <a:srgbClr val="FFFFFF"/>
                </a:highlight>
                <a:uLnTx/>
                <a:uFillTx/>
                <a:latin typeface="新宋体" panose="02010609030101010101" pitchFamily="49" charset="-122"/>
                <a:ea typeface="新宋体" panose="02010609030101010101" pitchFamily="49" charset="-122"/>
                <a:cs typeface="+mn-cs"/>
              </a:rPr>
              <a:t>定义小鸟的数据结构</a:t>
            </a: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highlight>
                <a:srgbClr val="FFFFFF"/>
              </a:highlight>
              <a:uLnTx/>
              <a:uFillTx/>
              <a:latin typeface="新宋体" panose="02010609030101010101" pitchFamily="49" charset="-122"/>
              <a:ea typeface="新宋体" panose="02010609030101010101" pitchFamily="49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FF"/>
                </a:highlight>
                <a:uLnTx/>
                <a:uFillTx/>
                <a:latin typeface="新宋体" panose="02010609030101010101" pitchFamily="49" charset="-122"/>
                <a:ea typeface="新宋体" panose="02010609030101010101" pitchFamily="49" charset="-122"/>
                <a:cs typeface="+mn-cs"/>
              </a:rPr>
              <a:t>typedef</a:t>
            </a: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新宋体" panose="02010609030101010101" pitchFamily="49" charset="-122"/>
                <a:ea typeface="新宋体" panose="02010609030101010101" pitchFamily="49" charset="-122"/>
                <a:cs typeface="+mn-cs"/>
              </a:rPr>
              <a:t> </a:t>
            </a: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FF"/>
                </a:highlight>
                <a:uLnTx/>
                <a:uFillTx/>
                <a:latin typeface="新宋体" panose="02010609030101010101" pitchFamily="49" charset="-122"/>
                <a:ea typeface="新宋体" panose="02010609030101010101" pitchFamily="49" charset="-122"/>
                <a:cs typeface="+mn-cs"/>
              </a:rPr>
              <a:t>struct</a:t>
            </a: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新宋体" panose="02010609030101010101" pitchFamily="49" charset="-122"/>
                <a:ea typeface="新宋体" panose="02010609030101010101" pitchFamily="49" charset="-122"/>
                <a:cs typeface="+mn-cs"/>
              </a:rPr>
              <a:t> 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新宋体" panose="02010609030101010101" pitchFamily="49" charset="-122"/>
                <a:ea typeface="新宋体" panose="02010609030101010101" pitchFamily="49" charset="-122"/>
                <a:cs typeface="+mn-cs"/>
              </a:rPr>
              <a:t>    </a:t>
            </a: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FF"/>
                </a:highlight>
                <a:uLnTx/>
                <a:uFillTx/>
                <a:latin typeface="新宋体" panose="02010609030101010101" pitchFamily="49" charset="-122"/>
                <a:ea typeface="新宋体" panose="02010609030101010101" pitchFamily="49" charset="-122"/>
                <a:cs typeface="+mn-cs"/>
              </a:rPr>
              <a:t>int</a:t>
            </a: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新宋体" panose="02010609030101010101" pitchFamily="49" charset="-122"/>
                <a:ea typeface="新宋体" panose="02010609030101010101" pitchFamily="49" charset="-122"/>
                <a:cs typeface="+mn-cs"/>
              </a:rPr>
              <a:t> x, y;  </a:t>
            </a: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highlight>
                  <a:srgbClr val="FFFFFF"/>
                </a:highlight>
                <a:uLnTx/>
                <a:uFillTx/>
                <a:latin typeface="新宋体" panose="02010609030101010101" pitchFamily="49" charset="-122"/>
                <a:ea typeface="新宋体" panose="02010609030101010101" pitchFamily="49" charset="-122"/>
                <a:cs typeface="+mn-cs"/>
              </a:rPr>
              <a:t>// 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highlight>
                  <a:srgbClr val="FFFFFF"/>
                </a:highlight>
                <a:uLnTx/>
                <a:uFillTx/>
                <a:latin typeface="新宋体" panose="02010609030101010101" pitchFamily="49" charset="-122"/>
                <a:ea typeface="新宋体" panose="02010609030101010101" pitchFamily="49" charset="-122"/>
                <a:cs typeface="+mn-cs"/>
              </a:rPr>
              <a:t>位置（小鸟中心点）</a:t>
            </a: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highlight>
                <a:srgbClr val="FFFFFF"/>
              </a:highlight>
              <a:uLnTx/>
              <a:uFillTx/>
              <a:latin typeface="新宋体" panose="02010609030101010101" pitchFamily="49" charset="-122"/>
              <a:ea typeface="新宋体" panose="02010609030101010101" pitchFamily="49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新宋体" panose="02010609030101010101" pitchFamily="49" charset="-122"/>
                <a:ea typeface="新宋体" panose="02010609030101010101" pitchFamily="49" charset="-122"/>
                <a:cs typeface="+mn-cs"/>
              </a:rPr>
              <a:t>    </a:t>
            </a: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FF"/>
                </a:highlight>
                <a:uLnTx/>
                <a:uFillTx/>
                <a:latin typeface="新宋体" panose="02010609030101010101" pitchFamily="49" charset="-122"/>
                <a:ea typeface="新宋体" panose="02010609030101010101" pitchFamily="49" charset="-122"/>
                <a:cs typeface="+mn-cs"/>
              </a:rPr>
              <a:t>float</a:t>
            </a: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新宋体" panose="02010609030101010101" pitchFamily="49" charset="-122"/>
                <a:ea typeface="新宋体" panose="02010609030101010101" pitchFamily="49" charset="-122"/>
                <a:cs typeface="+mn-cs"/>
              </a:rPr>
              <a:t> vy;  </a:t>
            </a: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highlight>
                  <a:srgbClr val="FFFFFF"/>
                </a:highlight>
                <a:uLnTx/>
                <a:uFillTx/>
                <a:latin typeface="新宋体" panose="02010609030101010101" pitchFamily="49" charset="-122"/>
                <a:ea typeface="新宋体" panose="02010609030101010101" pitchFamily="49" charset="-122"/>
                <a:cs typeface="+mn-cs"/>
              </a:rPr>
              <a:t>// 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highlight>
                  <a:srgbClr val="FFFFFF"/>
                </a:highlight>
                <a:uLnTx/>
                <a:uFillTx/>
                <a:latin typeface="新宋体" panose="02010609030101010101" pitchFamily="49" charset="-122"/>
                <a:ea typeface="新宋体" panose="02010609030101010101" pitchFamily="49" charset="-122"/>
                <a:cs typeface="+mn-cs"/>
              </a:rPr>
              <a:t>垂直速度（正数</a:t>
            </a: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highlight>
                  <a:srgbClr val="FFFFFF"/>
                </a:highlight>
                <a:uLnTx/>
                <a:uFillTx/>
                <a:latin typeface="新宋体" panose="02010609030101010101" pitchFamily="49" charset="-122"/>
                <a:ea typeface="新宋体" panose="02010609030101010101" pitchFamily="49" charset="-122"/>
                <a:cs typeface="+mn-cs"/>
              </a:rPr>
              <a:t>: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highlight>
                  <a:srgbClr val="FFFFFF"/>
                </a:highlight>
                <a:uLnTx/>
                <a:uFillTx/>
                <a:latin typeface="新宋体" panose="02010609030101010101" pitchFamily="49" charset="-122"/>
                <a:ea typeface="新宋体" panose="02010609030101010101" pitchFamily="49" charset="-122"/>
                <a:cs typeface="+mn-cs"/>
              </a:rPr>
              <a:t>下落</a:t>
            </a: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highlight>
                  <a:srgbClr val="FFFFFF"/>
                </a:highlight>
                <a:uLnTx/>
                <a:uFillTx/>
                <a:latin typeface="新宋体" panose="02010609030101010101" pitchFamily="49" charset="-122"/>
                <a:ea typeface="新宋体" panose="02010609030101010101" pitchFamily="49" charset="-122"/>
                <a:cs typeface="+mn-cs"/>
              </a:rPr>
              <a:t>,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highlight>
                  <a:srgbClr val="FFFFFF"/>
                </a:highlight>
                <a:uLnTx/>
                <a:uFillTx/>
                <a:latin typeface="新宋体" panose="02010609030101010101" pitchFamily="49" charset="-122"/>
                <a:ea typeface="新宋体" panose="02010609030101010101" pitchFamily="49" charset="-122"/>
                <a:cs typeface="+mn-cs"/>
              </a:rPr>
              <a:t>负数</a:t>
            </a: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highlight>
                  <a:srgbClr val="FFFFFF"/>
                </a:highlight>
                <a:uLnTx/>
                <a:uFillTx/>
                <a:latin typeface="新宋体" panose="02010609030101010101" pitchFamily="49" charset="-122"/>
                <a:ea typeface="新宋体" panose="02010609030101010101" pitchFamily="49" charset="-122"/>
                <a:cs typeface="+mn-cs"/>
              </a:rPr>
              <a:t>: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highlight>
                  <a:srgbClr val="FFFFFF"/>
                </a:highlight>
                <a:uLnTx/>
                <a:uFillTx/>
                <a:latin typeface="新宋体" panose="02010609030101010101" pitchFamily="49" charset="-122"/>
                <a:ea typeface="新宋体" panose="02010609030101010101" pitchFamily="49" charset="-122"/>
                <a:cs typeface="+mn-cs"/>
              </a:rPr>
              <a:t>上升）</a:t>
            </a: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highlight>
                <a:srgbClr val="FFFFFF"/>
              </a:highlight>
              <a:uLnTx/>
              <a:uFillTx/>
              <a:latin typeface="新宋体" panose="02010609030101010101" pitchFamily="49" charset="-122"/>
              <a:ea typeface="新宋体" panose="02010609030101010101" pitchFamily="49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新宋体" panose="02010609030101010101" pitchFamily="49" charset="-122"/>
                <a:ea typeface="新宋体" panose="02010609030101010101" pitchFamily="49" charset="-122"/>
                <a:cs typeface="+mn-cs"/>
              </a:rPr>
              <a:t>    </a:t>
            </a: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FF"/>
                </a:highlight>
                <a:uLnTx/>
                <a:uFillTx/>
                <a:latin typeface="新宋体" panose="02010609030101010101" pitchFamily="49" charset="-122"/>
                <a:ea typeface="新宋体" panose="02010609030101010101" pitchFamily="49" charset="-122"/>
                <a:cs typeface="+mn-cs"/>
              </a:rPr>
              <a:t>float</a:t>
            </a: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新宋体" panose="02010609030101010101" pitchFamily="49" charset="-122"/>
                <a:ea typeface="新宋体" panose="02010609030101010101" pitchFamily="49" charset="-122"/>
                <a:cs typeface="+mn-cs"/>
              </a:rPr>
              <a:t> gravity; </a:t>
            </a: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highlight>
                  <a:srgbClr val="FFFFFF"/>
                </a:highlight>
                <a:uLnTx/>
                <a:uFillTx/>
                <a:latin typeface="新宋体" panose="02010609030101010101" pitchFamily="49" charset="-122"/>
                <a:ea typeface="新宋体" panose="02010609030101010101" pitchFamily="49" charset="-122"/>
                <a:cs typeface="+mn-cs"/>
              </a:rPr>
              <a:t>// 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highlight>
                  <a:srgbClr val="FFFFFF"/>
                </a:highlight>
                <a:uLnTx/>
                <a:uFillTx/>
                <a:latin typeface="新宋体" panose="02010609030101010101" pitchFamily="49" charset="-122"/>
                <a:ea typeface="新宋体" panose="02010609030101010101" pitchFamily="49" charset="-122"/>
                <a:cs typeface="+mn-cs"/>
              </a:rPr>
              <a:t>重力加速度</a:t>
            </a: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highlight>
                <a:srgbClr val="FFFFFF"/>
              </a:highlight>
              <a:uLnTx/>
              <a:uFillTx/>
              <a:latin typeface="新宋体" panose="02010609030101010101" pitchFamily="49" charset="-122"/>
              <a:ea typeface="新宋体" panose="02010609030101010101" pitchFamily="49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新宋体" panose="02010609030101010101" pitchFamily="49" charset="-122"/>
                <a:ea typeface="新宋体" panose="02010609030101010101" pitchFamily="49" charset="-122"/>
                <a:cs typeface="+mn-cs"/>
              </a:rPr>
              <a:t>} </a:t>
            </a: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2B91AF"/>
                </a:solidFill>
                <a:effectLst/>
                <a:highlight>
                  <a:srgbClr val="FFFFFF"/>
                </a:highlight>
                <a:uLnTx/>
                <a:uFillTx/>
                <a:latin typeface="新宋体" panose="02010609030101010101" pitchFamily="49" charset="-122"/>
                <a:ea typeface="新宋体" panose="02010609030101010101" pitchFamily="49" charset="-122"/>
                <a:cs typeface="+mn-cs"/>
              </a:rPr>
              <a:t>Bird</a:t>
            </a: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新宋体" panose="02010609030101010101" pitchFamily="49" charset="-122"/>
                <a:ea typeface="新宋体" panose="02010609030101010101" pitchFamily="49" charset="-122"/>
                <a:cs typeface="+mn-cs"/>
              </a:rPr>
              <a:t>;</a:t>
            </a: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20" name="文本框 52">
            <a:extLst>
              <a:ext uri="{FF2B5EF4-FFF2-40B4-BE49-F238E27FC236}">
                <a16:creationId xmlns:a16="http://schemas.microsoft.com/office/drawing/2014/main" id="{B6E69F26-5B33-419C-AF22-26C728472B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51459" y="1086753"/>
            <a:ext cx="6112722" cy="42445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ß"/>
              <a:defRPr sz="3200" b="1">
                <a:solidFill>
                  <a:schemeClr val="tx1"/>
                </a:solidFill>
                <a:latin typeface="Consolas" panose="020B0609020204030204" pitchFamily="49" charset="0"/>
              </a:defRPr>
            </a:lvl1pPr>
            <a:lvl2pPr marL="800100" indent="-3429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 b="1">
                <a:solidFill>
                  <a:srgbClr val="333399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2pPr>
            <a:lvl3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 b="1">
                <a:solidFill>
                  <a:srgbClr val="3333CC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3pPr>
            <a:lvl4pPr marL="1714500" indent="-3429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4pPr>
            <a:lvl5pPr marL="2057400" indent="-2286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9pPr>
          </a:lstStyle>
          <a:p>
            <a:pPr marL="800100" marR="0" lvl="1" indent="-34290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p"/>
              <a:tabLst/>
              <a:defRPr/>
            </a:pP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核心算法思路（</a:t>
            </a:r>
            <a:r>
              <a:rPr lang="zh-CN" altLang="en-US" sz="200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小鸟飞行的物理模拟</a:t>
            </a: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）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914400" marR="0" lvl="2" indent="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玩家通过按空格键控制小鸟上下飞行，结合重力模拟更新小鸟位置。</a:t>
            </a:r>
            <a:endParaRPr kumimoji="0" lang="en-US" altLang="zh-CN" sz="1800" b="1" i="0" u="none" strike="noStrike" kern="1200" cap="none" spc="0" normalizeH="0" baseline="0" noProof="0">
              <a:ln>
                <a:noFill/>
              </a:ln>
              <a:solidFill>
                <a:srgbClr val="3333CC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914400" marR="0" lvl="2" indent="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实现重力加速度与速度更新模拟自由下落：</a:t>
            </a:r>
            <a:endParaRPr kumimoji="0" lang="en-US" altLang="zh-CN" sz="1800" b="1" i="0" u="none" strike="noStrike" kern="1200" cap="none" spc="0" normalizeH="0" baseline="0" noProof="0">
              <a:ln>
                <a:noFill/>
              </a:ln>
              <a:solidFill>
                <a:srgbClr val="3333CC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914400" marR="0" lvl="2" indent="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vy += gravity; </a:t>
            </a:r>
            <a:r>
              <a:rPr lang="en-US" altLang="zh-CN" sz="1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// </a:t>
            </a:r>
            <a:r>
              <a:rPr lang="zh-CN" altLang="zh-CN" sz="1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速度变化</a:t>
            </a:r>
            <a:endParaRPr lang="en-US" altLang="zh-CN" sz="18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y += vy; </a:t>
            </a:r>
            <a:r>
              <a:rPr lang="en-US" altLang="zh-CN" sz="1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// </a:t>
            </a:r>
            <a:r>
              <a:rPr lang="zh-CN" altLang="zh-CN" sz="1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位置变化</a:t>
            </a:r>
            <a:endParaRPr lang="en-US" altLang="zh-CN" sz="18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marR="0" lvl="2" indent="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响应空格键实现拍翅上升：</a:t>
            </a:r>
            <a:endParaRPr kumimoji="0" lang="en-US" altLang="zh-CN" sz="1800" b="1" i="0" u="none" strike="noStrike" kern="1200" cap="none" spc="0" normalizeH="0" baseline="0" noProof="0">
              <a:ln>
                <a:noFill/>
              </a:ln>
              <a:solidFill>
                <a:srgbClr val="3333CC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914400" marR="0" lvl="2" indent="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vy = -7.5f </a:t>
            </a:r>
          </a:p>
          <a:p>
            <a:pPr lvl="2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lang="zh-CN" altLang="en-US" sz="1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值可调整，负数模拟上升，因为屏幕坐标系里，</a:t>
            </a:r>
            <a:r>
              <a:rPr lang="en-US" altLang="zh-CN" sz="1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</a:t>
            </a:r>
            <a:r>
              <a:rPr lang="zh-CN" altLang="en-US" sz="1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值越小越靠上，</a:t>
            </a:r>
            <a:endParaRPr kumimoji="0" lang="en-US" altLang="zh-CN" sz="1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8" name="bird1.mp4">
            <a:hlinkClick r:id="" action="ppaction://media"/>
            <a:extLst>
              <a:ext uri="{FF2B5EF4-FFF2-40B4-BE49-F238E27FC236}">
                <a16:creationId xmlns:a16="http://schemas.microsoft.com/office/drawing/2014/main" id="{5B9BBFD8-9C1E-483D-9A08-3B28C4436159}"/>
              </a:ext>
            </a:extLst>
          </p:cNvPr>
          <p:cNvPicPr>
            <a:picLocks noChangeAspect="1" noChangeArrowheads="1"/>
          </p:cNvPicPr>
          <p:nvPr>
            <a:videoFile r:link="rId3"/>
            <p:extLst>
              <p:ext uri="{DAA4B4D4-6D71-4841-9C94-3DE7FCFB9230}">
                <p14:media xmlns:p14="http://schemas.microsoft.com/office/powerpoint/2010/main" r:link="rId2"/>
              </p:ext>
            </p:ext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6563" y="3551430"/>
            <a:ext cx="3652483" cy="27373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ADD3B08D-75F1-4EC0-8569-C2079FD3B409}"/>
              </a:ext>
            </a:extLst>
          </p:cNvPr>
          <p:cNvSpPr txBox="1"/>
          <p:nvPr/>
        </p:nvSpPr>
        <p:spPr>
          <a:xfrm>
            <a:off x="6583211" y="5263457"/>
            <a:ext cx="537578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>
                <a:solidFill>
                  <a:srgbClr val="008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// </a:t>
            </a:r>
            <a:r>
              <a:rPr lang="zh-CN" altLang="en-US">
                <a:solidFill>
                  <a:srgbClr val="008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按下</a:t>
            </a:r>
            <a:r>
              <a:rPr lang="zh-CN" altLang="en-US" sz="1800">
                <a:solidFill>
                  <a:srgbClr val="008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空格键上升</a:t>
            </a:r>
          </a:p>
          <a:p>
            <a:r>
              <a:rPr lang="en-US" altLang="zh-CN" sz="1800">
                <a:solidFill>
                  <a:srgbClr val="0000FF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if</a:t>
            </a:r>
            <a:r>
              <a:rPr lang="en-US" altLang="zh-CN" sz="1800">
                <a:solidFill>
                  <a:srgbClr val="000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 (GetAsyncKeyState(</a:t>
            </a:r>
            <a:r>
              <a:rPr lang="en-US" altLang="zh-CN" sz="1800">
                <a:solidFill>
                  <a:srgbClr val="6F008A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VK_SPACE</a:t>
            </a:r>
            <a:r>
              <a:rPr lang="en-US" altLang="zh-CN" sz="1800">
                <a:solidFill>
                  <a:srgbClr val="000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) &amp; 0x8000) {</a:t>
            </a:r>
          </a:p>
          <a:p>
            <a:r>
              <a:rPr lang="en-US" altLang="zh-CN" sz="1800">
                <a:solidFill>
                  <a:srgbClr val="000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    </a:t>
            </a:r>
            <a:r>
              <a:rPr lang="en-US" altLang="zh-CN" sz="1800">
                <a:solidFill>
                  <a:srgbClr val="80808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bird</a:t>
            </a:r>
            <a:r>
              <a:rPr lang="en-US" altLang="zh-CN" sz="1800">
                <a:solidFill>
                  <a:srgbClr val="000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-&gt;vy = -7.5f;  </a:t>
            </a:r>
            <a:r>
              <a:rPr lang="en-US" altLang="zh-CN" sz="1800">
                <a:solidFill>
                  <a:srgbClr val="008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// </a:t>
            </a:r>
            <a:r>
              <a:rPr lang="zh-CN" altLang="en-US" sz="1800">
                <a:solidFill>
                  <a:srgbClr val="008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跳跃速度</a:t>
            </a:r>
          </a:p>
          <a:p>
            <a:r>
              <a:rPr lang="en-US" altLang="zh-CN" sz="1800">
                <a:solidFill>
                  <a:srgbClr val="000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}</a:t>
            </a:r>
            <a:endParaRPr lang="zh-CN" alt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0847186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4378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  <p:video>
              <p:cMediaNode vol="80000">
                <p:cTn id="12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4" name="文本框 52">
            <a:extLst>
              <a:ext uri="{FF2B5EF4-FFF2-40B4-BE49-F238E27FC236}">
                <a16:creationId xmlns:a16="http://schemas.microsoft.com/office/drawing/2014/main" id="{9DA82089-C5DE-4EEF-9061-F9041F5237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4248" y="1029586"/>
            <a:ext cx="5815396" cy="499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ß"/>
              <a:defRPr sz="3200" b="1">
                <a:solidFill>
                  <a:schemeClr val="tx1"/>
                </a:solidFill>
                <a:latin typeface="Consolas" panose="020B0609020204030204" pitchFamily="49" charset="0"/>
              </a:defRPr>
            </a:lvl1pPr>
            <a:lvl2pPr marL="800100" indent="-3429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 b="1">
                <a:solidFill>
                  <a:srgbClr val="333399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2pPr>
            <a:lvl3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 b="1">
                <a:solidFill>
                  <a:srgbClr val="3333CC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3pPr>
            <a:lvl4pPr marL="1714500" indent="-3429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4pPr>
            <a:lvl5pPr marL="2057400" indent="-2286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p"/>
              <a:tabLst/>
              <a:defRPr/>
            </a:pP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任务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1——</a:t>
            </a: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小鸟与环境状态空间数据结构建模</a:t>
            </a: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1DF8E92B-827B-3B38-FC63-8B8DF643BB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33639"/>
            <a:ext cx="11615737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ß"/>
              <a:defRPr sz="3200" b="1">
                <a:solidFill>
                  <a:schemeClr val="tx1"/>
                </a:solidFill>
                <a:latin typeface="Consolas" panose="020B0609020204030204" pitchFamily="49" charset="0"/>
              </a:defRPr>
            </a:lvl1pPr>
            <a:lvl2pPr marL="742950" indent="-28575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 b="1">
                <a:solidFill>
                  <a:srgbClr val="333399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2pPr>
            <a:lvl3pPr marL="1143000" indent="-2286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 b="1">
                <a:solidFill>
                  <a:srgbClr val="3333CC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3pPr>
            <a:lvl4pPr marL="1600200" indent="-2286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4pPr>
            <a:lvl5pPr marL="2057400" indent="-2286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综合实践项目</a:t>
            </a:r>
            <a:r>
              <a:rPr kumimoji="1" lang="en-US" altLang="zh-CN" sz="32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——FlappyBird</a:t>
            </a:r>
            <a:r>
              <a:rPr kumimoji="1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闯关系统</a:t>
            </a:r>
            <a:endParaRPr kumimoji="1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4178632D-29DB-596B-388D-DB7E3E0C3BE0}"/>
              </a:ext>
            </a:extLst>
          </p:cNvPr>
          <p:cNvCxnSpPr>
            <a:cxnSpLocks/>
          </p:cNvCxnSpPr>
          <p:nvPr/>
        </p:nvCxnSpPr>
        <p:spPr>
          <a:xfrm>
            <a:off x="6240542" y="1303270"/>
            <a:ext cx="0" cy="4846416"/>
          </a:xfrm>
          <a:prstGeom prst="line">
            <a:avLst/>
          </a:prstGeom>
          <a:ln w="28575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bird1.mp4">
            <a:hlinkClick r:id="" action="ppaction://media"/>
            <a:extLst>
              <a:ext uri="{FF2B5EF4-FFF2-40B4-BE49-F238E27FC236}">
                <a16:creationId xmlns:a16="http://schemas.microsoft.com/office/drawing/2014/main" id="{5B9BBFD8-9C1E-483D-9A08-3B28C4436159}"/>
              </a:ext>
            </a:extLst>
          </p:cNvPr>
          <p:cNvPicPr>
            <a:picLocks noChangeAspect="1" noChangeArrowheads="1"/>
          </p:cNvPicPr>
          <p:nvPr>
            <a:videoFile r:link="rId3"/>
            <p:extLst>
              <p:ext uri="{DAA4B4D4-6D71-4841-9C94-3DE7FCFB9230}">
                <p14:media xmlns:p14="http://schemas.microsoft.com/office/powerpoint/2010/main" r:link="rId2"/>
              </p:ext>
            </p:ext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0161" y="1859757"/>
            <a:ext cx="4672642" cy="35018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文本框 52">
            <a:extLst>
              <a:ext uri="{FF2B5EF4-FFF2-40B4-BE49-F238E27FC236}">
                <a16:creationId xmlns:a16="http://schemas.microsoft.com/office/drawing/2014/main" id="{D1294189-1E6E-46BB-9F0B-726B843113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75586" y="1098552"/>
            <a:ext cx="6382693" cy="50755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ß"/>
              <a:defRPr sz="3200" b="1">
                <a:solidFill>
                  <a:schemeClr val="tx1"/>
                </a:solidFill>
                <a:latin typeface="Consolas" panose="020B0609020204030204" pitchFamily="49" charset="0"/>
              </a:defRPr>
            </a:lvl1pPr>
            <a:lvl2pPr marL="800100" indent="-3429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 b="1">
                <a:solidFill>
                  <a:srgbClr val="333399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2pPr>
            <a:lvl3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 b="1">
                <a:solidFill>
                  <a:srgbClr val="3333CC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3pPr>
            <a:lvl4pPr marL="1714500" indent="-3429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4pPr>
            <a:lvl5pPr marL="2057400" indent="-2286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9pPr>
          </a:lstStyle>
          <a:p>
            <a:pPr lvl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p"/>
              <a:defRPr/>
            </a:pP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核心算法思路（</a:t>
            </a:r>
            <a:r>
              <a:rPr lang="zh-CN" altLang="zh-CN" sz="200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图形渲染算法</a:t>
            </a: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）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914400" marR="0" lvl="2" indent="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采用</a:t>
            </a: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Alpha </a:t>
            </a: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混合算法，实现</a:t>
            </a:r>
            <a:r>
              <a:rPr lang="zh-CN" altLang="en-US" sz="180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小鸟</a:t>
            </a:r>
            <a:r>
              <a:rPr lang="en-US" altLang="zh-CN" sz="180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PNG</a:t>
            </a:r>
            <a:r>
              <a:rPr lang="zh-CN" altLang="en-US" sz="180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图像的</a:t>
            </a: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透明贴图 </a:t>
            </a:r>
            <a:endParaRPr kumimoji="0" lang="en-US" altLang="zh-CN" sz="1800" b="1" i="0" u="none" strike="noStrike" kern="120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914400" marR="0" lvl="2" indent="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lang="zh-CN" altLang="en-US" sz="1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把源图像的每个像素按其透明度与目标像素混合，实现前景半透明覆盖背景的效果。</a:t>
            </a:r>
            <a:endParaRPr lang="en-US" altLang="zh-CN" sz="18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marR="0" lvl="2" indent="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“双缓冲”技术，这是保证画面不闪屏</a:t>
            </a:r>
            <a:endParaRPr kumimoji="0" lang="en-US" altLang="zh-CN" sz="1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914400" marR="0" lvl="2" indent="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背景、小鸟</a:t>
            </a: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——</a:t>
            </a: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都先在这个幕后画板上画好</a:t>
            </a:r>
          </a:p>
          <a:p>
            <a:pPr marL="914400" marR="0" lvl="2" indent="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等所有东西都画完了，再把这个完整的“幕后画板”一次性“贴”到屏幕上。</a:t>
            </a:r>
          </a:p>
          <a:p>
            <a:pPr marL="914400" marR="0" lvl="2" indent="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在每帧开始绘制前调用：</a:t>
            </a: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BeginBatchDraw(); </a:t>
            </a:r>
          </a:p>
          <a:p>
            <a:pPr marL="914400" marR="0" lvl="2" indent="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</a:rPr>
              <a:t>游戏主循环里每一帧：</a:t>
            </a:r>
            <a:r>
              <a:rPr lang="en-US" altLang="zh-CN" sz="1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FlushBatchDraw()</a:t>
            </a:r>
            <a:endParaRPr lang="zh-CN" altLang="en-US" sz="18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marR="0" lvl="2" indent="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在所有绘制操作完成后调用：</a:t>
            </a: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EndBatchDraw();      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34248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4378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  <p:video>
              <p:cMediaNode vol="80000">
                <p:cTn id="12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4" name="文本框 52">
            <a:extLst>
              <a:ext uri="{FF2B5EF4-FFF2-40B4-BE49-F238E27FC236}">
                <a16:creationId xmlns:a16="http://schemas.microsoft.com/office/drawing/2014/main" id="{9DA82089-C5DE-4EEF-9061-F9041F5237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4248" y="1029586"/>
            <a:ext cx="11938926" cy="5537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ß"/>
              <a:defRPr sz="3200" b="1">
                <a:solidFill>
                  <a:schemeClr val="tx1"/>
                </a:solidFill>
                <a:latin typeface="Consolas" panose="020B0609020204030204" pitchFamily="49" charset="0"/>
              </a:defRPr>
            </a:lvl1pPr>
            <a:lvl2pPr marL="800100" indent="-3429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 b="1">
                <a:solidFill>
                  <a:srgbClr val="333399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2pPr>
            <a:lvl3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 b="1">
                <a:solidFill>
                  <a:srgbClr val="3333CC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3pPr>
            <a:lvl4pPr marL="1714500" indent="-3429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4pPr>
            <a:lvl5pPr marL="2057400" indent="-2286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p"/>
              <a:tabLst/>
              <a:defRPr/>
            </a:pP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任务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1——</a:t>
            </a: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小鸟与环境状态空间数据结构建模</a:t>
            </a: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800100" marR="0" lvl="1" indent="-34290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p"/>
              <a:tabLst/>
              <a:defRPr/>
            </a:pP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实现流程</a:t>
            </a:r>
            <a:endParaRPr kumimoji="0" lang="en-US" altLang="zh-CN" sz="1800" b="1" i="0" u="none" strike="noStrike" kern="1200" cap="none" spc="0" normalizeH="0" baseline="0" noProof="0">
              <a:ln>
                <a:noFill/>
              </a:ln>
              <a:solidFill>
                <a:srgbClr val="3333CC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914400" marR="0" lvl="2" indent="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）初始化阶段：</a:t>
            </a:r>
          </a:p>
          <a:p>
            <a:pPr marL="914400" marR="0" lvl="2" indent="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小鸟初始化：调用 </a:t>
            </a: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InitBird()</a:t>
            </a: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，设置初始位置（</a:t>
            </a: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x=120</a:t>
            </a: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y=240</a:t>
            </a: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）、速度（</a:t>
            </a: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vy=0</a:t>
            </a: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）、重力（</a:t>
            </a: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0.35f</a:t>
            </a: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）；</a:t>
            </a:r>
          </a:p>
          <a:p>
            <a:pPr marL="914400" marR="0" lvl="2" indent="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图形初始化：调用 </a:t>
            </a: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InitGraphics()</a:t>
            </a: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，创建 </a:t>
            </a: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640×480 </a:t>
            </a: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居中窗口，加载背景图 </a:t>
            </a: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 </a:t>
            </a: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小鸟贴图，开启批量绘制。</a:t>
            </a:r>
          </a:p>
          <a:p>
            <a:pPr marL="914400" marR="0" lvl="2" indent="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）主循环阶段：</a:t>
            </a:r>
          </a:p>
          <a:p>
            <a:pPr marL="914400" marR="0" lvl="2" indent="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while</a:t>
            </a: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(1) {</a:t>
            </a:r>
          </a:p>
          <a:p>
            <a:pPr marL="914400" marR="0" lvl="2" indent="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</a:t>
            </a: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检测键盘输入（空格键？</a:t>
            </a: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ESC</a:t>
            </a: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键？）</a:t>
            </a:r>
            <a:endParaRPr kumimoji="0" lang="en-US" altLang="zh-CN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914400" marR="0" lvl="2" indent="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lang="en-US" altLang="zh-CN" sz="1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更新小鸟状态（速度</a:t>
            </a: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+</a:t>
            </a: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重力，位置</a:t>
            </a: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+</a:t>
            </a: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速度，边界约束）</a:t>
            </a:r>
          </a:p>
          <a:p>
            <a:pPr marL="914400" marR="0" lvl="2" indent="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渲染绘制：绘制背景（覆盖整个窗口），绘制小鸟（用</a:t>
            </a: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Alpha</a:t>
            </a: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混合画在背景上实现透明贴图）</a:t>
            </a:r>
          </a:p>
          <a:p>
            <a:pPr marL="914400" marR="0" lvl="2" indent="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帧率控制：延时</a:t>
            </a: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16</a:t>
            </a: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毫秒（控制帧率在</a:t>
            </a: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60</a:t>
            </a: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帧</a:t>
            </a: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</a:t>
            </a: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秒）</a:t>
            </a: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}</a:t>
            </a:r>
          </a:p>
          <a:p>
            <a:pPr marL="914400" marR="0" lvl="2" indent="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）退出阶段：</a:t>
            </a:r>
          </a:p>
          <a:p>
            <a:pPr marL="914400" marR="0" lvl="2" indent="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检测到 </a:t>
            </a: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ESC </a:t>
            </a: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键时调用 </a:t>
            </a: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exit(0)</a:t>
            </a: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，终止程序，隐含执行 </a:t>
            </a: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closegraph() </a:t>
            </a: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关闭图形窗口，释放资源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1DF8E92B-827B-3B38-FC63-8B8DF643BB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33639"/>
            <a:ext cx="11615737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ß"/>
              <a:defRPr sz="3200" b="1">
                <a:solidFill>
                  <a:schemeClr val="tx1"/>
                </a:solidFill>
                <a:latin typeface="Consolas" panose="020B0609020204030204" pitchFamily="49" charset="0"/>
              </a:defRPr>
            </a:lvl1pPr>
            <a:lvl2pPr marL="742950" indent="-28575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 b="1">
                <a:solidFill>
                  <a:srgbClr val="333399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2pPr>
            <a:lvl3pPr marL="1143000" indent="-2286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 b="1">
                <a:solidFill>
                  <a:srgbClr val="3333CC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3pPr>
            <a:lvl4pPr marL="1600200" indent="-2286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4pPr>
            <a:lvl5pPr marL="2057400" indent="-2286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综合实践项目</a:t>
            </a:r>
            <a:r>
              <a:rPr kumimoji="1" lang="en-US" altLang="zh-CN" sz="32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——FlappyBird</a:t>
            </a:r>
            <a:r>
              <a:rPr kumimoji="1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闯关系统</a:t>
            </a:r>
            <a:endParaRPr kumimoji="1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3854576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4" name="文本框 52">
            <a:extLst>
              <a:ext uri="{FF2B5EF4-FFF2-40B4-BE49-F238E27FC236}">
                <a16:creationId xmlns:a16="http://schemas.microsoft.com/office/drawing/2014/main" id="{9DA82089-C5DE-4EEF-9061-F9041F5237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4248" y="1029586"/>
            <a:ext cx="5337546" cy="51217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ß"/>
              <a:defRPr sz="3200" b="1">
                <a:solidFill>
                  <a:schemeClr val="tx1"/>
                </a:solidFill>
                <a:latin typeface="Consolas" panose="020B0609020204030204" pitchFamily="49" charset="0"/>
              </a:defRPr>
            </a:lvl1pPr>
            <a:lvl2pPr marL="800100" indent="-3429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 b="1">
                <a:solidFill>
                  <a:srgbClr val="333399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2pPr>
            <a:lvl3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 b="1">
                <a:solidFill>
                  <a:srgbClr val="3333CC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3pPr>
            <a:lvl4pPr marL="1714500" indent="-3429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4pPr>
            <a:lvl5pPr marL="2057400" indent="-2286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p"/>
              <a:tabLst/>
              <a:defRPr/>
            </a:pP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任务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2——</a:t>
            </a: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障碍物与卷轴滚动场景图形渲染</a:t>
            </a: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800100" marR="0" lvl="1" indent="-34290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p"/>
              <a:tabLst/>
              <a:defRPr/>
            </a:pP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任务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目标（运行</a:t>
            </a: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效果）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914400" marR="0" lvl="2" indent="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编程实现 </a:t>
            </a: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FlappyBird </a:t>
            </a: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游戏中的障碍物与卷轴滚动场景，通过在屏幕中生成多组管道障碍并使其随背景向左滚动，模拟小鸟向前飞行的效果。要求使用双缓冲刷新技术实现平滑画面显示，背景图片采用循环滚动方式形成“无限地图”效果，管道在移出屏幕后重新从右侧生成并随机设置通道位置，小鸟仅进行上下运动控制，从而体现屏幕刷新机制、卷轴地图模式以及动态图形显示与更新的基本原理。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1DF8E92B-827B-3B38-FC63-8B8DF643BB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33639"/>
            <a:ext cx="11615737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ß"/>
              <a:defRPr sz="3200" b="1">
                <a:solidFill>
                  <a:schemeClr val="tx1"/>
                </a:solidFill>
                <a:latin typeface="Consolas" panose="020B0609020204030204" pitchFamily="49" charset="0"/>
              </a:defRPr>
            </a:lvl1pPr>
            <a:lvl2pPr marL="742950" indent="-28575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 b="1">
                <a:solidFill>
                  <a:srgbClr val="333399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2pPr>
            <a:lvl3pPr marL="1143000" indent="-2286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 b="1">
                <a:solidFill>
                  <a:srgbClr val="3333CC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3pPr>
            <a:lvl4pPr marL="1600200" indent="-2286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4pPr>
            <a:lvl5pPr marL="2057400" indent="-2286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综合实践项目</a:t>
            </a:r>
            <a:r>
              <a:rPr kumimoji="1" lang="en-US" altLang="zh-CN" sz="32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——FlappyBird</a:t>
            </a:r>
            <a:r>
              <a:rPr kumimoji="1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闯关系统</a:t>
            </a:r>
            <a:endParaRPr kumimoji="1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4178632D-29DB-596B-388D-DB7E3E0C3BE0}"/>
              </a:ext>
            </a:extLst>
          </p:cNvPr>
          <p:cNvCxnSpPr>
            <a:cxnSpLocks/>
          </p:cNvCxnSpPr>
          <p:nvPr/>
        </p:nvCxnSpPr>
        <p:spPr>
          <a:xfrm>
            <a:off x="5913176" y="1291472"/>
            <a:ext cx="0" cy="4846416"/>
          </a:xfrm>
          <a:prstGeom prst="line">
            <a:avLst/>
          </a:prstGeom>
          <a:ln w="28575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bird2.mp4">
            <a:hlinkClick r:id="" action="ppaction://media"/>
            <a:extLst>
              <a:ext uri="{FF2B5EF4-FFF2-40B4-BE49-F238E27FC236}">
                <a16:creationId xmlns:a16="http://schemas.microsoft.com/office/drawing/2014/main" id="{CED70A0F-F993-439D-8A4A-A80B9671BAD2}"/>
              </a:ext>
            </a:extLst>
          </p:cNvPr>
          <p:cNvPicPr>
            <a:picLocks noChangeAspect="1" noChangeArrowheads="1"/>
          </p:cNvPicPr>
          <p:nvPr>
            <a:videoFile r:link="rId3"/>
            <p:extLst>
              <p:ext uri="{DAA4B4D4-6D71-4841-9C94-3DE7FCFB9230}">
                <p14:media xmlns:p14="http://schemas.microsoft.com/office/powerpoint/2010/main" r:link="rId2"/>
              </p:ext>
            </p:ext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74199" y="2007378"/>
            <a:ext cx="4497844" cy="33728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1078879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2469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video>
              <p:cMediaNode vol="80000">
                <p:cTn id="12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4" name="文本框 52">
            <a:extLst>
              <a:ext uri="{FF2B5EF4-FFF2-40B4-BE49-F238E27FC236}">
                <a16:creationId xmlns:a16="http://schemas.microsoft.com/office/drawing/2014/main" id="{9DA82089-C5DE-4EEF-9061-F9041F5237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4248" y="1029586"/>
            <a:ext cx="5337546" cy="499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ß"/>
              <a:defRPr sz="3200" b="1">
                <a:solidFill>
                  <a:schemeClr val="tx1"/>
                </a:solidFill>
                <a:latin typeface="Consolas" panose="020B0609020204030204" pitchFamily="49" charset="0"/>
              </a:defRPr>
            </a:lvl1pPr>
            <a:lvl2pPr marL="800100" indent="-3429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 b="1">
                <a:solidFill>
                  <a:srgbClr val="333399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2pPr>
            <a:lvl3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 b="1">
                <a:solidFill>
                  <a:srgbClr val="3333CC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3pPr>
            <a:lvl4pPr marL="1714500" indent="-3429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4pPr>
            <a:lvl5pPr marL="2057400" indent="-2286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p"/>
              <a:tabLst/>
              <a:defRPr/>
            </a:pP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任务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2——</a:t>
            </a: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障碍物与卷轴滚动场景图形渲染</a:t>
            </a: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1DF8E92B-827B-3B38-FC63-8B8DF643BB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33639"/>
            <a:ext cx="11615737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ß"/>
              <a:defRPr sz="3200" b="1">
                <a:solidFill>
                  <a:schemeClr val="tx1"/>
                </a:solidFill>
                <a:latin typeface="Consolas" panose="020B0609020204030204" pitchFamily="49" charset="0"/>
              </a:defRPr>
            </a:lvl1pPr>
            <a:lvl2pPr marL="742950" indent="-28575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 b="1">
                <a:solidFill>
                  <a:srgbClr val="333399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2pPr>
            <a:lvl3pPr marL="1143000" indent="-2286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 b="1">
                <a:solidFill>
                  <a:srgbClr val="3333CC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3pPr>
            <a:lvl4pPr marL="1600200" indent="-2286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4pPr>
            <a:lvl5pPr marL="2057400" indent="-2286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综合实践项目</a:t>
            </a:r>
            <a:r>
              <a:rPr kumimoji="1" lang="en-US" altLang="zh-CN" sz="32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——FlappyBird</a:t>
            </a:r>
            <a:r>
              <a:rPr kumimoji="1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闯关系统</a:t>
            </a:r>
            <a:endParaRPr kumimoji="1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EE72E26-E589-42B6-A8DD-56D31FCCCE6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86491" y="2389354"/>
            <a:ext cx="304800" cy="304800"/>
          </a:xfrm>
          <a:prstGeom prst="rect">
            <a:avLst/>
          </a:prstGeom>
        </p:spPr>
      </p:pic>
      <p:sp>
        <p:nvSpPr>
          <p:cNvPr id="11" name="AutoShape 10">
            <a:extLst>
              <a:ext uri="{FF2B5EF4-FFF2-40B4-BE49-F238E27FC236}">
                <a16:creationId xmlns:a16="http://schemas.microsoft.com/office/drawing/2014/main" id="{2FC2758D-A45F-4FFB-878D-F3EFBCFDF2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67491" y="2363954"/>
            <a:ext cx="4445000" cy="35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5000"/>
              </a:lnSpc>
            </a:pPr>
            <a:r>
              <a: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pitchFamily="34" charset="-122"/>
                <a:sym typeface="Noto Sans SC" panose="020B0200000000000000" pitchFamily="34" charset="-122"/>
              </a:rPr>
              <a:t>卷轴地图模式</a:t>
            </a:r>
            <a:endParaRPr lang="zh-CN" altLang="en-US" sz="1100">
              <a:latin typeface="微软雅黑" panose="020B0503020204020204" pitchFamily="34" charset="-122"/>
              <a:ea typeface="微软雅黑" panose="020B0503020204020204" pitchFamily="34" charset="-122"/>
              <a:cs typeface="Noto Sans SC" panose="020B0200000000000000" pitchFamily="34" charset="-122"/>
            </a:endParaRPr>
          </a:p>
        </p:txBody>
      </p:sp>
      <p:sp>
        <p:nvSpPr>
          <p:cNvPr id="12" name="AutoShape 11">
            <a:extLst>
              <a:ext uri="{FF2B5EF4-FFF2-40B4-BE49-F238E27FC236}">
                <a16:creationId xmlns:a16="http://schemas.microsoft.com/office/drawing/2014/main" id="{53A46FB9-B48C-4146-8A30-A4FE0F48F1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67491" y="2719554"/>
            <a:ext cx="4445000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5000"/>
              </a:lnSpc>
            </a:pP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pitchFamily="34" charset="-122"/>
                <a:sym typeface="Noto Sans SC" panose="020B0200000000000000" pitchFamily="34" charset="-122"/>
              </a:rPr>
              <a:t>通过移动背景和障碍物模拟前进，实现“无限地图”的视觉效果。</a:t>
            </a:r>
            <a:endParaRPr lang="zh-CN" altLang="en-US" sz="1100">
              <a:latin typeface="微软雅黑" panose="020B0503020204020204" pitchFamily="34" charset="-122"/>
              <a:ea typeface="微软雅黑" panose="020B0503020204020204" pitchFamily="34" charset="-122"/>
              <a:cs typeface="Noto Sans SC" panose="020B0200000000000000" pitchFamily="34" charset="-122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388D989-E6A8-4D83-8662-7F8AA96015E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86491" y="3278354"/>
            <a:ext cx="304800" cy="304800"/>
          </a:xfrm>
          <a:prstGeom prst="rect">
            <a:avLst/>
          </a:prstGeom>
        </p:spPr>
      </p:pic>
      <p:sp>
        <p:nvSpPr>
          <p:cNvPr id="14" name="AutoShape 13">
            <a:extLst>
              <a:ext uri="{FF2B5EF4-FFF2-40B4-BE49-F238E27FC236}">
                <a16:creationId xmlns:a16="http://schemas.microsoft.com/office/drawing/2014/main" id="{C89C0D8D-D417-43D7-94A7-A190773BD6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67491" y="3252954"/>
            <a:ext cx="4445000" cy="35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5000"/>
              </a:lnSpc>
            </a:pPr>
            <a:r>
              <a: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pitchFamily="34" charset="-122"/>
                <a:sym typeface="Noto Sans SC" panose="020B0200000000000000" pitchFamily="34" charset="-122"/>
              </a:rPr>
              <a:t>动态管道生成</a:t>
            </a:r>
            <a:endParaRPr lang="zh-CN" altLang="en-US" sz="1100">
              <a:latin typeface="微软雅黑" panose="020B0503020204020204" pitchFamily="34" charset="-122"/>
              <a:ea typeface="微软雅黑" panose="020B0503020204020204" pitchFamily="34" charset="-122"/>
              <a:cs typeface="Noto Sans SC" panose="020B0200000000000000" pitchFamily="34" charset="-122"/>
            </a:endParaRPr>
          </a:p>
        </p:txBody>
      </p:sp>
      <p:sp>
        <p:nvSpPr>
          <p:cNvPr id="16" name="AutoShape 14">
            <a:extLst>
              <a:ext uri="{FF2B5EF4-FFF2-40B4-BE49-F238E27FC236}">
                <a16:creationId xmlns:a16="http://schemas.microsoft.com/office/drawing/2014/main" id="{E048A27B-46BA-43F0-AB91-B9AF8DD3FF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67491" y="3608554"/>
            <a:ext cx="4445000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5000"/>
              </a:lnSpc>
            </a:pP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pitchFamily="34" charset="-122"/>
                <a:sym typeface="Noto Sans SC" panose="020B0200000000000000" pitchFamily="34" charset="-122"/>
              </a:rPr>
              <a:t>实现管道随机生成、移动和循环利用，确保游戏的持续性。</a:t>
            </a:r>
            <a:endParaRPr lang="zh-CN" altLang="en-US" sz="1100">
              <a:latin typeface="微软雅黑" panose="020B0503020204020204" pitchFamily="34" charset="-122"/>
              <a:ea typeface="微软雅黑" panose="020B0503020204020204" pitchFamily="34" charset="-122"/>
              <a:cs typeface="Noto Sans SC" panose="020B0200000000000000" pitchFamily="34" charset="-122"/>
            </a:endParaRPr>
          </a:p>
        </p:txBody>
      </p:sp>
      <p:pic>
        <p:nvPicPr>
          <p:cNvPr id="17" name="Picture 15">
            <a:extLst>
              <a:ext uri="{FF2B5EF4-FFF2-40B4-BE49-F238E27FC236}">
                <a16:creationId xmlns:a16="http://schemas.microsoft.com/office/drawing/2014/main" id="{E635276A-C40F-457C-A6FA-A0B48FB40E6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86491" y="4167354"/>
            <a:ext cx="304800" cy="304800"/>
          </a:xfrm>
          <a:prstGeom prst="rect">
            <a:avLst/>
          </a:prstGeom>
        </p:spPr>
      </p:pic>
      <p:sp>
        <p:nvSpPr>
          <p:cNvPr id="18" name="AutoShape 16">
            <a:extLst>
              <a:ext uri="{FF2B5EF4-FFF2-40B4-BE49-F238E27FC236}">
                <a16:creationId xmlns:a16="http://schemas.microsoft.com/office/drawing/2014/main" id="{47591DF6-5721-4C9A-8268-D99FFA97A3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67491" y="4141954"/>
            <a:ext cx="4445000" cy="35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5000"/>
              </a:lnSpc>
            </a:pPr>
            <a:r>
              <a: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pitchFamily="34" charset="-122"/>
                <a:sym typeface="Noto Sans SC" panose="020B0200000000000000" pitchFamily="34" charset="-122"/>
              </a:rPr>
              <a:t>相对运动原理</a:t>
            </a:r>
            <a:endParaRPr lang="zh-CN" altLang="en-US" sz="1100">
              <a:latin typeface="微软雅黑" panose="020B0503020204020204" pitchFamily="34" charset="-122"/>
              <a:ea typeface="微软雅黑" panose="020B0503020204020204" pitchFamily="34" charset="-122"/>
              <a:cs typeface="Noto Sans SC" panose="020B0200000000000000" pitchFamily="34" charset="-122"/>
            </a:endParaRPr>
          </a:p>
        </p:txBody>
      </p:sp>
      <p:sp>
        <p:nvSpPr>
          <p:cNvPr id="19" name="AutoShape 17">
            <a:extLst>
              <a:ext uri="{FF2B5EF4-FFF2-40B4-BE49-F238E27FC236}">
                <a16:creationId xmlns:a16="http://schemas.microsoft.com/office/drawing/2014/main" id="{CAEE3472-3CAC-47E1-B0F8-6A37BEBFFA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67491" y="4497554"/>
            <a:ext cx="4445000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5000"/>
              </a:lnSpc>
            </a:pP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pitchFamily="34" charset="-122"/>
                <a:sym typeface="Noto Sans SC" panose="020B0200000000000000" pitchFamily="34" charset="-122"/>
              </a:rPr>
              <a:t>深入理解“小鸟不动，世界在动”的经典游戏设计思想。</a:t>
            </a:r>
            <a:endParaRPr lang="zh-CN" altLang="en-US" sz="1100">
              <a:latin typeface="微软雅黑" panose="020B0503020204020204" pitchFamily="34" charset="-122"/>
              <a:ea typeface="微软雅黑" panose="020B0503020204020204" pitchFamily="34" charset="-122"/>
              <a:cs typeface="Noto Sans SC" panose="020B0200000000000000" pitchFamily="34" charset="-122"/>
            </a:endParaRPr>
          </a:p>
        </p:txBody>
      </p:sp>
      <p:sp>
        <p:nvSpPr>
          <p:cNvPr id="20" name="AutoShape 20">
            <a:extLst>
              <a:ext uri="{FF2B5EF4-FFF2-40B4-BE49-F238E27FC236}">
                <a16:creationId xmlns:a16="http://schemas.microsoft.com/office/drawing/2014/main" id="{A73732EB-8426-492B-BCB3-BCD6A63E861B}"/>
              </a:ext>
            </a:extLst>
          </p:cNvPr>
          <p:cNvSpPr/>
          <p:nvPr/>
        </p:nvSpPr>
        <p:spPr>
          <a:xfrm>
            <a:off x="630238" y="1575178"/>
            <a:ext cx="5207000" cy="4826000"/>
          </a:xfrm>
          <a:prstGeom prst="roundRect">
            <a:avLst>
              <a:gd name="adj" fmla="val 2631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00000">
                <a:alpha val="5000"/>
              </a:srgbClr>
            </a:outerShdw>
          </a:effectLst>
        </p:spPr>
        <p:txBody>
          <a:bodyPr lIns="63500" tIns="63500" rIns="63500" bIns="63500" anchor="ctr"/>
          <a:lstStyle/>
          <a:p>
            <a:pPr algn="ctr">
              <a:defRPr/>
            </a:pPr>
            <a:endParaRPr/>
          </a:p>
        </p:txBody>
      </p:sp>
      <p:pic>
        <p:nvPicPr>
          <p:cNvPr id="21" name="bird2.mp4">
            <a:hlinkClick r:id="" action="ppaction://media"/>
            <a:extLst>
              <a:ext uri="{FF2B5EF4-FFF2-40B4-BE49-F238E27FC236}">
                <a16:creationId xmlns:a16="http://schemas.microsoft.com/office/drawing/2014/main" id="{290E6BC4-91F8-40FA-B2D9-B7BB062FDB6E}"/>
              </a:ext>
            </a:extLst>
          </p:cNvPr>
          <p:cNvPicPr>
            <a:picLocks noChangeAspect="1" noChangeArrowheads="1"/>
          </p:cNvPicPr>
          <p:nvPr>
            <a:videoFile r:link="rId3"/>
            <p:extLst>
              <p:ext uri="{DAA4B4D4-6D71-4841-9C94-3DE7FCFB9230}">
                <p14:media xmlns:p14="http://schemas.microsoft.com/office/powerpoint/2010/main" r:link="rId2"/>
              </p:ext>
            </p:extLst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0175" y="1659315"/>
            <a:ext cx="3255963" cy="2441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AutoShape 22">
            <a:extLst>
              <a:ext uri="{FF2B5EF4-FFF2-40B4-BE49-F238E27FC236}">
                <a16:creationId xmlns:a16="http://schemas.microsoft.com/office/drawing/2014/main" id="{B66DFB45-AA6F-4EE4-A014-0DF3AD263AFA}"/>
              </a:ext>
            </a:extLst>
          </p:cNvPr>
          <p:cNvSpPr/>
          <p:nvPr/>
        </p:nvSpPr>
        <p:spPr>
          <a:xfrm>
            <a:off x="1050925" y="4202490"/>
            <a:ext cx="4699000" cy="1693863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lIns="0" tIns="0" rIns="0" bIns="0" anchor="ctr"/>
          <a:lstStyle/>
          <a:p>
            <a:pPr>
              <a:lnSpc>
                <a:spcPct val="130000"/>
              </a:lnSpc>
              <a:defRPr/>
            </a:pPr>
            <a:r>
              <a:rPr lang="zh-CN" altLang="en-US" sz="1400" b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Noto Sans SC"/>
              </a:rPr>
              <a:t>能力目标</a:t>
            </a:r>
            <a:endParaRPr lang="en-US" altLang="zh-CN" sz="1400" b="1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Noto Sans SC"/>
            </a:endParaRPr>
          </a:p>
          <a:p>
            <a:pPr marL="342900" indent="-342900">
              <a:lnSpc>
                <a:spcPct val="130000"/>
              </a:lnSpc>
              <a:buFontTx/>
              <a:buAutoNum type="arabicPeriod"/>
              <a:defRPr/>
            </a:pPr>
            <a:r>
              <a:rPr lang="zh-CN" altLang="en-US" sz="1400" b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构建游戏世界，设计并管理游戏对象的状态和行为，掌握虚拟环境构建的核心逻辑。</a:t>
            </a:r>
            <a:endParaRPr lang="en-US" altLang="zh-CN" sz="1400" b="1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3" name="Picture 6">
            <a:extLst>
              <a:ext uri="{FF2B5EF4-FFF2-40B4-BE49-F238E27FC236}">
                <a16:creationId xmlns:a16="http://schemas.microsoft.com/office/drawing/2014/main" id="{30CE5DD6-4A29-4531-A1E7-715152E5798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86500" y="1690281"/>
            <a:ext cx="355600" cy="355600"/>
          </a:xfrm>
          <a:prstGeom prst="rect">
            <a:avLst/>
          </a:prstGeom>
        </p:spPr>
      </p:pic>
      <p:sp>
        <p:nvSpPr>
          <p:cNvPr id="24" name="AutoShape 7">
            <a:extLst>
              <a:ext uri="{FF2B5EF4-FFF2-40B4-BE49-F238E27FC236}">
                <a16:creationId xmlns:a16="http://schemas.microsoft.com/office/drawing/2014/main" id="{82A5C7F9-E955-4D9D-B0A9-5D43D9274E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31000" y="1664881"/>
            <a:ext cx="4318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5000"/>
              </a:lnSpc>
            </a:pPr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pitchFamily="34" charset="-122"/>
                <a:sym typeface="Noto Sans SC" panose="020B0200000000000000" pitchFamily="34" charset="-122"/>
              </a:rPr>
              <a:t>游戏场景的构建</a:t>
            </a:r>
            <a:endParaRPr lang="zh-CN" altLang="en-US" sz="1100">
              <a:latin typeface="微软雅黑" panose="020B0503020204020204" pitchFamily="34" charset="-122"/>
              <a:ea typeface="微软雅黑" panose="020B0503020204020204" pitchFamily="34" charset="-122"/>
              <a:cs typeface="Noto Sans SC" panose="020B0200000000000000" pitchFamily="34" charset="-122"/>
            </a:endParaRPr>
          </a:p>
        </p:txBody>
      </p:sp>
      <p:cxnSp>
        <p:nvCxnSpPr>
          <p:cNvPr id="25" name="Connector 8">
            <a:extLst>
              <a:ext uri="{FF2B5EF4-FFF2-40B4-BE49-F238E27FC236}">
                <a16:creationId xmlns:a16="http://schemas.microsoft.com/office/drawing/2014/main" id="{2C6F1B43-48E1-4E8A-9E7B-98D0DF6CB3A5}"/>
              </a:ext>
            </a:extLst>
          </p:cNvPr>
          <p:cNvCxnSpPr>
            <a:cxnSpLocks noChangeShapeType="1"/>
          </p:cNvCxnSpPr>
          <p:nvPr/>
        </p:nvCxnSpPr>
        <p:spPr bwMode="auto">
          <a:xfrm rot="-9291">
            <a:off x="6286500" y="2128431"/>
            <a:ext cx="4699000" cy="12700"/>
          </a:xfrm>
          <a:prstGeom prst="straightConnector1">
            <a:avLst/>
          </a:prstGeom>
          <a:noFill/>
          <a:ln w="12700">
            <a:solidFill>
              <a:srgbClr val="38BDF8">
                <a:alpha val="30196"/>
              </a:srgbClr>
            </a:solidFill>
            <a:round/>
            <a:headEnd/>
            <a:tailEnd/>
          </a:ln>
        </p:spPr>
      </p:cxnSp>
    </p:spTree>
    <p:custDataLst>
      <p:tags r:id="rId1"/>
    </p:custDataLst>
    <p:extLst>
      <p:ext uri="{BB962C8B-B14F-4D97-AF65-F5344CB8AC3E}">
        <p14:creationId xmlns:p14="http://schemas.microsoft.com/office/powerpoint/2010/main" val="23243106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2469" fill="hold"/>
                                        <p:tgtEl>
                                          <p:spTgt spid="2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2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"/>
                  </p:tgtEl>
                </p:cond>
              </p:nextCondLst>
            </p:seq>
            <p:video>
              <p:cMediaNode vol="80000">
                <p:cTn id="12" fill="hold" display="0">
                  <p:stCondLst>
                    <p:cond delay="indefinite"/>
                  </p:stCondLst>
                </p:cTn>
                <p:tgtEl>
                  <p:spTgt spid="21"/>
                </p:tgtEl>
              </p:cMediaNode>
            </p:video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4" name="文本框 52">
            <a:extLst>
              <a:ext uri="{FF2B5EF4-FFF2-40B4-BE49-F238E27FC236}">
                <a16:creationId xmlns:a16="http://schemas.microsoft.com/office/drawing/2014/main" id="{9DA82089-C5DE-4EEF-9061-F9041F5237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4248" y="1029586"/>
            <a:ext cx="5337546" cy="499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ß"/>
              <a:defRPr sz="3200" b="1">
                <a:solidFill>
                  <a:schemeClr val="tx1"/>
                </a:solidFill>
                <a:latin typeface="Consolas" panose="020B0609020204030204" pitchFamily="49" charset="0"/>
              </a:defRPr>
            </a:lvl1pPr>
            <a:lvl2pPr marL="800100" indent="-3429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 b="1">
                <a:solidFill>
                  <a:srgbClr val="333399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2pPr>
            <a:lvl3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 b="1">
                <a:solidFill>
                  <a:srgbClr val="3333CC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3pPr>
            <a:lvl4pPr marL="1714500" indent="-3429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4pPr>
            <a:lvl5pPr marL="2057400" indent="-2286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p"/>
              <a:tabLst/>
              <a:defRPr/>
            </a:pP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任务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2——</a:t>
            </a: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障碍物与卷轴滚动场景图形渲染</a:t>
            </a: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1DF8E92B-827B-3B38-FC63-8B8DF643BB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33639"/>
            <a:ext cx="11615737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ß"/>
              <a:defRPr sz="3200" b="1">
                <a:solidFill>
                  <a:schemeClr val="tx1"/>
                </a:solidFill>
                <a:latin typeface="Consolas" panose="020B0609020204030204" pitchFamily="49" charset="0"/>
              </a:defRPr>
            </a:lvl1pPr>
            <a:lvl2pPr marL="742950" indent="-28575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 b="1">
                <a:solidFill>
                  <a:srgbClr val="333399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2pPr>
            <a:lvl3pPr marL="1143000" indent="-2286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 b="1">
                <a:solidFill>
                  <a:srgbClr val="3333CC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3pPr>
            <a:lvl4pPr marL="1600200" indent="-2286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4pPr>
            <a:lvl5pPr marL="2057400" indent="-2286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综合实践项目</a:t>
            </a:r>
            <a:r>
              <a:rPr kumimoji="1" lang="en-US" altLang="zh-CN" sz="32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——FlappyBird</a:t>
            </a:r>
            <a:r>
              <a:rPr kumimoji="1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闯关系统</a:t>
            </a:r>
            <a:endParaRPr kumimoji="1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4178632D-29DB-596B-388D-DB7E3E0C3BE0}"/>
              </a:ext>
            </a:extLst>
          </p:cNvPr>
          <p:cNvCxnSpPr>
            <a:cxnSpLocks/>
          </p:cNvCxnSpPr>
          <p:nvPr/>
        </p:nvCxnSpPr>
        <p:spPr>
          <a:xfrm>
            <a:off x="5913176" y="1291472"/>
            <a:ext cx="0" cy="4846416"/>
          </a:xfrm>
          <a:prstGeom prst="line">
            <a:avLst/>
          </a:prstGeom>
          <a:ln w="28575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框 6">
            <a:extLst>
              <a:ext uri="{FF2B5EF4-FFF2-40B4-BE49-F238E27FC236}">
                <a16:creationId xmlns:a16="http://schemas.microsoft.com/office/drawing/2014/main" id="{F36D3B1C-7DCC-4F27-8F47-50C6EBF337CE}"/>
              </a:ext>
            </a:extLst>
          </p:cNvPr>
          <p:cNvSpPr txBox="1"/>
          <p:nvPr/>
        </p:nvSpPr>
        <p:spPr>
          <a:xfrm>
            <a:off x="6304559" y="1291472"/>
            <a:ext cx="5824515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>
                <a:solidFill>
                  <a:srgbClr val="008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// </a:t>
            </a:r>
            <a:r>
              <a:rPr lang="zh-CN" altLang="en-US" sz="1800">
                <a:solidFill>
                  <a:srgbClr val="008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管道数据结构</a:t>
            </a:r>
            <a:endParaRPr lang="zh-CN" altLang="en-US" sz="1800">
              <a:solidFill>
                <a:srgbClr val="000000"/>
              </a:solidFill>
              <a:highlight>
                <a:srgbClr val="FFFFFF"/>
              </a:highlight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r>
              <a:rPr lang="en-US" altLang="zh-CN" sz="1800">
                <a:solidFill>
                  <a:srgbClr val="0000FF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typedef</a:t>
            </a:r>
            <a:r>
              <a:rPr lang="en-US" altLang="zh-CN" sz="1800">
                <a:solidFill>
                  <a:srgbClr val="000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 </a:t>
            </a:r>
            <a:r>
              <a:rPr lang="en-US" altLang="zh-CN" sz="1800">
                <a:solidFill>
                  <a:srgbClr val="0000FF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struct</a:t>
            </a:r>
            <a:r>
              <a:rPr lang="en-US" altLang="zh-CN" sz="1800">
                <a:solidFill>
                  <a:srgbClr val="000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 {</a:t>
            </a:r>
          </a:p>
          <a:p>
            <a:r>
              <a:rPr lang="zh-CN" altLang="en-US" sz="1800">
                <a:solidFill>
                  <a:srgbClr val="000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    </a:t>
            </a:r>
            <a:r>
              <a:rPr lang="en-US" altLang="zh-CN" sz="1800">
                <a:solidFill>
                  <a:srgbClr val="0000FF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int</a:t>
            </a:r>
            <a:r>
              <a:rPr lang="zh-CN" altLang="en-US" sz="1800">
                <a:solidFill>
                  <a:srgbClr val="000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 </a:t>
            </a:r>
            <a:r>
              <a:rPr lang="en-US" altLang="zh-CN" sz="1800">
                <a:solidFill>
                  <a:srgbClr val="000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x;     </a:t>
            </a:r>
            <a:r>
              <a:rPr lang="en-US" altLang="zh-CN" sz="1800">
                <a:solidFill>
                  <a:srgbClr val="008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// </a:t>
            </a:r>
            <a:r>
              <a:rPr lang="zh-CN" altLang="en-US" sz="1800">
                <a:solidFill>
                  <a:srgbClr val="008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管道的横坐标</a:t>
            </a:r>
            <a:endParaRPr lang="zh-CN" altLang="en-US" sz="1800">
              <a:solidFill>
                <a:srgbClr val="000000"/>
              </a:solidFill>
              <a:highlight>
                <a:srgbClr val="FFFFFF"/>
              </a:highlight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r>
              <a:rPr lang="en-US" altLang="zh-CN" sz="1800">
                <a:solidFill>
                  <a:srgbClr val="000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    </a:t>
            </a:r>
            <a:r>
              <a:rPr lang="en-US" altLang="zh-CN" sz="1800">
                <a:solidFill>
                  <a:srgbClr val="0000FF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int</a:t>
            </a:r>
            <a:r>
              <a:rPr lang="en-US" altLang="zh-CN" sz="1800">
                <a:solidFill>
                  <a:srgbClr val="000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 gapY;  </a:t>
            </a:r>
            <a:r>
              <a:rPr lang="en-US" altLang="zh-CN" sz="1800">
                <a:solidFill>
                  <a:srgbClr val="008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// </a:t>
            </a:r>
            <a:r>
              <a:rPr lang="zh-CN" altLang="en-US" sz="1800">
                <a:solidFill>
                  <a:srgbClr val="008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缝隙上沿的 </a:t>
            </a:r>
            <a:r>
              <a:rPr lang="en-US" altLang="zh-CN" sz="1800">
                <a:solidFill>
                  <a:srgbClr val="008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y </a:t>
            </a:r>
            <a:r>
              <a:rPr lang="zh-CN" altLang="en-US" sz="1800">
                <a:solidFill>
                  <a:srgbClr val="008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坐标</a:t>
            </a:r>
            <a:endParaRPr lang="zh-CN" altLang="en-US" sz="1800">
              <a:solidFill>
                <a:srgbClr val="000000"/>
              </a:solidFill>
              <a:highlight>
                <a:srgbClr val="FFFFFF"/>
              </a:highlight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r>
              <a:rPr lang="en-US" altLang="zh-CN" sz="1800">
                <a:solidFill>
                  <a:srgbClr val="000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} </a:t>
            </a:r>
            <a:r>
              <a:rPr lang="en-US" altLang="zh-CN" sz="1800">
                <a:solidFill>
                  <a:srgbClr val="2B91AF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Pipe</a:t>
            </a:r>
            <a:r>
              <a:rPr lang="en-US" altLang="zh-CN" sz="1800">
                <a:solidFill>
                  <a:srgbClr val="000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;</a:t>
            </a:r>
          </a:p>
          <a:p>
            <a:endParaRPr lang="en-US" altLang="zh-CN">
              <a:solidFill>
                <a:srgbClr val="000000"/>
              </a:solidFill>
              <a:highlight>
                <a:srgbClr val="FFFFFF"/>
              </a:highlight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endParaRPr lang="en-US" altLang="zh-CN" sz="1800">
              <a:solidFill>
                <a:srgbClr val="000000"/>
              </a:solidFill>
              <a:highlight>
                <a:srgbClr val="FFFFFF"/>
              </a:highlight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r>
              <a:rPr lang="en-US" altLang="zh-CN" sz="1800">
                <a:solidFill>
                  <a:srgbClr val="2B91AF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Pipe</a:t>
            </a:r>
            <a:r>
              <a:rPr lang="en-US" altLang="zh-CN" sz="1800">
                <a:solidFill>
                  <a:srgbClr val="000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 pipes[</a:t>
            </a:r>
            <a:r>
              <a:rPr lang="en-US" altLang="zh-CN" sz="1800">
                <a:solidFill>
                  <a:srgbClr val="6F008A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PIPE_COUNT</a:t>
            </a:r>
            <a:r>
              <a:rPr lang="en-US" altLang="zh-CN" sz="1800">
                <a:solidFill>
                  <a:srgbClr val="000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];//</a:t>
            </a:r>
            <a:r>
              <a:rPr lang="zh-CN" altLang="en-US" sz="1800">
                <a:solidFill>
                  <a:srgbClr val="000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管理多组管道（默认 </a:t>
            </a:r>
            <a:r>
              <a:rPr lang="en-US" altLang="zh-CN" sz="1800">
                <a:solidFill>
                  <a:srgbClr val="000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3 </a:t>
            </a:r>
            <a:r>
              <a:rPr lang="zh-CN" altLang="en-US" sz="1800">
                <a:solidFill>
                  <a:srgbClr val="000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组）</a:t>
            </a:r>
            <a:endParaRPr lang="en-US" altLang="zh-CN">
              <a:solidFill>
                <a:srgbClr val="000000"/>
              </a:solidFill>
              <a:highlight>
                <a:srgbClr val="FFFFFF"/>
              </a:highlight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endParaRPr lang="en-US" altLang="zh-CN">
              <a:solidFill>
                <a:srgbClr val="000000"/>
              </a:solidFill>
              <a:highlight>
                <a:srgbClr val="FFFFFF"/>
              </a:highlight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endParaRPr lang="zh-CN" altLang="en-US"/>
          </a:p>
        </p:txBody>
      </p:sp>
      <p:pic>
        <p:nvPicPr>
          <p:cNvPr id="8" name="bird2.mp4">
            <a:hlinkClick r:id="" action="ppaction://media"/>
            <a:extLst>
              <a:ext uri="{FF2B5EF4-FFF2-40B4-BE49-F238E27FC236}">
                <a16:creationId xmlns:a16="http://schemas.microsoft.com/office/drawing/2014/main" id="{B0A812C7-026D-4A25-A643-E9B385E4F0A9}"/>
              </a:ext>
            </a:extLst>
          </p:cNvPr>
          <p:cNvPicPr>
            <a:picLocks noChangeAspect="1" noChangeArrowheads="1"/>
          </p:cNvPicPr>
          <p:nvPr>
            <a:videoFile r:link="rId3"/>
            <p:extLst>
              <p:ext uri="{DAA4B4D4-6D71-4841-9C94-3DE7FCFB9230}">
                <p14:media xmlns:p14="http://schemas.microsoft.com/office/powerpoint/2010/main" r:link="rId2"/>
              </p:ext>
            </p:ext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7208" y="1616729"/>
            <a:ext cx="3255963" cy="2441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6C2A6DA8-F409-4BC4-9017-BFE0DBE4FC17}"/>
              </a:ext>
            </a:extLst>
          </p:cNvPr>
          <p:cNvSpPr txBox="1"/>
          <p:nvPr/>
        </p:nvSpPr>
        <p:spPr>
          <a:xfrm>
            <a:off x="516193" y="4268678"/>
            <a:ext cx="620022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>
                <a:solidFill>
                  <a:srgbClr val="008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// ====== Task2: </a:t>
            </a:r>
            <a:r>
              <a:rPr lang="zh-CN" altLang="en-US" sz="1800">
                <a:solidFill>
                  <a:srgbClr val="008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管道参数 </a:t>
            </a:r>
            <a:r>
              <a:rPr lang="en-US" altLang="zh-CN" sz="1800">
                <a:solidFill>
                  <a:srgbClr val="008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======</a:t>
            </a:r>
            <a:endParaRPr lang="zh-CN" altLang="en-US" sz="1800">
              <a:solidFill>
                <a:srgbClr val="000000"/>
              </a:solidFill>
              <a:highlight>
                <a:srgbClr val="FFFFFF"/>
              </a:highlight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r>
              <a:rPr lang="en-US" altLang="zh-CN" sz="1800">
                <a:solidFill>
                  <a:srgbClr val="80808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#define</a:t>
            </a:r>
            <a:r>
              <a:rPr lang="en-US" altLang="zh-CN" sz="1800">
                <a:solidFill>
                  <a:srgbClr val="000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 </a:t>
            </a:r>
            <a:r>
              <a:rPr lang="en-US" altLang="zh-CN" sz="1800">
                <a:solidFill>
                  <a:srgbClr val="6F008A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PIPE_COUNT</a:t>
            </a:r>
            <a:r>
              <a:rPr lang="en-US" altLang="zh-CN" sz="1800">
                <a:solidFill>
                  <a:srgbClr val="000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 3             </a:t>
            </a:r>
            <a:r>
              <a:rPr lang="en-US" altLang="zh-CN" sz="1800">
                <a:solidFill>
                  <a:srgbClr val="008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// </a:t>
            </a:r>
            <a:r>
              <a:rPr lang="zh-CN" altLang="en-US" sz="1800">
                <a:solidFill>
                  <a:srgbClr val="008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管道数量</a:t>
            </a:r>
            <a:endParaRPr lang="zh-CN" altLang="en-US" sz="1800">
              <a:solidFill>
                <a:srgbClr val="000000"/>
              </a:solidFill>
              <a:highlight>
                <a:srgbClr val="FFFFFF"/>
              </a:highlight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r>
              <a:rPr lang="en-US" altLang="zh-CN" sz="1800">
                <a:solidFill>
                  <a:srgbClr val="80808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#define</a:t>
            </a:r>
            <a:r>
              <a:rPr lang="en-US" altLang="zh-CN" sz="1800">
                <a:solidFill>
                  <a:srgbClr val="000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 </a:t>
            </a:r>
            <a:r>
              <a:rPr lang="en-US" altLang="zh-CN" sz="1800">
                <a:solidFill>
                  <a:srgbClr val="6F008A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PIPE_W</a:t>
            </a:r>
            <a:r>
              <a:rPr lang="en-US" altLang="zh-CN" sz="1800">
                <a:solidFill>
                  <a:srgbClr val="000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 80                </a:t>
            </a:r>
            <a:r>
              <a:rPr lang="en-US" altLang="zh-CN" sz="1800">
                <a:solidFill>
                  <a:srgbClr val="008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// </a:t>
            </a:r>
            <a:r>
              <a:rPr lang="zh-CN" altLang="en-US" sz="1800">
                <a:solidFill>
                  <a:srgbClr val="008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管道宽度</a:t>
            </a:r>
            <a:endParaRPr lang="zh-CN" altLang="en-US" sz="1800">
              <a:solidFill>
                <a:srgbClr val="000000"/>
              </a:solidFill>
              <a:highlight>
                <a:srgbClr val="FFFFFF"/>
              </a:highlight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r>
              <a:rPr lang="en-US" altLang="zh-CN" sz="1800">
                <a:solidFill>
                  <a:srgbClr val="80808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#define</a:t>
            </a:r>
            <a:r>
              <a:rPr lang="en-US" altLang="zh-CN" sz="1800">
                <a:solidFill>
                  <a:srgbClr val="000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 </a:t>
            </a:r>
            <a:r>
              <a:rPr lang="en-US" altLang="zh-CN" sz="1800">
                <a:solidFill>
                  <a:srgbClr val="6F008A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PIPE_GAP</a:t>
            </a:r>
            <a:r>
              <a:rPr lang="en-US" altLang="zh-CN" sz="1800">
                <a:solidFill>
                  <a:srgbClr val="000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 150             </a:t>
            </a:r>
            <a:r>
              <a:rPr lang="en-US" altLang="zh-CN" sz="1800">
                <a:solidFill>
                  <a:srgbClr val="008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// </a:t>
            </a:r>
            <a:r>
              <a:rPr lang="zh-CN" altLang="en-US" sz="1800">
                <a:solidFill>
                  <a:srgbClr val="008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管道间隙</a:t>
            </a:r>
            <a:endParaRPr lang="zh-CN" altLang="en-US" sz="1800">
              <a:solidFill>
                <a:srgbClr val="000000"/>
              </a:solidFill>
              <a:highlight>
                <a:srgbClr val="FFFFFF"/>
              </a:highlight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r>
              <a:rPr lang="en-US" altLang="zh-CN" sz="1800">
                <a:solidFill>
                  <a:srgbClr val="80808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#define</a:t>
            </a:r>
            <a:r>
              <a:rPr lang="en-US" altLang="zh-CN" sz="1800">
                <a:solidFill>
                  <a:srgbClr val="000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 </a:t>
            </a:r>
            <a:r>
              <a:rPr lang="en-US" altLang="zh-CN" sz="1800">
                <a:solidFill>
                  <a:srgbClr val="6F008A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PIPE_SPACING</a:t>
            </a:r>
            <a:r>
              <a:rPr lang="en-US" altLang="zh-CN" sz="1800">
                <a:solidFill>
                  <a:srgbClr val="000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 240         </a:t>
            </a:r>
            <a:r>
              <a:rPr lang="en-US" altLang="zh-CN" sz="1800">
                <a:solidFill>
                  <a:srgbClr val="008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// </a:t>
            </a:r>
            <a:r>
              <a:rPr lang="zh-CN" altLang="en-US" sz="1800">
                <a:solidFill>
                  <a:srgbClr val="008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管道间距</a:t>
            </a:r>
            <a:endParaRPr lang="zh-CN" altLang="en-US" sz="1800">
              <a:solidFill>
                <a:srgbClr val="000000"/>
              </a:solidFill>
              <a:highlight>
                <a:srgbClr val="FFFFFF"/>
              </a:highlight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r>
              <a:rPr lang="en-US" altLang="zh-CN" sz="1800">
                <a:solidFill>
                  <a:srgbClr val="80808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#define</a:t>
            </a:r>
            <a:r>
              <a:rPr lang="en-US" altLang="zh-CN" sz="1800">
                <a:solidFill>
                  <a:srgbClr val="000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 </a:t>
            </a:r>
            <a:r>
              <a:rPr lang="en-US" altLang="zh-CN" sz="1800">
                <a:solidFill>
                  <a:srgbClr val="6F008A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PIPE_H</a:t>
            </a:r>
            <a:r>
              <a:rPr lang="en-US" altLang="zh-CN" sz="1800">
                <a:solidFill>
                  <a:srgbClr val="000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 360               </a:t>
            </a:r>
            <a:r>
              <a:rPr lang="en-US" altLang="zh-CN" sz="1800">
                <a:solidFill>
                  <a:srgbClr val="008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// </a:t>
            </a:r>
            <a:r>
              <a:rPr lang="zh-CN" altLang="en-US" sz="1800">
                <a:solidFill>
                  <a:srgbClr val="008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管道高度</a:t>
            </a:r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3D00E5CD-BC7D-447B-8C76-96A8DA082DD6}"/>
              </a:ext>
            </a:extLst>
          </p:cNvPr>
          <p:cNvSpPr txBox="1"/>
          <p:nvPr/>
        </p:nvSpPr>
        <p:spPr>
          <a:xfrm>
            <a:off x="6308607" y="3714680"/>
            <a:ext cx="5820467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>
                <a:solidFill>
                  <a:srgbClr val="008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// </a:t>
            </a:r>
            <a:r>
              <a:rPr lang="zh-CN" altLang="en-US" sz="1800">
                <a:solidFill>
                  <a:srgbClr val="008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初始化管道</a:t>
            </a:r>
            <a:r>
              <a:rPr lang="en-US" altLang="zh-CN" sz="1800">
                <a:solidFill>
                  <a:srgbClr val="008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,</a:t>
            </a:r>
            <a:r>
              <a:rPr lang="zh-CN" altLang="en-US" sz="1800">
                <a:solidFill>
                  <a:srgbClr val="008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每个管道有固定的水平间距，</a:t>
            </a:r>
            <a:endParaRPr lang="en-US" altLang="zh-CN" sz="1800">
              <a:solidFill>
                <a:srgbClr val="008000"/>
              </a:solidFill>
              <a:highlight>
                <a:srgbClr val="FFFFFF"/>
              </a:highlight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r>
              <a:rPr lang="en-US" altLang="zh-CN">
                <a:solidFill>
                  <a:srgbClr val="008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//</a:t>
            </a:r>
            <a:r>
              <a:rPr lang="zh-CN" altLang="en-US" sz="1800">
                <a:solidFill>
                  <a:srgbClr val="008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垂直缝隙随机生成</a:t>
            </a:r>
            <a:endParaRPr lang="zh-CN" altLang="en-US" sz="1800">
              <a:solidFill>
                <a:srgbClr val="000000"/>
              </a:solidFill>
              <a:highlight>
                <a:srgbClr val="FFFFFF"/>
              </a:highlight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r>
              <a:rPr lang="en-US" altLang="zh-CN" sz="1800">
                <a:solidFill>
                  <a:srgbClr val="0000FF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void</a:t>
            </a:r>
            <a:r>
              <a:rPr lang="en-US" altLang="zh-CN" sz="1800">
                <a:solidFill>
                  <a:srgbClr val="000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 InitPipes(</a:t>
            </a:r>
            <a:r>
              <a:rPr lang="en-US" altLang="zh-CN" sz="1800">
                <a:solidFill>
                  <a:srgbClr val="2B91AF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Pipe</a:t>
            </a:r>
            <a:r>
              <a:rPr lang="en-US" altLang="zh-CN" sz="1800">
                <a:solidFill>
                  <a:srgbClr val="000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 </a:t>
            </a:r>
            <a:r>
              <a:rPr lang="en-US" altLang="zh-CN" sz="1800">
                <a:solidFill>
                  <a:srgbClr val="80808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pipes</a:t>
            </a:r>
            <a:r>
              <a:rPr lang="en-US" altLang="zh-CN" sz="1800">
                <a:solidFill>
                  <a:srgbClr val="000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[</a:t>
            </a:r>
            <a:r>
              <a:rPr lang="en-US" altLang="zh-CN" sz="1800">
                <a:solidFill>
                  <a:srgbClr val="6F008A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PIPE_COUNT</a:t>
            </a:r>
            <a:r>
              <a:rPr lang="en-US" altLang="zh-CN" sz="1800">
                <a:solidFill>
                  <a:srgbClr val="000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]) {</a:t>
            </a:r>
          </a:p>
          <a:p>
            <a:r>
              <a:rPr lang="pl-PL" altLang="zh-CN" sz="1800">
                <a:solidFill>
                  <a:srgbClr val="000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    </a:t>
            </a:r>
            <a:r>
              <a:rPr lang="pl-PL" altLang="zh-CN" sz="1800">
                <a:solidFill>
                  <a:srgbClr val="0000FF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int</a:t>
            </a:r>
            <a:r>
              <a:rPr lang="pl-PL" altLang="zh-CN" sz="1800">
                <a:solidFill>
                  <a:srgbClr val="000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 startX = </a:t>
            </a:r>
            <a:r>
              <a:rPr lang="pl-PL" altLang="zh-CN" sz="1800">
                <a:solidFill>
                  <a:srgbClr val="6F008A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WIN_W</a:t>
            </a:r>
            <a:r>
              <a:rPr lang="pl-PL" altLang="zh-CN" sz="1800">
                <a:solidFill>
                  <a:srgbClr val="000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 + 120;</a:t>
            </a:r>
          </a:p>
          <a:p>
            <a:r>
              <a:rPr lang="en-US" altLang="zh-CN" sz="1800">
                <a:solidFill>
                  <a:srgbClr val="000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    </a:t>
            </a:r>
            <a:r>
              <a:rPr lang="en-US" altLang="zh-CN" sz="1800">
                <a:solidFill>
                  <a:srgbClr val="0000FF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for</a:t>
            </a:r>
            <a:r>
              <a:rPr lang="en-US" altLang="zh-CN" sz="1800">
                <a:solidFill>
                  <a:srgbClr val="000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 (</a:t>
            </a:r>
            <a:r>
              <a:rPr lang="en-US" altLang="zh-CN" sz="1800">
                <a:solidFill>
                  <a:srgbClr val="0000FF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int</a:t>
            </a:r>
            <a:r>
              <a:rPr lang="en-US" altLang="zh-CN" sz="1800">
                <a:solidFill>
                  <a:srgbClr val="000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 i = 0; i &lt; </a:t>
            </a:r>
            <a:r>
              <a:rPr lang="en-US" altLang="zh-CN" sz="1800">
                <a:solidFill>
                  <a:srgbClr val="6F008A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PIPE_COUNT</a:t>
            </a:r>
            <a:r>
              <a:rPr lang="en-US" altLang="zh-CN" sz="1800">
                <a:solidFill>
                  <a:srgbClr val="000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; ++i) {</a:t>
            </a:r>
          </a:p>
          <a:p>
            <a:r>
              <a:rPr lang="en-US" altLang="zh-CN" sz="1800">
                <a:solidFill>
                  <a:srgbClr val="000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        </a:t>
            </a:r>
            <a:r>
              <a:rPr lang="en-US" altLang="zh-CN" sz="1800">
                <a:solidFill>
                  <a:srgbClr val="80808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pipes</a:t>
            </a:r>
            <a:r>
              <a:rPr lang="en-US" altLang="zh-CN" sz="1800">
                <a:solidFill>
                  <a:srgbClr val="000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[i].x = startX + i * </a:t>
            </a:r>
            <a:r>
              <a:rPr lang="en-US" altLang="zh-CN" sz="1800">
                <a:solidFill>
                  <a:srgbClr val="6F008A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PIPE_SPACING</a:t>
            </a:r>
            <a:r>
              <a:rPr lang="en-US" altLang="zh-CN" sz="1800">
                <a:solidFill>
                  <a:srgbClr val="000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;</a:t>
            </a:r>
          </a:p>
          <a:p>
            <a:r>
              <a:rPr lang="en-US" altLang="zh-CN" sz="1800">
                <a:solidFill>
                  <a:srgbClr val="000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        </a:t>
            </a:r>
            <a:r>
              <a:rPr lang="en-US" altLang="zh-CN" sz="1800">
                <a:solidFill>
                  <a:srgbClr val="80808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pipes</a:t>
            </a:r>
            <a:r>
              <a:rPr lang="en-US" altLang="zh-CN" sz="1800">
                <a:solidFill>
                  <a:srgbClr val="000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[i].gapY = RandRange(80, </a:t>
            </a:r>
            <a:r>
              <a:rPr lang="en-US" altLang="zh-CN" sz="1800">
                <a:solidFill>
                  <a:srgbClr val="6F008A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WIN_H</a:t>
            </a:r>
            <a:r>
              <a:rPr lang="en-US" altLang="zh-CN" sz="1800">
                <a:solidFill>
                  <a:srgbClr val="000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 - 80 - </a:t>
            </a:r>
            <a:r>
              <a:rPr lang="en-US" altLang="zh-CN" sz="1800">
                <a:solidFill>
                  <a:srgbClr val="6F008A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PIPE_GAP</a:t>
            </a:r>
            <a:r>
              <a:rPr lang="en-US" altLang="zh-CN" sz="1800">
                <a:solidFill>
                  <a:srgbClr val="000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);</a:t>
            </a:r>
          </a:p>
          <a:p>
            <a:r>
              <a:rPr lang="zh-CN" altLang="en-US" sz="1800">
                <a:solidFill>
                  <a:srgbClr val="000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    </a:t>
            </a:r>
            <a:r>
              <a:rPr lang="en-US" altLang="zh-CN" sz="1800">
                <a:solidFill>
                  <a:srgbClr val="000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}</a:t>
            </a:r>
          </a:p>
          <a:p>
            <a:r>
              <a:rPr lang="en-US" altLang="zh-CN" sz="1800">
                <a:solidFill>
                  <a:srgbClr val="000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}</a:t>
            </a:r>
            <a:endParaRPr lang="zh-CN" altLang="en-US"/>
          </a:p>
        </p:txBody>
      </p:sp>
      <p:sp>
        <p:nvSpPr>
          <p:cNvPr id="9" name="文本框 52">
            <a:extLst>
              <a:ext uri="{FF2B5EF4-FFF2-40B4-BE49-F238E27FC236}">
                <a16:creationId xmlns:a16="http://schemas.microsoft.com/office/drawing/2014/main" id="{81980EBC-330F-4B1B-8CB8-05F5405DBF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92459" y="820706"/>
            <a:ext cx="5673810" cy="499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ß"/>
              <a:defRPr sz="3200" b="1">
                <a:solidFill>
                  <a:schemeClr val="tx1"/>
                </a:solidFill>
                <a:latin typeface="Consolas" panose="020B0609020204030204" pitchFamily="49" charset="0"/>
              </a:defRPr>
            </a:lvl1pPr>
            <a:lvl2pPr marL="800100" indent="-3429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 b="1">
                <a:solidFill>
                  <a:srgbClr val="333399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2pPr>
            <a:lvl3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 b="1">
                <a:solidFill>
                  <a:srgbClr val="3333CC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3pPr>
            <a:lvl4pPr marL="1714500" indent="-3429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4pPr>
            <a:lvl5pPr marL="2057400" indent="-2286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9pPr>
          </a:lstStyle>
          <a:p>
            <a:pPr lvl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p"/>
            </a:pPr>
            <a:r>
              <a:rPr lang="zh-CN" altLang="en-US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数据结构设计</a:t>
            </a:r>
            <a:endParaRPr lang="en-US" altLang="zh-CN" sz="20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5305342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2469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  <p:video>
              <p:cMediaNode vol="80000">
                <p:cTn id="12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4" name="文本框 52">
            <a:extLst>
              <a:ext uri="{FF2B5EF4-FFF2-40B4-BE49-F238E27FC236}">
                <a16:creationId xmlns:a16="http://schemas.microsoft.com/office/drawing/2014/main" id="{9DA82089-C5DE-4EEF-9061-F9041F5237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4248" y="1029586"/>
            <a:ext cx="5337546" cy="499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ß"/>
              <a:defRPr sz="3200" b="1">
                <a:solidFill>
                  <a:schemeClr val="tx1"/>
                </a:solidFill>
                <a:latin typeface="Consolas" panose="020B0609020204030204" pitchFamily="49" charset="0"/>
              </a:defRPr>
            </a:lvl1pPr>
            <a:lvl2pPr marL="800100" indent="-3429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 b="1">
                <a:solidFill>
                  <a:srgbClr val="333399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2pPr>
            <a:lvl3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 b="1">
                <a:solidFill>
                  <a:srgbClr val="3333CC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3pPr>
            <a:lvl4pPr marL="1714500" indent="-3429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4pPr>
            <a:lvl5pPr marL="2057400" indent="-2286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p"/>
              <a:tabLst/>
              <a:defRPr/>
            </a:pP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任务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2——</a:t>
            </a: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障碍物与卷轴滚动场景图形渲染</a:t>
            </a: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1DF8E92B-827B-3B38-FC63-8B8DF643BB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33639"/>
            <a:ext cx="11615737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ß"/>
              <a:defRPr sz="3200" b="1">
                <a:solidFill>
                  <a:schemeClr val="tx1"/>
                </a:solidFill>
                <a:latin typeface="Consolas" panose="020B0609020204030204" pitchFamily="49" charset="0"/>
              </a:defRPr>
            </a:lvl1pPr>
            <a:lvl2pPr marL="742950" indent="-28575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 b="1">
                <a:solidFill>
                  <a:srgbClr val="333399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2pPr>
            <a:lvl3pPr marL="1143000" indent="-2286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 b="1">
                <a:solidFill>
                  <a:srgbClr val="3333CC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3pPr>
            <a:lvl4pPr marL="1600200" indent="-2286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4pPr>
            <a:lvl5pPr marL="2057400" indent="-2286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综合实践项目</a:t>
            </a:r>
            <a:r>
              <a:rPr kumimoji="1" lang="en-US" altLang="zh-CN" sz="32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——FlappyBird</a:t>
            </a:r>
            <a:r>
              <a:rPr kumimoji="1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闯关系统</a:t>
            </a:r>
            <a:endParaRPr kumimoji="1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4178632D-29DB-596B-388D-DB7E3E0C3BE0}"/>
              </a:ext>
            </a:extLst>
          </p:cNvPr>
          <p:cNvCxnSpPr>
            <a:cxnSpLocks/>
          </p:cNvCxnSpPr>
          <p:nvPr/>
        </p:nvCxnSpPr>
        <p:spPr>
          <a:xfrm>
            <a:off x="5913176" y="1291472"/>
            <a:ext cx="0" cy="4846416"/>
          </a:xfrm>
          <a:prstGeom prst="line">
            <a:avLst/>
          </a:prstGeom>
          <a:ln w="28575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bird2.mp4">
            <a:hlinkClick r:id="" action="ppaction://media"/>
            <a:extLst>
              <a:ext uri="{FF2B5EF4-FFF2-40B4-BE49-F238E27FC236}">
                <a16:creationId xmlns:a16="http://schemas.microsoft.com/office/drawing/2014/main" id="{B0A812C7-026D-4A25-A643-E9B385E4F0A9}"/>
              </a:ext>
            </a:extLst>
          </p:cNvPr>
          <p:cNvPicPr>
            <a:picLocks noChangeAspect="1" noChangeArrowheads="1"/>
          </p:cNvPicPr>
          <p:nvPr>
            <a:videoFile r:link="rId3"/>
            <p:extLst>
              <p:ext uri="{DAA4B4D4-6D71-4841-9C94-3DE7FCFB9230}">
                <p14:media xmlns:p14="http://schemas.microsoft.com/office/powerpoint/2010/main" r:link="rId2"/>
              </p:ext>
            </p:ext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6428" y="2208212"/>
            <a:ext cx="3255963" cy="2441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文本框 52">
            <a:extLst>
              <a:ext uri="{FF2B5EF4-FFF2-40B4-BE49-F238E27FC236}">
                <a16:creationId xmlns:a16="http://schemas.microsoft.com/office/drawing/2014/main" id="{F06CC465-62F4-4AA1-A8FC-B8CA638689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79798" y="1098552"/>
            <a:ext cx="6478481" cy="50755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ß"/>
              <a:defRPr sz="3200" b="1">
                <a:solidFill>
                  <a:schemeClr val="tx1"/>
                </a:solidFill>
                <a:latin typeface="Consolas" panose="020B0609020204030204" pitchFamily="49" charset="0"/>
              </a:defRPr>
            </a:lvl1pPr>
            <a:lvl2pPr marL="800100" indent="-3429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 b="1">
                <a:solidFill>
                  <a:srgbClr val="333399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2pPr>
            <a:lvl3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 b="1">
                <a:solidFill>
                  <a:srgbClr val="3333CC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3pPr>
            <a:lvl4pPr marL="1714500" indent="-3429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4pPr>
            <a:lvl5pPr marL="2057400" indent="-2286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9pPr>
          </a:lstStyle>
          <a:p>
            <a:pPr lvl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p"/>
              <a:defRPr/>
            </a:pP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核心算法思路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zh-CN" altLang="en-US" sz="200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背景循环滚动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914400" marR="0" lvl="2" indent="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使用</a:t>
            </a: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两个</a:t>
            </a: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背景图像在屏幕上滚动来模拟“无限地图”</a:t>
            </a:r>
            <a:endParaRPr kumimoji="0" lang="en-US" altLang="zh-CN" sz="1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2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zh-CN" sz="1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bgOff</a:t>
            </a:r>
            <a:r>
              <a:rPr lang="zh-CN" altLang="en-US" sz="1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初始值为</a:t>
            </a:r>
            <a:r>
              <a:rPr lang="en-US" altLang="zh-CN" sz="1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endParaRPr lang="zh-CN" altLang="zh-CN" sz="18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marR="0" lvl="2" indent="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每帧更新背景滚动偏移量：</a:t>
            </a:r>
            <a:endParaRPr kumimoji="0" lang="en-US" altLang="zh-CN" sz="1800" b="1" i="0" u="none" strike="noStrike" kern="1200" cap="none" spc="0" normalizeH="0" baseline="0" noProof="0">
              <a:ln>
                <a:noFill/>
              </a:ln>
              <a:solidFill>
                <a:srgbClr val="3333CC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914400" marR="0" lvl="2" indent="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bgOff = (bgOff + SCROLL_SPEED) % WIN_W; </a:t>
            </a:r>
          </a:p>
          <a:p>
            <a:pPr marL="914400" marR="0" lvl="2" indent="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渲染背景：</a:t>
            </a:r>
            <a:endParaRPr kumimoji="0" lang="en-US" altLang="zh-CN" sz="1800" b="1" i="0" u="none" strike="noStrike" kern="1200" cap="none" spc="0" normalizeH="0" baseline="0" noProof="0">
              <a:ln>
                <a:noFill/>
              </a:ln>
              <a:solidFill>
                <a:srgbClr val="3333CC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2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将背景图</a:t>
            </a: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bg</a:t>
            </a: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从 </a:t>
            </a: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-bgOff </a:t>
            </a: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横坐标开始绘制，当 </a:t>
            </a: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bgOff &gt; 0 </a:t>
            </a: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时，背景向左移动，看起来像小鸟在前进。</a:t>
            </a:r>
          </a:p>
          <a:p>
            <a:pPr marL="914400" marR="0" lvl="2" indent="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putimage(-bgOff, 0, bg);</a:t>
            </a: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endParaRPr kumimoji="0" lang="en-US" altLang="zh-CN" sz="1800" b="1" i="0" u="none" strike="noStrike" kern="1200" cap="none" spc="0" normalizeH="0" baseline="0" noProof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914400" marR="0" lvl="2" indent="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绘制第二张背景图</a:t>
            </a: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bg</a:t>
            </a: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，紧跟在第一张背景图后面， 保证背景连续滚动，不会出现空白。</a:t>
            </a:r>
            <a:endParaRPr lang="en-US" altLang="zh-CN" sz="18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marR="0" lvl="2" indent="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putimage(WIN_W - bgOff, 0, bg);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485B1F74-3AE5-4D70-AE56-4B4DA5095CA7}"/>
              </a:ext>
            </a:extLst>
          </p:cNvPr>
          <p:cNvSpPr txBox="1"/>
          <p:nvPr/>
        </p:nvSpPr>
        <p:spPr>
          <a:xfrm>
            <a:off x="458675" y="4905084"/>
            <a:ext cx="538758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>
                <a:solidFill>
                  <a:srgbClr val="80808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#define</a:t>
            </a:r>
            <a:r>
              <a:rPr lang="en-US" altLang="zh-CN" sz="1800">
                <a:solidFill>
                  <a:srgbClr val="000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 </a:t>
            </a:r>
            <a:r>
              <a:rPr lang="en-US" altLang="zh-CN" sz="1800">
                <a:solidFill>
                  <a:srgbClr val="6F008A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WIN_W</a:t>
            </a:r>
            <a:r>
              <a:rPr lang="en-US" altLang="zh-CN" sz="1800">
                <a:solidFill>
                  <a:srgbClr val="000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 640    </a:t>
            </a:r>
            <a:r>
              <a:rPr lang="en-US" altLang="zh-CN" sz="1800">
                <a:solidFill>
                  <a:srgbClr val="008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// </a:t>
            </a:r>
            <a:r>
              <a:rPr lang="zh-CN" altLang="en-US" sz="1800">
                <a:solidFill>
                  <a:srgbClr val="008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窗口宽度</a:t>
            </a:r>
            <a:endParaRPr lang="zh-CN" altLang="en-US" sz="1800">
              <a:solidFill>
                <a:srgbClr val="000000"/>
              </a:solidFill>
              <a:highlight>
                <a:srgbClr val="FFFFFF"/>
              </a:highlight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r>
              <a:rPr lang="en-US" altLang="zh-CN" sz="1800">
                <a:solidFill>
                  <a:srgbClr val="80808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#define</a:t>
            </a:r>
            <a:r>
              <a:rPr lang="en-US" altLang="zh-CN" sz="1800">
                <a:solidFill>
                  <a:srgbClr val="000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 </a:t>
            </a:r>
            <a:r>
              <a:rPr lang="en-US" altLang="zh-CN" sz="1800">
                <a:solidFill>
                  <a:srgbClr val="6F008A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SCROLL_SPEED</a:t>
            </a:r>
            <a:r>
              <a:rPr lang="en-US" altLang="zh-CN" sz="1800">
                <a:solidFill>
                  <a:srgbClr val="000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 3   </a:t>
            </a:r>
            <a:r>
              <a:rPr lang="en-US" altLang="zh-CN" sz="1800">
                <a:solidFill>
                  <a:srgbClr val="008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// </a:t>
            </a:r>
            <a:r>
              <a:rPr lang="zh-CN" altLang="en-US" sz="1800">
                <a:solidFill>
                  <a:srgbClr val="008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滚动速度</a:t>
            </a:r>
            <a:endParaRPr lang="zh-CN" alt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804455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2469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  <p:video>
              <p:cMediaNode vol="80000">
                <p:cTn id="12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4" name="文本框 52">
            <a:extLst>
              <a:ext uri="{FF2B5EF4-FFF2-40B4-BE49-F238E27FC236}">
                <a16:creationId xmlns:a16="http://schemas.microsoft.com/office/drawing/2014/main" id="{9DA82089-C5DE-4EEF-9061-F9041F5237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4248" y="1029586"/>
            <a:ext cx="5337546" cy="499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ß"/>
              <a:defRPr sz="3200" b="1">
                <a:solidFill>
                  <a:schemeClr val="tx1"/>
                </a:solidFill>
                <a:latin typeface="Consolas" panose="020B0609020204030204" pitchFamily="49" charset="0"/>
              </a:defRPr>
            </a:lvl1pPr>
            <a:lvl2pPr marL="800100" indent="-3429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 b="1">
                <a:solidFill>
                  <a:srgbClr val="333399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2pPr>
            <a:lvl3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 b="1">
                <a:solidFill>
                  <a:srgbClr val="3333CC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3pPr>
            <a:lvl4pPr marL="1714500" indent="-3429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4pPr>
            <a:lvl5pPr marL="2057400" indent="-2286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p"/>
              <a:tabLst/>
              <a:defRPr/>
            </a:pP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任务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2——</a:t>
            </a: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障碍物与卷轴滚动场景图形渲染</a:t>
            </a: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1DF8E92B-827B-3B38-FC63-8B8DF643BB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33639"/>
            <a:ext cx="11615737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ß"/>
              <a:defRPr sz="3200" b="1">
                <a:solidFill>
                  <a:schemeClr val="tx1"/>
                </a:solidFill>
                <a:latin typeface="Consolas" panose="020B0609020204030204" pitchFamily="49" charset="0"/>
              </a:defRPr>
            </a:lvl1pPr>
            <a:lvl2pPr marL="742950" indent="-28575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 b="1">
                <a:solidFill>
                  <a:srgbClr val="333399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2pPr>
            <a:lvl3pPr marL="1143000" indent="-2286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 b="1">
                <a:solidFill>
                  <a:srgbClr val="3333CC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3pPr>
            <a:lvl4pPr marL="1600200" indent="-2286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4pPr>
            <a:lvl5pPr marL="2057400" indent="-2286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综合实践项目</a:t>
            </a:r>
            <a:r>
              <a:rPr kumimoji="1" lang="en-US" altLang="zh-CN" sz="32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——FlappyBird</a:t>
            </a:r>
            <a:r>
              <a:rPr kumimoji="1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闯关系统</a:t>
            </a:r>
            <a:endParaRPr kumimoji="1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4178632D-29DB-596B-388D-DB7E3E0C3BE0}"/>
              </a:ext>
            </a:extLst>
          </p:cNvPr>
          <p:cNvCxnSpPr>
            <a:cxnSpLocks/>
          </p:cNvCxnSpPr>
          <p:nvPr/>
        </p:nvCxnSpPr>
        <p:spPr>
          <a:xfrm>
            <a:off x="5913176" y="1291472"/>
            <a:ext cx="0" cy="4846416"/>
          </a:xfrm>
          <a:prstGeom prst="line">
            <a:avLst/>
          </a:prstGeom>
          <a:ln w="28575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bird2.mp4">
            <a:hlinkClick r:id="" action="ppaction://media"/>
            <a:extLst>
              <a:ext uri="{FF2B5EF4-FFF2-40B4-BE49-F238E27FC236}">
                <a16:creationId xmlns:a16="http://schemas.microsoft.com/office/drawing/2014/main" id="{B0A812C7-026D-4A25-A643-E9B385E4F0A9}"/>
              </a:ext>
            </a:extLst>
          </p:cNvPr>
          <p:cNvPicPr>
            <a:picLocks noChangeAspect="1" noChangeArrowheads="1"/>
          </p:cNvPicPr>
          <p:nvPr>
            <a:videoFile r:link="rId3"/>
            <p:extLst>
              <p:ext uri="{DAA4B4D4-6D71-4841-9C94-3DE7FCFB9230}">
                <p14:media xmlns:p14="http://schemas.microsoft.com/office/powerpoint/2010/main" r:link="rId2"/>
              </p:ext>
            </p:ext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6249" y="1468478"/>
            <a:ext cx="2510346" cy="18824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文本框 52">
            <a:extLst>
              <a:ext uri="{FF2B5EF4-FFF2-40B4-BE49-F238E27FC236}">
                <a16:creationId xmlns:a16="http://schemas.microsoft.com/office/drawing/2014/main" id="{F06CC465-62F4-4AA1-A8FC-B8CA638689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79798" y="1098552"/>
            <a:ext cx="6478481" cy="3829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ß"/>
              <a:defRPr sz="3200" b="1">
                <a:solidFill>
                  <a:schemeClr val="tx1"/>
                </a:solidFill>
                <a:latin typeface="Consolas" panose="020B0609020204030204" pitchFamily="49" charset="0"/>
              </a:defRPr>
            </a:lvl1pPr>
            <a:lvl2pPr marL="800100" indent="-3429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 b="1">
                <a:solidFill>
                  <a:srgbClr val="333399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2pPr>
            <a:lvl3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 b="1">
                <a:solidFill>
                  <a:srgbClr val="3333CC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3pPr>
            <a:lvl4pPr marL="1714500" indent="-3429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4pPr>
            <a:lvl5pPr marL="2057400" indent="-2286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9pPr>
          </a:lstStyle>
          <a:p>
            <a:pPr lvl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p"/>
              <a:defRPr/>
            </a:pP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核心算法思路</a:t>
            </a:r>
            <a:r>
              <a:rPr lang="zh-CN" altLang="en-US" sz="200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zh-CN" altLang="en-US" sz="200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管道滚动与复用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914400" marR="0" lvl="2" indent="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管道和背景的滚动逻辑是同步的，每帧更新管道位置，控制管道向左滚动。</a:t>
            </a:r>
            <a:endParaRPr kumimoji="0" lang="en-US" altLang="zh-CN" sz="1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914400" marR="0" lvl="2" indent="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lang="zh-CN" altLang="en-US" sz="1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循环遍历所有管道</a:t>
            </a:r>
            <a:endParaRPr lang="en-US" altLang="zh-CN" sz="18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marR="0" lvl="2" indent="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更新位置</a:t>
            </a: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：把它们的 </a:t>
            </a: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x </a:t>
            </a:r>
            <a:r>
              <a:rPr lang="zh-CN" altLang="en-US" sz="1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坐标减去背景滚动速度</a:t>
            </a:r>
            <a:endParaRPr lang="en-US" altLang="zh-CN" sz="18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marR="0" lvl="2" indent="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lang="zh-CN" altLang="en-US" sz="180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循环复用</a:t>
            </a:r>
            <a:r>
              <a:rPr lang="zh-CN" altLang="en-US" sz="1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：检查每个管道的 </a:t>
            </a:r>
            <a:r>
              <a:rPr lang="en-US" altLang="zh-CN" sz="1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 </a:t>
            </a:r>
            <a:r>
              <a:rPr lang="zh-CN" altLang="en-US" sz="1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坐标，如果它已经移出了屏幕左侧），就把它“回收”，重新设置它的 </a:t>
            </a:r>
            <a:r>
              <a:rPr lang="en-US" altLang="zh-CN" sz="1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 </a:t>
            </a:r>
            <a:r>
              <a:rPr lang="zh-CN" altLang="en-US" sz="1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坐标为屏幕最右侧，并且重新随机生成一个缝隙位置。</a:t>
            </a:r>
            <a:endParaRPr lang="en-US" altLang="zh-CN" sz="18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65EDEF00-5BC4-413E-AD4D-91C49ADB6BBE}"/>
              </a:ext>
            </a:extLst>
          </p:cNvPr>
          <p:cNvSpPr txBox="1"/>
          <p:nvPr/>
        </p:nvSpPr>
        <p:spPr>
          <a:xfrm>
            <a:off x="88661" y="3153197"/>
            <a:ext cx="5824515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altLang="zh-CN" sz="1800">
              <a:solidFill>
                <a:srgbClr val="008000"/>
              </a:solidFill>
              <a:highlight>
                <a:srgbClr val="FFFFFF"/>
              </a:highlight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r>
              <a:rPr lang="en-US" altLang="zh-CN" sz="1800">
                <a:solidFill>
                  <a:srgbClr val="008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// ====== Task2: </a:t>
            </a:r>
            <a:r>
              <a:rPr lang="zh-CN" altLang="en-US" sz="1800">
                <a:solidFill>
                  <a:srgbClr val="008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管道参数 </a:t>
            </a:r>
            <a:r>
              <a:rPr lang="en-US" altLang="zh-CN" sz="1800">
                <a:solidFill>
                  <a:srgbClr val="008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======</a:t>
            </a:r>
            <a:endParaRPr lang="zh-CN" altLang="en-US" sz="1800">
              <a:solidFill>
                <a:srgbClr val="000000"/>
              </a:solidFill>
              <a:highlight>
                <a:srgbClr val="FFFFFF"/>
              </a:highlight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r>
              <a:rPr lang="en-US" altLang="zh-CN" sz="1800">
                <a:solidFill>
                  <a:srgbClr val="80808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#define</a:t>
            </a:r>
            <a:r>
              <a:rPr lang="en-US" altLang="zh-CN" sz="1800">
                <a:solidFill>
                  <a:srgbClr val="000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 </a:t>
            </a:r>
            <a:r>
              <a:rPr lang="en-US" altLang="zh-CN" sz="1800">
                <a:solidFill>
                  <a:srgbClr val="6F008A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PIPE_COUNT</a:t>
            </a:r>
            <a:r>
              <a:rPr lang="en-US" altLang="zh-CN" sz="1800">
                <a:solidFill>
                  <a:srgbClr val="000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 3             </a:t>
            </a:r>
            <a:r>
              <a:rPr lang="en-US" altLang="zh-CN" sz="1800">
                <a:solidFill>
                  <a:srgbClr val="008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// </a:t>
            </a:r>
            <a:r>
              <a:rPr lang="zh-CN" altLang="en-US" sz="1800">
                <a:solidFill>
                  <a:srgbClr val="008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管道数量</a:t>
            </a:r>
            <a:endParaRPr lang="zh-CN" altLang="en-US" sz="1800">
              <a:solidFill>
                <a:srgbClr val="000000"/>
              </a:solidFill>
              <a:highlight>
                <a:srgbClr val="FFFFFF"/>
              </a:highlight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r>
              <a:rPr lang="en-US" altLang="zh-CN" sz="1800">
                <a:solidFill>
                  <a:srgbClr val="80808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#define</a:t>
            </a:r>
            <a:r>
              <a:rPr lang="en-US" altLang="zh-CN" sz="1800">
                <a:solidFill>
                  <a:srgbClr val="000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 </a:t>
            </a:r>
            <a:r>
              <a:rPr lang="en-US" altLang="zh-CN" sz="1800">
                <a:solidFill>
                  <a:srgbClr val="6F008A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PIPE_W</a:t>
            </a:r>
            <a:r>
              <a:rPr lang="en-US" altLang="zh-CN" sz="1800">
                <a:solidFill>
                  <a:srgbClr val="000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 80                </a:t>
            </a:r>
            <a:r>
              <a:rPr lang="en-US" altLang="zh-CN" sz="1800">
                <a:solidFill>
                  <a:srgbClr val="008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// </a:t>
            </a:r>
            <a:r>
              <a:rPr lang="zh-CN" altLang="en-US" sz="1800">
                <a:solidFill>
                  <a:srgbClr val="008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管道宽度</a:t>
            </a:r>
            <a:endParaRPr lang="zh-CN" altLang="en-US" sz="1800">
              <a:solidFill>
                <a:srgbClr val="000000"/>
              </a:solidFill>
              <a:highlight>
                <a:srgbClr val="FFFFFF"/>
              </a:highlight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r>
              <a:rPr lang="en-US" altLang="zh-CN" sz="1800">
                <a:solidFill>
                  <a:srgbClr val="80808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#define</a:t>
            </a:r>
            <a:r>
              <a:rPr lang="en-US" altLang="zh-CN" sz="1800">
                <a:solidFill>
                  <a:srgbClr val="000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 </a:t>
            </a:r>
            <a:r>
              <a:rPr lang="en-US" altLang="zh-CN" sz="1800">
                <a:solidFill>
                  <a:srgbClr val="6F008A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PIPE_GAP</a:t>
            </a:r>
            <a:r>
              <a:rPr lang="en-US" altLang="zh-CN" sz="1800">
                <a:solidFill>
                  <a:srgbClr val="000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 150             </a:t>
            </a:r>
            <a:r>
              <a:rPr lang="en-US" altLang="zh-CN" sz="1800">
                <a:solidFill>
                  <a:srgbClr val="008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// </a:t>
            </a:r>
            <a:r>
              <a:rPr lang="zh-CN" altLang="en-US" sz="1800">
                <a:solidFill>
                  <a:srgbClr val="008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管道间隙</a:t>
            </a:r>
            <a:endParaRPr lang="zh-CN" altLang="en-US" sz="1800">
              <a:solidFill>
                <a:srgbClr val="000000"/>
              </a:solidFill>
              <a:highlight>
                <a:srgbClr val="FFFFFF"/>
              </a:highlight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r>
              <a:rPr lang="en-US" altLang="zh-CN" sz="1800">
                <a:solidFill>
                  <a:srgbClr val="80808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#define</a:t>
            </a:r>
            <a:r>
              <a:rPr lang="en-US" altLang="zh-CN" sz="1800">
                <a:solidFill>
                  <a:srgbClr val="000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 </a:t>
            </a:r>
            <a:r>
              <a:rPr lang="en-US" altLang="zh-CN" sz="1800">
                <a:solidFill>
                  <a:srgbClr val="6F008A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PIPE_SPACING</a:t>
            </a:r>
            <a:r>
              <a:rPr lang="en-US" altLang="zh-CN" sz="1800">
                <a:solidFill>
                  <a:srgbClr val="000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 240         </a:t>
            </a:r>
            <a:r>
              <a:rPr lang="en-US" altLang="zh-CN" sz="1800">
                <a:solidFill>
                  <a:srgbClr val="008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// </a:t>
            </a:r>
            <a:r>
              <a:rPr lang="zh-CN" altLang="en-US" sz="1800">
                <a:solidFill>
                  <a:srgbClr val="008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管道间距</a:t>
            </a:r>
            <a:endParaRPr lang="zh-CN" altLang="en-US" sz="1800">
              <a:solidFill>
                <a:srgbClr val="000000"/>
              </a:solidFill>
              <a:highlight>
                <a:srgbClr val="FFFFFF"/>
              </a:highlight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r>
              <a:rPr lang="en-US" altLang="zh-CN" sz="1800">
                <a:solidFill>
                  <a:srgbClr val="80808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#define</a:t>
            </a:r>
            <a:r>
              <a:rPr lang="en-US" altLang="zh-CN" sz="1800">
                <a:solidFill>
                  <a:srgbClr val="000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 </a:t>
            </a:r>
            <a:r>
              <a:rPr lang="en-US" altLang="zh-CN" sz="1800">
                <a:solidFill>
                  <a:srgbClr val="6F008A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PIPE_H</a:t>
            </a:r>
            <a:r>
              <a:rPr lang="en-US" altLang="zh-CN" sz="1800">
                <a:solidFill>
                  <a:srgbClr val="000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 360               </a:t>
            </a:r>
            <a:r>
              <a:rPr lang="en-US" altLang="zh-CN" sz="1800">
                <a:solidFill>
                  <a:srgbClr val="008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// </a:t>
            </a:r>
            <a:r>
              <a:rPr lang="zh-CN" altLang="en-US" sz="1800">
                <a:solidFill>
                  <a:srgbClr val="008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管道高度</a:t>
            </a:r>
            <a:endParaRPr lang="zh-CN" altLang="en-US"/>
          </a:p>
          <a:p>
            <a:r>
              <a:rPr lang="en-US" altLang="zh-CN" sz="1800">
                <a:solidFill>
                  <a:srgbClr val="008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// </a:t>
            </a:r>
            <a:r>
              <a:rPr lang="zh-CN" altLang="en-US" sz="1800">
                <a:solidFill>
                  <a:srgbClr val="008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管道数据结构</a:t>
            </a:r>
            <a:endParaRPr lang="zh-CN" altLang="en-US" sz="1800">
              <a:solidFill>
                <a:srgbClr val="000000"/>
              </a:solidFill>
              <a:highlight>
                <a:srgbClr val="FFFFFF"/>
              </a:highlight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r>
              <a:rPr lang="en-US" altLang="zh-CN" sz="1800">
                <a:solidFill>
                  <a:srgbClr val="0000FF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typedef</a:t>
            </a:r>
            <a:r>
              <a:rPr lang="en-US" altLang="zh-CN" sz="1800">
                <a:solidFill>
                  <a:srgbClr val="000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 </a:t>
            </a:r>
            <a:r>
              <a:rPr lang="en-US" altLang="zh-CN" sz="1800">
                <a:solidFill>
                  <a:srgbClr val="0000FF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struct</a:t>
            </a:r>
            <a:r>
              <a:rPr lang="en-US" altLang="zh-CN" sz="1800">
                <a:solidFill>
                  <a:srgbClr val="000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 {</a:t>
            </a:r>
          </a:p>
          <a:p>
            <a:r>
              <a:rPr lang="zh-CN" altLang="en-US" sz="1800">
                <a:solidFill>
                  <a:srgbClr val="000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    </a:t>
            </a:r>
            <a:r>
              <a:rPr lang="en-US" altLang="zh-CN" sz="1800">
                <a:solidFill>
                  <a:srgbClr val="0000FF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int</a:t>
            </a:r>
            <a:r>
              <a:rPr lang="zh-CN" altLang="en-US" sz="1800">
                <a:solidFill>
                  <a:srgbClr val="000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 </a:t>
            </a:r>
            <a:r>
              <a:rPr lang="en-US" altLang="zh-CN" sz="1800">
                <a:solidFill>
                  <a:srgbClr val="000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x;     </a:t>
            </a:r>
            <a:r>
              <a:rPr lang="en-US" altLang="zh-CN" sz="1800">
                <a:solidFill>
                  <a:srgbClr val="008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// </a:t>
            </a:r>
            <a:r>
              <a:rPr lang="zh-CN" altLang="en-US" sz="1800">
                <a:solidFill>
                  <a:srgbClr val="008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管道的横坐标</a:t>
            </a:r>
            <a:endParaRPr lang="zh-CN" altLang="en-US" sz="1800">
              <a:solidFill>
                <a:srgbClr val="000000"/>
              </a:solidFill>
              <a:highlight>
                <a:srgbClr val="FFFFFF"/>
              </a:highlight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r>
              <a:rPr lang="en-US" altLang="zh-CN" sz="1800">
                <a:solidFill>
                  <a:srgbClr val="000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    </a:t>
            </a:r>
            <a:r>
              <a:rPr lang="en-US" altLang="zh-CN" sz="1800">
                <a:solidFill>
                  <a:srgbClr val="0000FF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int</a:t>
            </a:r>
            <a:r>
              <a:rPr lang="en-US" altLang="zh-CN" sz="1800">
                <a:solidFill>
                  <a:srgbClr val="000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 gapY;  </a:t>
            </a:r>
            <a:r>
              <a:rPr lang="en-US" altLang="zh-CN" sz="1800">
                <a:solidFill>
                  <a:srgbClr val="008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// </a:t>
            </a:r>
            <a:r>
              <a:rPr lang="zh-CN" altLang="en-US" sz="1800">
                <a:solidFill>
                  <a:srgbClr val="008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缝隙上沿的 </a:t>
            </a:r>
            <a:r>
              <a:rPr lang="en-US" altLang="zh-CN" sz="1800">
                <a:solidFill>
                  <a:srgbClr val="008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y </a:t>
            </a:r>
            <a:r>
              <a:rPr lang="zh-CN" altLang="en-US" sz="1800">
                <a:solidFill>
                  <a:srgbClr val="008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坐标</a:t>
            </a:r>
            <a:endParaRPr lang="zh-CN" altLang="en-US" sz="1800">
              <a:solidFill>
                <a:srgbClr val="000000"/>
              </a:solidFill>
              <a:highlight>
                <a:srgbClr val="FFFFFF"/>
              </a:highlight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r>
              <a:rPr lang="en-US" altLang="zh-CN" sz="1800">
                <a:solidFill>
                  <a:srgbClr val="000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} </a:t>
            </a:r>
            <a:r>
              <a:rPr lang="en-US" altLang="zh-CN" sz="1800">
                <a:solidFill>
                  <a:srgbClr val="2B91AF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Pipe</a:t>
            </a:r>
            <a:r>
              <a:rPr lang="en-US" altLang="zh-CN" sz="1800">
                <a:solidFill>
                  <a:srgbClr val="000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;</a:t>
            </a:r>
          </a:p>
          <a:p>
            <a:r>
              <a:rPr lang="en-US" altLang="zh-CN" sz="1800">
                <a:solidFill>
                  <a:srgbClr val="2B91AF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Pipe</a:t>
            </a:r>
            <a:r>
              <a:rPr lang="en-US" altLang="zh-CN" sz="1800">
                <a:solidFill>
                  <a:srgbClr val="000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 pipes[</a:t>
            </a:r>
            <a:r>
              <a:rPr lang="en-US" altLang="zh-CN" sz="1800">
                <a:solidFill>
                  <a:srgbClr val="6F008A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PIPE_COUNT</a:t>
            </a:r>
            <a:r>
              <a:rPr lang="en-US" altLang="zh-CN" sz="1800">
                <a:solidFill>
                  <a:srgbClr val="000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];//</a:t>
            </a:r>
            <a:r>
              <a:rPr lang="zh-CN" altLang="en-US" sz="1800">
                <a:solidFill>
                  <a:srgbClr val="000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管理多组管道（默认 </a:t>
            </a:r>
            <a:r>
              <a:rPr lang="en-US" altLang="zh-CN" sz="1800">
                <a:solidFill>
                  <a:srgbClr val="000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3 </a:t>
            </a:r>
            <a:r>
              <a:rPr lang="zh-CN" altLang="en-US" sz="1800">
                <a:solidFill>
                  <a:srgbClr val="000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组）</a:t>
            </a:r>
            <a:endParaRPr lang="en-US" altLang="zh-CN">
              <a:solidFill>
                <a:srgbClr val="000000"/>
              </a:solidFill>
              <a:highlight>
                <a:srgbClr val="FFFFFF"/>
              </a:highlight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endParaRPr lang="en-US" altLang="zh-CN">
              <a:solidFill>
                <a:srgbClr val="000000"/>
              </a:solidFill>
              <a:highlight>
                <a:srgbClr val="FFFFFF"/>
              </a:highlight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endParaRPr lang="zh-CN" alt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2782802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2469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  <p:video>
              <p:cMediaNode vol="80000">
                <p:cTn id="12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4" name="文本框 52">
            <a:extLst>
              <a:ext uri="{FF2B5EF4-FFF2-40B4-BE49-F238E27FC236}">
                <a16:creationId xmlns:a16="http://schemas.microsoft.com/office/drawing/2014/main" id="{9DA82089-C5DE-4EEF-9061-F9041F5237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4248" y="1029586"/>
            <a:ext cx="5337546" cy="499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ß"/>
              <a:defRPr sz="3200" b="1">
                <a:solidFill>
                  <a:schemeClr val="tx1"/>
                </a:solidFill>
                <a:latin typeface="Consolas" panose="020B0609020204030204" pitchFamily="49" charset="0"/>
              </a:defRPr>
            </a:lvl1pPr>
            <a:lvl2pPr marL="800100" indent="-3429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 b="1">
                <a:solidFill>
                  <a:srgbClr val="333399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2pPr>
            <a:lvl3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 b="1">
                <a:solidFill>
                  <a:srgbClr val="3333CC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3pPr>
            <a:lvl4pPr marL="1714500" indent="-3429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4pPr>
            <a:lvl5pPr marL="2057400" indent="-2286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p"/>
              <a:tabLst/>
              <a:defRPr/>
            </a:pP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任务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2——</a:t>
            </a: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障碍物与卷轴滚动场景图形渲染</a:t>
            </a: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1DF8E92B-827B-3B38-FC63-8B8DF643BB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33639"/>
            <a:ext cx="11615737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ß"/>
              <a:defRPr sz="3200" b="1">
                <a:solidFill>
                  <a:schemeClr val="tx1"/>
                </a:solidFill>
                <a:latin typeface="Consolas" panose="020B0609020204030204" pitchFamily="49" charset="0"/>
              </a:defRPr>
            </a:lvl1pPr>
            <a:lvl2pPr marL="742950" indent="-28575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 b="1">
                <a:solidFill>
                  <a:srgbClr val="333399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2pPr>
            <a:lvl3pPr marL="1143000" indent="-2286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 b="1">
                <a:solidFill>
                  <a:srgbClr val="3333CC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3pPr>
            <a:lvl4pPr marL="1600200" indent="-2286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4pPr>
            <a:lvl5pPr marL="2057400" indent="-2286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综合实践项目</a:t>
            </a:r>
            <a:r>
              <a:rPr kumimoji="1" lang="en-US" altLang="zh-CN" sz="32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——FlappyBird</a:t>
            </a:r>
            <a:r>
              <a:rPr kumimoji="1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闯关系统</a:t>
            </a:r>
            <a:endParaRPr kumimoji="1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" name="文本框 52">
            <a:extLst>
              <a:ext uri="{FF2B5EF4-FFF2-40B4-BE49-F238E27FC236}">
                <a16:creationId xmlns:a16="http://schemas.microsoft.com/office/drawing/2014/main" id="{F06CC465-62F4-4AA1-A8FC-B8CA638689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1727" y="1464312"/>
            <a:ext cx="11359210" cy="49370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ß"/>
              <a:defRPr sz="3200" b="1">
                <a:solidFill>
                  <a:schemeClr val="tx1"/>
                </a:solidFill>
                <a:latin typeface="Consolas" panose="020B0609020204030204" pitchFamily="49" charset="0"/>
              </a:defRPr>
            </a:lvl1pPr>
            <a:lvl2pPr marL="800100" indent="-3429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 b="1">
                <a:solidFill>
                  <a:srgbClr val="333399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2pPr>
            <a:lvl3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 b="1">
                <a:solidFill>
                  <a:srgbClr val="3333CC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3pPr>
            <a:lvl4pPr marL="1714500" indent="-3429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4pPr>
            <a:lvl5pPr marL="2057400" indent="-2286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9pPr>
          </a:lstStyle>
          <a:p>
            <a:pPr marL="800100" marR="0" lvl="1" indent="-34290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p"/>
              <a:tabLst/>
              <a:defRPr/>
            </a:pP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实现流程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914400" marR="0" lvl="2" indent="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初始化阶段：完成随机数、图形资源、小鸟、管道的初始化，为游戏运行准备基础数据； </a:t>
            </a:r>
          </a:p>
          <a:p>
            <a:pPr marL="914400" marR="0" lvl="2" indent="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主循环阶段：</a:t>
            </a:r>
            <a:endParaRPr kumimoji="0" lang="en-US" altLang="zh-CN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2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while</a:t>
            </a: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(1) {</a:t>
            </a:r>
          </a:p>
          <a:p>
            <a:pPr marL="914400" marR="0" lvl="2" indent="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输入处理：非阻塞检测按键，即时响应退出 </a:t>
            </a: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 </a:t>
            </a: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小鸟上抬操作；</a:t>
            </a:r>
          </a:p>
          <a:p>
            <a:pPr marL="914400" marR="0" lvl="2" indent="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状态更新：同步更新小鸟物理状态、背景偏移量、管道位置，实现卷轴滚动与管道复用；</a:t>
            </a:r>
          </a:p>
          <a:p>
            <a:pPr marL="914400" marR="0" lvl="2" indent="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画面渲染：</a:t>
            </a:r>
            <a:endParaRPr kumimoji="0" lang="en-US" altLang="zh-CN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3" inden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按层级顺序绘制：背景 → 管道 → 小鸟；背景循环绘制，保证无缝滚动；</a:t>
            </a:r>
            <a:endParaRPr kumimoji="0" lang="en-US" altLang="zh-CN" sz="16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3" inden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管道使用用</a:t>
            </a: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Alpha</a:t>
            </a:r>
            <a:r>
              <a:rPr kumimoji="0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混合</a:t>
            </a: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</a:rPr>
              <a:t>算法</a:t>
            </a:r>
            <a:r>
              <a:rPr kumimoji="0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处理透明 </a:t>
            </a: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PNG</a:t>
            </a:r>
            <a:r>
              <a:rPr kumimoji="0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，确保透明部分自然显示；小鸟图像中心对齐小鸟坐标；</a:t>
            </a:r>
            <a:endParaRPr kumimoji="0" lang="en-US" altLang="zh-CN" sz="16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3" inden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使用双缓冲刷新画面，保证画面平滑，无闪烁。</a:t>
            </a:r>
            <a:endParaRPr kumimoji="0" lang="en-US" altLang="zh-CN" sz="16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914400" marR="0" lvl="2" indent="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帧率控制：每帧 </a:t>
            </a: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Sleep (16ms)</a:t>
            </a: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，稳定 </a:t>
            </a: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60 </a:t>
            </a: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帧 </a:t>
            </a: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 </a:t>
            </a: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秒，避免画面卡顿或 </a:t>
            </a: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CPU </a:t>
            </a: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占用过高；</a:t>
            </a:r>
            <a:r>
              <a:rPr lang="en-US" altLang="zh-CN" sz="1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}</a:t>
            </a: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914400" marR="0" lvl="2" indent="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退出阶段：检测到 </a:t>
            </a: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ESC </a:t>
            </a: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键时直接终止程序，释放图形资源并关闭窗口。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843705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4" name="文本框 52">
            <a:extLst>
              <a:ext uri="{FF2B5EF4-FFF2-40B4-BE49-F238E27FC236}">
                <a16:creationId xmlns:a16="http://schemas.microsoft.com/office/drawing/2014/main" id="{9DA82089-C5DE-4EEF-9061-F9041F5237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4248" y="1029586"/>
            <a:ext cx="5964895" cy="5537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ß"/>
              <a:defRPr sz="3200" b="1">
                <a:solidFill>
                  <a:schemeClr val="tx1"/>
                </a:solidFill>
                <a:latin typeface="Consolas" panose="020B0609020204030204" pitchFamily="49" charset="0"/>
              </a:defRPr>
            </a:lvl1pPr>
            <a:lvl2pPr marL="800100" indent="-3429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 b="1">
                <a:solidFill>
                  <a:srgbClr val="333399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2pPr>
            <a:lvl3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 b="1">
                <a:solidFill>
                  <a:srgbClr val="3333CC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3pPr>
            <a:lvl4pPr marL="1714500" indent="-3429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4pPr>
            <a:lvl5pPr marL="2057400" indent="-2286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p"/>
              <a:tabLst/>
              <a:defRPr/>
            </a:pP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任务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3——</a:t>
            </a: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飞行控制与碰撞检测</a:t>
            </a: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800100" marR="0" lvl="1" indent="-34290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p"/>
              <a:tabLst/>
              <a:defRPr/>
            </a:pP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任务目标（运行效果）</a:t>
            </a: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914400" marR="0" lvl="2" indent="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本任务要求在任务</a:t>
            </a: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2“</a:t>
            </a: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背景卷轴</a:t>
            </a: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+</a:t>
            </a: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管道滚动”的基础上，加入完整的人机交互控制与失败判定：玩家通过键盘控制一只在重力作用下不断下落的小鸟，动作空间仅包含“按空格（拍翅上升）”与“不按空格（自然下落）”两种选择；游戏过程中管道持续向左运动形成障碍，小鸟只做上下运动以避障；当小鸟碰到管道或触碰地面</a:t>
            </a: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</a:t>
            </a: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顶部边界时判定游戏失败，同时加入游戏状态机（准备</a:t>
            </a: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</a:t>
            </a: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进行</a:t>
            </a: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</a:t>
            </a: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暂停</a:t>
            </a: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</a:t>
            </a: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失败）以及按键控制（</a:t>
            </a: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SPACE</a:t>
            </a: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开始与跳跃、</a:t>
            </a: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暂停</a:t>
            </a: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</a:t>
            </a: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继续、</a:t>
            </a: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重开、</a:t>
            </a: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ESC</a:t>
            </a: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退出），实现完整可交互的闯关失败体验。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1DF8E92B-827B-3B38-FC63-8B8DF643BB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33639"/>
            <a:ext cx="11615737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ß"/>
              <a:defRPr sz="3200" b="1">
                <a:solidFill>
                  <a:schemeClr val="tx1"/>
                </a:solidFill>
                <a:latin typeface="Consolas" panose="020B0609020204030204" pitchFamily="49" charset="0"/>
              </a:defRPr>
            </a:lvl1pPr>
            <a:lvl2pPr marL="742950" indent="-28575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 b="1">
                <a:solidFill>
                  <a:srgbClr val="333399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2pPr>
            <a:lvl3pPr marL="1143000" indent="-2286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 b="1">
                <a:solidFill>
                  <a:srgbClr val="3333CC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3pPr>
            <a:lvl4pPr marL="1600200" indent="-2286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4pPr>
            <a:lvl5pPr marL="2057400" indent="-2286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综合实践项目</a:t>
            </a:r>
            <a:r>
              <a:rPr kumimoji="1" lang="en-US" altLang="zh-CN" sz="32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——FlappyBird</a:t>
            </a:r>
            <a:r>
              <a:rPr kumimoji="1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闯关系统</a:t>
            </a:r>
            <a:endParaRPr kumimoji="1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4178632D-29DB-596B-388D-DB7E3E0C3BE0}"/>
              </a:ext>
            </a:extLst>
          </p:cNvPr>
          <p:cNvCxnSpPr>
            <a:cxnSpLocks/>
          </p:cNvCxnSpPr>
          <p:nvPr/>
        </p:nvCxnSpPr>
        <p:spPr>
          <a:xfrm>
            <a:off x="6149143" y="1291472"/>
            <a:ext cx="0" cy="4846416"/>
          </a:xfrm>
          <a:prstGeom prst="line">
            <a:avLst/>
          </a:prstGeom>
          <a:ln w="28575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bird3.mp4">
            <a:hlinkClick r:id="" action="ppaction://media"/>
            <a:extLst>
              <a:ext uri="{FF2B5EF4-FFF2-40B4-BE49-F238E27FC236}">
                <a16:creationId xmlns:a16="http://schemas.microsoft.com/office/drawing/2014/main" id="{AA0D8180-1A29-4FB2-A6E6-84EE1DB2CB9A}"/>
              </a:ext>
            </a:extLst>
          </p:cNvPr>
          <p:cNvPicPr>
            <a:picLocks noChangeAspect="1" noChangeArrowheads="1"/>
          </p:cNvPicPr>
          <p:nvPr>
            <a:videoFile r:link="rId3"/>
            <p:extLst>
              <p:ext uri="{DAA4B4D4-6D71-4841-9C94-3DE7FCFB9230}">
                <p14:media xmlns:p14="http://schemas.microsoft.com/office/powerpoint/2010/main" r:link="rId2"/>
              </p:ext>
            </p:ext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5822" y="1876241"/>
            <a:ext cx="5001014" cy="37507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7048951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2165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video>
              <p:cMediaNode vol="80000">
                <p:cTn id="12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4" name="文本框 52">
            <a:extLst>
              <a:ext uri="{FF2B5EF4-FFF2-40B4-BE49-F238E27FC236}">
                <a16:creationId xmlns:a16="http://schemas.microsoft.com/office/drawing/2014/main" id="{9DA82089-C5DE-4EEF-9061-F9041F5237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4248" y="1029586"/>
            <a:ext cx="5964895" cy="499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ß"/>
              <a:defRPr sz="3200" b="1">
                <a:solidFill>
                  <a:schemeClr val="tx1"/>
                </a:solidFill>
                <a:latin typeface="Consolas" panose="020B0609020204030204" pitchFamily="49" charset="0"/>
              </a:defRPr>
            </a:lvl1pPr>
            <a:lvl2pPr marL="800100" indent="-3429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 b="1">
                <a:solidFill>
                  <a:srgbClr val="333399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2pPr>
            <a:lvl3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 b="1">
                <a:solidFill>
                  <a:srgbClr val="3333CC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3pPr>
            <a:lvl4pPr marL="1714500" indent="-3429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4pPr>
            <a:lvl5pPr marL="2057400" indent="-2286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p"/>
              <a:tabLst/>
              <a:defRPr/>
            </a:pP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任务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3——</a:t>
            </a: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飞行控制与碰撞检测</a:t>
            </a: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1DF8E92B-827B-3B38-FC63-8B8DF643BB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33639"/>
            <a:ext cx="11615737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ß"/>
              <a:defRPr sz="3200" b="1">
                <a:solidFill>
                  <a:schemeClr val="tx1"/>
                </a:solidFill>
                <a:latin typeface="Consolas" panose="020B0609020204030204" pitchFamily="49" charset="0"/>
              </a:defRPr>
            </a:lvl1pPr>
            <a:lvl2pPr marL="742950" indent="-28575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 b="1">
                <a:solidFill>
                  <a:srgbClr val="333399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2pPr>
            <a:lvl3pPr marL="1143000" indent="-2286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 b="1">
                <a:solidFill>
                  <a:srgbClr val="3333CC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3pPr>
            <a:lvl4pPr marL="1600200" indent="-2286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4pPr>
            <a:lvl5pPr marL="2057400" indent="-2286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综合实践项目</a:t>
            </a:r>
            <a:r>
              <a:rPr kumimoji="1" lang="en-US" altLang="zh-CN" sz="32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——FlappyBird</a:t>
            </a:r>
            <a:r>
              <a:rPr kumimoji="1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闯关系统</a:t>
            </a:r>
            <a:endParaRPr kumimoji="1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0F72EAF-1732-4272-AF4B-151C7C58277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37338" y="1903244"/>
            <a:ext cx="355600" cy="355600"/>
          </a:xfrm>
          <a:prstGeom prst="rect">
            <a:avLst/>
          </a:prstGeom>
        </p:spPr>
      </p:pic>
      <p:sp>
        <p:nvSpPr>
          <p:cNvPr id="8" name="AutoShape 7">
            <a:extLst>
              <a:ext uri="{FF2B5EF4-FFF2-40B4-BE49-F238E27FC236}">
                <a16:creationId xmlns:a16="http://schemas.microsoft.com/office/drawing/2014/main" id="{813641E5-C1B0-4438-8C13-750D5EF369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81838" y="1877844"/>
            <a:ext cx="4318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pitchFamily="34" charset="-122"/>
                <a:sym typeface="Noto Sans SC" panose="020B0200000000000000" pitchFamily="34" charset="-122"/>
              </a:rPr>
              <a:t>完善游戏核心规则</a:t>
            </a:r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Noto Sans SC" panose="020B0200000000000000" pitchFamily="34" charset="-122"/>
            </a:endParaRPr>
          </a:p>
        </p:txBody>
      </p:sp>
      <p:cxnSp>
        <p:nvCxnSpPr>
          <p:cNvPr id="9" name="Connector 8">
            <a:extLst>
              <a:ext uri="{FF2B5EF4-FFF2-40B4-BE49-F238E27FC236}">
                <a16:creationId xmlns:a16="http://schemas.microsoft.com/office/drawing/2014/main" id="{41790110-D546-4299-B61C-70B011B34E9E}"/>
              </a:ext>
            </a:extLst>
          </p:cNvPr>
          <p:cNvCxnSpPr>
            <a:cxnSpLocks noChangeShapeType="1"/>
          </p:cNvCxnSpPr>
          <p:nvPr/>
        </p:nvCxnSpPr>
        <p:spPr bwMode="auto">
          <a:xfrm rot="-9291">
            <a:off x="6637338" y="2341394"/>
            <a:ext cx="4699000" cy="12700"/>
          </a:xfrm>
          <a:prstGeom prst="straightConnector1">
            <a:avLst/>
          </a:prstGeom>
          <a:noFill/>
          <a:ln w="12700">
            <a:solidFill>
              <a:srgbClr val="38BDF8">
                <a:alpha val="30196"/>
              </a:srgbClr>
            </a:solidFill>
            <a:round/>
            <a:headEnd/>
            <a:tailEnd/>
          </a:ln>
        </p:spPr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A7240361-CE32-42FE-BC4E-BD9D69B8AE4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37338" y="2538244"/>
            <a:ext cx="304800" cy="304800"/>
          </a:xfrm>
          <a:prstGeom prst="rect">
            <a:avLst/>
          </a:prstGeom>
        </p:spPr>
      </p:pic>
      <p:sp>
        <p:nvSpPr>
          <p:cNvPr id="11" name="AutoShape 10">
            <a:extLst>
              <a:ext uri="{FF2B5EF4-FFF2-40B4-BE49-F238E27FC236}">
                <a16:creationId xmlns:a16="http://schemas.microsoft.com/office/drawing/2014/main" id="{A92A7BAD-AFEE-4C9C-94E9-CD8FD4DE43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8338" y="2512844"/>
            <a:ext cx="4445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5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pitchFamily="34" charset="-122"/>
                <a:sym typeface="Noto Sans SC" panose="020B0200000000000000" pitchFamily="34" charset="-122"/>
              </a:rPr>
              <a:t>碰撞检测机制</a:t>
            </a:r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Noto Sans SC" panose="020B0200000000000000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3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pitchFamily="34" charset="-122"/>
                <a:sym typeface="Noto Sans SC" panose="020B0200000000000000" pitchFamily="34" charset="-122"/>
              </a:rPr>
              <a:t>实现基于轴对齐矩形相交检测（</a:t>
            </a:r>
            <a:r>
              <a:rPr kumimoji="0" lang="en-US" altLang="zh-CN" sz="13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pitchFamily="34" charset="-122"/>
                <a:sym typeface="Noto Sans SC" panose="020B0200000000000000" pitchFamily="34" charset="-122"/>
              </a:rPr>
              <a:t>AABB</a:t>
            </a:r>
            <a:r>
              <a:rPr kumimoji="0" lang="zh-CN" altLang="en-US" sz="13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pitchFamily="34" charset="-122"/>
                <a:sym typeface="Noto Sans SC" panose="020B0200000000000000" pitchFamily="34" charset="-122"/>
              </a:rPr>
              <a:t>）算法，判断小鸟与管道的碰撞。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B747EF1-2D8E-4AF9-9F3D-DDEBA1699F3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37338" y="3454232"/>
            <a:ext cx="304800" cy="304800"/>
          </a:xfrm>
          <a:prstGeom prst="rect">
            <a:avLst/>
          </a:prstGeom>
        </p:spPr>
      </p:pic>
      <p:sp>
        <p:nvSpPr>
          <p:cNvPr id="13" name="AutoShape 12">
            <a:extLst>
              <a:ext uri="{FF2B5EF4-FFF2-40B4-BE49-F238E27FC236}">
                <a16:creationId xmlns:a16="http://schemas.microsoft.com/office/drawing/2014/main" id="{C5249858-306A-4944-8116-FBC9598DEB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26275" y="4359107"/>
            <a:ext cx="4445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5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pitchFamily="34" charset="-122"/>
                <a:sym typeface="Noto Sans SC" panose="020B0200000000000000" pitchFamily="34" charset="-122"/>
              </a:rPr>
              <a:t>游戏状态管理</a:t>
            </a:r>
            <a:endParaRPr kumimoji="0" lang="en-US" altLang="zh-CN" sz="15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Noto Sans SC" panose="020B0200000000000000" pitchFamily="34" charset="-122"/>
              <a:sym typeface="Noto Sans SC" panose="020B0200000000000000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3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pitchFamily="34" charset="-122"/>
                <a:sym typeface="Noto Sans SC" panose="020B0200000000000000" pitchFamily="34" charset="-122"/>
              </a:rPr>
              <a:t>使用状态机（如准备、运行、暂停、失败）来管理游戏的不同状态，并相应地调整输入响应和游戏逻辑。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4A5CED7-1AD5-4171-8C7F-98586FB0A48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37338" y="4384507"/>
            <a:ext cx="304800" cy="304800"/>
          </a:xfrm>
          <a:prstGeom prst="rect">
            <a:avLst/>
          </a:prstGeom>
        </p:spPr>
      </p:pic>
      <p:sp>
        <p:nvSpPr>
          <p:cNvPr id="16" name="AutoShape 14">
            <a:extLst>
              <a:ext uri="{FF2B5EF4-FFF2-40B4-BE49-F238E27FC236}">
                <a16:creationId xmlns:a16="http://schemas.microsoft.com/office/drawing/2014/main" id="{8BF1136F-089F-491C-8999-A7AA3042B5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26275" y="3424069"/>
            <a:ext cx="4445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5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pitchFamily="34" charset="-122"/>
                <a:sym typeface="Noto Sans SC" panose="020B0200000000000000" pitchFamily="34" charset="-122"/>
              </a:rPr>
              <a:t>用户输入处理与状态控制</a:t>
            </a:r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Noto Sans SC" panose="020B0200000000000000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3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pitchFamily="34" charset="-122"/>
                <a:sym typeface="Noto Sans SC" panose="020B0200000000000000" pitchFamily="34" charset="-122"/>
              </a:rPr>
              <a:t>通过用户的按键输入实时控制小鸟的行为（如飞行、暂停、重新开始、退出等）。</a:t>
            </a:r>
          </a:p>
        </p:txBody>
      </p:sp>
      <p:sp>
        <p:nvSpPr>
          <p:cNvPr id="17" name="AutoShape 20">
            <a:extLst>
              <a:ext uri="{FF2B5EF4-FFF2-40B4-BE49-F238E27FC236}">
                <a16:creationId xmlns:a16="http://schemas.microsoft.com/office/drawing/2014/main" id="{E9D11C41-FC13-4EDE-9BBF-8A651478F565}"/>
              </a:ext>
            </a:extLst>
          </p:cNvPr>
          <p:cNvSpPr/>
          <p:nvPr/>
        </p:nvSpPr>
        <p:spPr>
          <a:xfrm>
            <a:off x="630238" y="1520657"/>
            <a:ext cx="5207000" cy="4826000"/>
          </a:xfrm>
          <a:prstGeom prst="roundRect">
            <a:avLst>
              <a:gd name="adj" fmla="val 2631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00000">
                <a:alpha val="5000"/>
              </a:srgbClr>
            </a:outerShdw>
          </a:effectLst>
        </p:spPr>
        <p:txBody>
          <a:bodyPr lIns="63500" tIns="63500" rIns="63500" bIns="635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18" name="AutoShape 22">
            <a:extLst>
              <a:ext uri="{FF2B5EF4-FFF2-40B4-BE49-F238E27FC236}">
                <a16:creationId xmlns:a16="http://schemas.microsoft.com/office/drawing/2014/main" id="{53815393-CF6A-489F-85F1-685C339E234E}"/>
              </a:ext>
            </a:extLst>
          </p:cNvPr>
          <p:cNvSpPr/>
          <p:nvPr/>
        </p:nvSpPr>
        <p:spPr>
          <a:xfrm>
            <a:off x="1050925" y="4505679"/>
            <a:ext cx="4699000" cy="201719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lIns="0" tIns="0" rIns="0" bIns="0" anchor="ctr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Noto Sans SC"/>
              </a:rPr>
              <a:t>能力目标</a:t>
            </a: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Noto Sans SC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能够通过用户的按键输入实时控制小鸟的行为（如飞行、暂停、重新开始、退出等）</a:t>
            </a:r>
          </a:p>
          <a:p>
            <a:pPr marL="342900" marR="0" lvl="0" indent="-3429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理解使用状态机来管理游戏的不同状态，并相应地调整输入响应和游戏逻辑</a:t>
            </a:r>
          </a:p>
          <a:p>
            <a:pPr marL="342900" marR="0" lvl="0" indent="-3429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kumimoji="0" lang="zh-CN" altLang="en-US" sz="14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19" name="bird3.mp4">
            <a:hlinkClick r:id="" action="ppaction://media"/>
            <a:extLst>
              <a:ext uri="{FF2B5EF4-FFF2-40B4-BE49-F238E27FC236}">
                <a16:creationId xmlns:a16="http://schemas.microsoft.com/office/drawing/2014/main" id="{22EF5663-6D1F-4B3E-A86F-509B7AD72C9E}"/>
              </a:ext>
            </a:extLst>
          </p:cNvPr>
          <p:cNvPicPr>
            <a:picLocks noChangeAspect="1" noChangeArrowheads="1"/>
          </p:cNvPicPr>
          <p:nvPr>
            <a:videoFile r:link="rId3"/>
            <p:extLst>
              <p:ext uri="{DAA4B4D4-6D71-4841-9C94-3DE7FCFB9230}">
                <p14:media xmlns:p14="http://schemas.microsoft.com/office/powerpoint/2010/main" r:link="rId2"/>
              </p:ext>
            </p:ext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0000" y="1585744"/>
            <a:ext cx="4074160" cy="30556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2182191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2165" fill="hold"/>
                                        <p:tgtEl>
                                          <p:spTgt spid="1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1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  <p:video>
              <p:cMediaNode vol="80000">
                <p:cTn id="12" fill="hold" display="0">
                  <p:stCondLst>
                    <p:cond delay="indefinite"/>
                  </p:stCondLst>
                </p:cTn>
                <p:tgtEl>
                  <p:spTgt spid="19"/>
                </p:tgtEl>
              </p:cMediaNode>
            </p:video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4" name="文本框 52">
            <a:extLst>
              <a:ext uri="{FF2B5EF4-FFF2-40B4-BE49-F238E27FC236}">
                <a16:creationId xmlns:a16="http://schemas.microsoft.com/office/drawing/2014/main" id="{9DA82089-C5DE-4EEF-9061-F9041F5237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4248" y="1029586"/>
            <a:ext cx="5964895" cy="26287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ß"/>
              <a:defRPr sz="3200" b="1">
                <a:solidFill>
                  <a:schemeClr val="tx1"/>
                </a:solidFill>
                <a:latin typeface="Consolas" panose="020B0609020204030204" pitchFamily="49" charset="0"/>
              </a:defRPr>
            </a:lvl1pPr>
            <a:lvl2pPr marL="800100" indent="-3429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 b="1">
                <a:solidFill>
                  <a:srgbClr val="333399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2pPr>
            <a:lvl3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 b="1">
                <a:solidFill>
                  <a:srgbClr val="3333CC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3pPr>
            <a:lvl4pPr marL="1714500" indent="-3429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4pPr>
            <a:lvl5pPr marL="2057400" indent="-2286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p"/>
              <a:tabLst/>
              <a:defRPr/>
            </a:pP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任务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3——</a:t>
            </a: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飞行控制与碰撞检测</a:t>
            </a: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800100" marR="0" lvl="1" indent="-34290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p"/>
              <a:tabLst/>
              <a:defRPr/>
            </a:pP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任务目标（运行效果）</a:t>
            </a: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914400" marR="0" lvl="2" indent="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加入游戏状态机（准备</a:t>
            </a: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</a:t>
            </a: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进行</a:t>
            </a: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</a:t>
            </a: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暂停</a:t>
            </a: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</a:t>
            </a: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失败）以及按键控制（</a:t>
            </a: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SPACE</a:t>
            </a: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开始与跳跃、</a:t>
            </a: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暂停</a:t>
            </a: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</a:t>
            </a: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继续、</a:t>
            </a: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重开、</a:t>
            </a: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ESC</a:t>
            </a: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退出），实现完整可交互的闯关失败体验。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1DF8E92B-827B-3B38-FC63-8B8DF643BB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33639"/>
            <a:ext cx="11615737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ß"/>
              <a:defRPr sz="3200" b="1">
                <a:solidFill>
                  <a:schemeClr val="tx1"/>
                </a:solidFill>
                <a:latin typeface="Consolas" panose="020B0609020204030204" pitchFamily="49" charset="0"/>
              </a:defRPr>
            </a:lvl1pPr>
            <a:lvl2pPr marL="742950" indent="-28575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 b="1">
                <a:solidFill>
                  <a:srgbClr val="333399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2pPr>
            <a:lvl3pPr marL="1143000" indent="-2286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 b="1">
                <a:solidFill>
                  <a:srgbClr val="3333CC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3pPr>
            <a:lvl4pPr marL="1600200" indent="-2286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4pPr>
            <a:lvl5pPr marL="2057400" indent="-2286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综合实践项目</a:t>
            </a:r>
            <a:r>
              <a:rPr kumimoji="1" lang="en-US" altLang="zh-CN" sz="32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——FlappyBird</a:t>
            </a:r>
            <a:r>
              <a:rPr kumimoji="1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闯关系统</a:t>
            </a:r>
            <a:endParaRPr kumimoji="1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4178632D-29DB-596B-388D-DB7E3E0C3BE0}"/>
              </a:ext>
            </a:extLst>
          </p:cNvPr>
          <p:cNvCxnSpPr>
            <a:cxnSpLocks/>
          </p:cNvCxnSpPr>
          <p:nvPr/>
        </p:nvCxnSpPr>
        <p:spPr>
          <a:xfrm>
            <a:off x="6149143" y="1291472"/>
            <a:ext cx="0" cy="4846416"/>
          </a:xfrm>
          <a:prstGeom prst="line">
            <a:avLst/>
          </a:prstGeom>
          <a:ln w="28575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bird3.mp4">
            <a:hlinkClick r:id="" action="ppaction://media"/>
            <a:extLst>
              <a:ext uri="{FF2B5EF4-FFF2-40B4-BE49-F238E27FC236}">
                <a16:creationId xmlns:a16="http://schemas.microsoft.com/office/drawing/2014/main" id="{BDEF4819-D52A-4C09-8F13-B9F266FED9D1}"/>
              </a:ext>
            </a:extLst>
          </p:cNvPr>
          <p:cNvPicPr>
            <a:picLocks noChangeAspect="1" noChangeArrowheads="1"/>
          </p:cNvPicPr>
          <p:nvPr>
            <a:videoFile r:link="rId3"/>
            <p:extLst>
              <p:ext uri="{DAA4B4D4-6D71-4841-9C94-3DE7FCFB9230}">
                <p14:media xmlns:p14="http://schemas.microsoft.com/office/powerpoint/2010/main" r:link="rId2"/>
              </p:ext>
            </p:ext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3008" y="3658319"/>
            <a:ext cx="3813606" cy="28602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52CC62B4-212A-4F49-9A75-0E0E8BD6ED6A}"/>
              </a:ext>
            </a:extLst>
          </p:cNvPr>
          <p:cNvSpPr txBox="1"/>
          <p:nvPr/>
        </p:nvSpPr>
        <p:spPr>
          <a:xfrm>
            <a:off x="6511412" y="1029586"/>
            <a:ext cx="470916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>
                <a:solidFill>
                  <a:srgbClr val="008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// </a:t>
            </a:r>
            <a:r>
              <a:rPr lang="zh-CN" altLang="en-US" sz="1800">
                <a:solidFill>
                  <a:srgbClr val="008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游戏状态机</a:t>
            </a:r>
            <a:endParaRPr lang="zh-CN" altLang="en-US" sz="1800">
              <a:solidFill>
                <a:srgbClr val="000000"/>
              </a:solidFill>
              <a:highlight>
                <a:srgbClr val="FFFFFF"/>
              </a:highlight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r>
              <a:rPr lang="en-US" altLang="zh-CN" sz="1800">
                <a:solidFill>
                  <a:srgbClr val="0000FF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typedef</a:t>
            </a:r>
            <a:r>
              <a:rPr lang="en-US" altLang="zh-CN" sz="1800">
                <a:solidFill>
                  <a:srgbClr val="000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 </a:t>
            </a:r>
            <a:r>
              <a:rPr lang="en-US" altLang="zh-CN" sz="1800">
                <a:solidFill>
                  <a:srgbClr val="0000FF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enum</a:t>
            </a:r>
            <a:r>
              <a:rPr lang="en-US" altLang="zh-CN" sz="1800">
                <a:solidFill>
                  <a:srgbClr val="000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 {</a:t>
            </a:r>
          </a:p>
          <a:p>
            <a:r>
              <a:rPr lang="en-US" altLang="zh-CN" sz="1800">
                <a:solidFill>
                  <a:srgbClr val="000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    </a:t>
            </a:r>
            <a:r>
              <a:rPr lang="en-US" altLang="zh-CN" sz="1800">
                <a:solidFill>
                  <a:srgbClr val="2F4F4F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GS_READY</a:t>
            </a:r>
            <a:r>
              <a:rPr lang="en-US" altLang="zh-CN" sz="1800">
                <a:solidFill>
                  <a:srgbClr val="000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 = 0,   </a:t>
            </a:r>
            <a:r>
              <a:rPr lang="en-US" altLang="zh-CN" sz="1800">
                <a:solidFill>
                  <a:srgbClr val="008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// </a:t>
            </a:r>
            <a:r>
              <a:rPr lang="zh-CN" altLang="en-US" sz="1800">
                <a:solidFill>
                  <a:srgbClr val="008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等待开始</a:t>
            </a:r>
            <a:endParaRPr lang="zh-CN" altLang="en-US" sz="1800">
              <a:solidFill>
                <a:srgbClr val="000000"/>
              </a:solidFill>
              <a:highlight>
                <a:srgbClr val="FFFFFF"/>
              </a:highlight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r>
              <a:rPr lang="en-US" altLang="zh-CN" sz="1800">
                <a:solidFill>
                  <a:srgbClr val="000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    </a:t>
            </a:r>
            <a:r>
              <a:rPr lang="en-US" altLang="zh-CN" sz="1800">
                <a:solidFill>
                  <a:srgbClr val="2F4F4F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GS_RUNNING</a:t>
            </a:r>
            <a:r>
              <a:rPr lang="en-US" altLang="zh-CN" sz="1800">
                <a:solidFill>
                  <a:srgbClr val="000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,     </a:t>
            </a:r>
            <a:r>
              <a:rPr lang="en-US" altLang="zh-CN" sz="1800">
                <a:solidFill>
                  <a:srgbClr val="008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// </a:t>
            </a:r>
            <a:r>
              <a:rPr lang="zh-CN" altLang="en-US" sz="1800">
                <a:solidFill>
                  <a:srgbClr val="008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游戏进行中</a:t>
            </a:r>
            <a:endParaRPr lang="zh-CN" altLang="en-US" sz="1800">
              <a:solidFill>
                <a:srgbClr val="000000"/>
              </a:solidFill>
              <a:highlight>
                <a:srgbClr val="FFFFFF"/>
              </a:highlight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r>
              <a:rPr lang="en-US" altLang="zh-CN" sz="1800">
                <a:solidFill>
                  <a:srgbClr val="000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    </a:t>
            </a:r>
            <a:r>
              <a:rPr lang="en-US" altLang="zh-CN" sz="1800">
                <a:solidFill>
                  <a:srgbClr val="2F4F4F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GS_PAUSED</a:t>
            </a:r>
            <a:r>
              <a:rPr lang="en-US" altLang="zh-CN" sz="1800">
                <a:solidFill>
                  <a:srgbClr val="000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,      </a:t>
            </a:r>
            <a:r>
              <a:rPr lang="en-US" altLang="zh-CN" sz="1800">
                <a:solidFill>
                  <a:srgbClr val="008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// </a:t>
            </a:r>
            <a:r>
              <a:rPr lang="zh-CN" altLang="en-US" sz="1800">
                <a:solidFill>
                  <a:srgbClr val="008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暂停</a:t>
            </a:r>
            <a:endParaRPr lang="zh-CN" altLang="en-US" sz="1800">
              <a:solidFill>
                <a:srgbClr val="000000"/>
              </a:solidFill>
              <a:highlight>
                <a:srgbClr val="FFFFFF"/>
              </a:highlight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r>
              <a:rPr lang="en-US" altLang="zh-CN" sz="1800">
                <a:solidFill>
                  <a:srgbClr val="000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    </a:t>
            </a:r>
            <a:r>
              <a:rPr lang="en-US" altLang="zh-CN" sz="1800">
                <a:solidFill>
                  <a:srgbClr val="2F4F4F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GS_GAMEOVER</a:t>
            </a:r>
            <a:r>
              <a:rPr lang="en-US" altLang="zh-CN" sz="1800">
                <a:solidFill>
                  <a:srgbClr val="000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     </a:t>
            </a:r>
            <a:r>
              <a:rPr lang="en-US" altLang="zh-CN" sz="1800">
                <a:solidFill>
                  <a:srgbClr val="008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// </a:t>
            </a:r>
            <a:r>
              <a:rPr lang="zh-CN" altLang="en-US" sz="1800">
                <a:solidFill>
                  <a:srgbClr val="008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游戏结束</a:t>
            </a:r>
            <a:endParaRPr lang="zh-CN" altLang="en-US" sz="1800">
              <a:solidFill>
                <a:srgbClr val="000000"/>
              </a:solidFill>
              <a:highlight>
                <a:srgbClr val="FFFFFF"/>
              </a:highlight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r>
              <a:rPr lang="en-US" altLang="zh-CN" sz="1800">
                <a:solidFill>
                  <a:srgbClr val="000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} </a:t>
            </a:r>
            <a:r>
              <a:rPr lang="en-US" altLang="zh-CN" sz="1800">
                <a:solidFill>
                  <a:srgbClr val="2B91AF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GameState</a:t>
            </a:r>
            <a:r>
              <a:rPr lang="en-US" altLang="zh-CN" sz="1800">
                <a:solidFill>
                  <a:srgbClr val="000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;</a:t>
            </a:r>
            <a:endParaRPr lang="zh-CN" altLang="en-US"/>
          </a:p>
        </p:txBody>
      </p:sp>
      <p:graphicFrame>
        <p:nvGraphicFramePr>
          <p:cNvPr id="4" name="表格 4">
            <a:extLst>
              <a:ext uri="{FF2B5EF4-FFF2-40B4-BE49-F238E27FC236}">
                <a16:creationId xmlns:a16="http://schemas.microsoft.com/office/drawing/2014/main" id="{AAAB1AFA-CFF4-4253-8995-43883C0BD0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3709623"/>
              </p:ext>
            </p:extLst>
          </p:nvPr>
        </p:nvGraphicFramePr>
        <p:xfrm>
          <a:off x="6257738" y="3165724"/>
          <a:ext cx="5856300" cy="2895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24560">
                  <a:extLst>
                    <a:ext uri="{9D8B030D-6E8A-4147-A177-3AD203B41FA5}">
                      <a16:colId xmlns:a16="http://schemas.microsoft.com/office/drawing/2014/main" val="2560261219"/>
                    </a:ext>
                  </a:extLst>
                </a:gridCol>
                <a:gridCol w="924560">
                  <a:extLst>
                    <a:ext uri="{9D8B030D-6E8A-4147-A177-3AD203B41FA5}">
                      <a16:colId xmlns:a16="http://schemas.microsoft.com/office/drawing/2014/main" val="3785546875"/>
                    </a:ext>
                  </a:extLst>
                </a:gridCol>
                <a:gridCol w="789369">
                  <a:extLst>
                    <a:ext uri="{9D8B030D-6E8A-4147-A177-3AD203B41FA5}">
                      <a16:colId xmlns:a16="http://schemas.microsoft.com/office/drawing/2014/main" val="327775762"/>
                    </a:ext>
                  </a:extLst>
                </a:gridCol>
                <a:gridCol w="820010">
                  <a:extLst>
                    <a:ext uri="{9D8B030D-6E8A-4147-A177-3AD203B41FA5}">
                      <a16:colId xmlns:a16="http://schemas.microsoft.com/office/drawing/2014/main" val="2401027994"/>
                    </a:ext>
                  </a:extLst>
                </a:gridCol>
                <a:gridCol w="784615">
                  <a:extLst>
                    <a:ext uri="{9D8B030D-6E8A-4147-A177-3AD203B41FA5}">
                      <a16:colId xmlns:a16="http://schemas.microsoft.com/office/drawing/2014/main" val="2455207990"/>
                    </a:ext>
                  </a:extLst>
                </a:gridCol>
                <a:gridCol w="1613186">
                  <a:extLst>
                    <a:ext uri="{9D8B030D-6E8A-4147-A177-3AD203B41FA5}">
                      <a16:colId xmlns:a16="http://schemas.microsoft.com/office/drawing/2014/main" val="5151587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/>
                        <a:t>当前状态 </a:t>
                      </a:r>
                      <a:r>
                        <a:rPr lang="en-US" sz="1000"/>
                        <a:t>GameState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/>
                        <a:t>响应按键</a:t>
                      </a:r>
                      <a:endParaRPr lang="en-US" altLang="zh-CN" sz="1000"/>
                    </a:p>
                    <a:p>
                      <a:pPr algn="ctr"/>
                      <a:r>
                        <a:rPr lang="en-US" altLang="zh-CN" sz="1000"/>
                        <a:t>/</a:t>
                      </a:r>
                      <a:r>
                        <a:rPr lang="zh-CN" altLang="en-US" sz="1000"/>
                        <a:t>操作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/>
                        <a:t>小鸟更新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/>
                        <a:t>管道更新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/>
                        <a:t>背景更新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/>
                        <a:t>状态切换条件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438888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000" b="1"/>
                        <a:t>GS_READY</a:t>
                      </a:r>
                      <a:endParaRPr lang="en-US" sz="1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SPACE（</a:t>
                      </a:r>
                      <a:r>
                        <a:rPr lang="zh-CN" altLang="en-US" sz="1000"/>
                        <a:t>开始）、</a:t>
                      </a:r>
                      <a:r>
                        <a:rPr lang="en-US" sz="1000"/>
                        <a:t>R（</a:t>
                      </a:r>
                      <a:r>
                        <a:rPr lang="zh-CN" altLang="en-US" sz="1000"/>
                        <a:t>重置）、</a:t>
                      </a:r>
                      <a:r>
                        <a:rPr lang="en-US" sz="1000"/>
                        <a:t>ESC（</a:t>
                      </a:r>
                      <a:r>
                        <a:rPr lang="zh-CN" altLang="en-US" sz="1000"/>
                        <a:t>退出）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1000"/>
                        <a:t>❌ 不更新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1000"/>
                        <a:t>❌ 不更新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1000"/>
                        <a:t>❌ 不更新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SPACE → GS_RUNNING；R → </a:t>
                      </a:r>
                      <a:r>
                        <a:rPr lang="zh-CN" altLang="en-US" sz="1000"/>
                        <a:t>重置；</a:t>
                      </a:r>
                      <a:r>
                        <a:rPr lang="en-US" sz="1000"/>
                        <a:t>ESC → </a:t>
                      </a:r>
                      <a:r>
                        <a:rPr lang="zh-CN" altLang="en-US" sz="1000"/>
                        <a:t>退出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950887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000" b="1"/>
                        <a:t>GS_RUNNING</a:t>
                      </a:r>
                      <a:endParaRPr lang="en-US" sz="1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SPACE（</a:t>
                      </a:r>
                      <a:r>
                        <a:rPr lang="zh-CN" altLang="en-US" sz="1000"/>
                        <a:t>跳跃）、</a:t>
                      </a:r>
                      <a:r>
                        <a:rPr lang="en-US" sz="1000"/>
                        <a:t>P（</a:t>
                      </a:r>
                      <a:r>
                        <a:rPr lang="zh-CN" altLang="en-US" sz="1000"/>
                        <a:t>暂停）、</a:t>
                      </a:r>
                      <a:r>
                        <a:rPr lang="en-US" sz="1000"/>
                        <a:t>R（</a:t>
                      </a:r>
                      <a:r>
                        <a:rPr lang="zh-CN" altLang="en-US" sz="1000"/>
                        <a:t>重置）、</a:t>
                      </a:r>
                      <a:r>
                        <a:rPr lang="en-US" sz="1000"/>
                        <a:t>ESC（</a:t>
                      </a:r>
                      <a:r>
                        <a:rPr lang="zh-CN" altLang="en-US" sz="1000"/>
                        <a:t>退出）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1000"/>
                        <a:t>✅ 更新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1000"/>
                        <a:t>✅ 更新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1000"/>
                        <a:t>✅ 更新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P → GS_PAUSED；</a:t>
                      </a:r>
                      <a:r>
                        <a:rPr lang="zh-CN" altLang="en-US" sz="1000"/>
                        <a:t>碰撞</a:t>
                      </a:r>
                      <a:r>
                        <a:rPr lang="en-US" altLang="zh-CN" sz="1000"/>
                        <a:t>/</a:t>
                      </a:r>
                      <a:r>
                        <a:rPr lang="zh-CN" altLang="en-US" sz="1000"/>
                        <a:t>越界 → </a:t>
                      </a:r>
                      <a:r>
                        <a:rPr lang="en-US" sz="1000"/>
                        <a:t>GS_GAMEOVER；R → </a:t>
                      </a:r>
                      <a:r>
                        <a:rPr lang="zh-CN" altLang="en-US" sz="1000"/>
                        <a:t>重置；</a:t>
                      </a:r>
                      <a:r>
                        <a:rPr lang="en-US" sz="1000"/>
                        <a:t>ESC → </a:t>
                      </a:r>
                      <a:r>
                        <a:rPr lang="zh-CN" altLang="en-US" sz="1000"/>
                        <a:t>退出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88525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000" b="1"/>
                        <a:t>GS_PAUSED</a:t>
                      </a:r>
                      <a:endParaRPr lang="en-US" sz="1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sz="1000"/>
                        <a:t>P</a:t>
                      </a:r>
                      <a:r>
                        <a:rPr lang="zh-CN" altLang="en-US" sz="1000"/>
                        <a:t>（继续）、</a:t>
                      </a:r>
                      <a:r>
                        <a:rPr lang="en-US" altLang="zh-CN" sz="1000"/>
                        <a:t>R</a:t>
                      </a:r>
                      <a:r>
                        <a:rPr lang="zh-CN" altLang="en-US" sz="1000"/>
                        <a:t>（重置）、</a:t>
                      </a:r>
                      <a:r>
                        <a:rPr lang="en-US" altLang="zh-CN" sz="1000"/>
                        <a:t>ESC</a:t>
                      </a:r>
                      <a:r>
                        <a:rPr lang="zh-CN" altLang="en-US" sz="1000"/>
                        <a:t>（退出）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1000"/>
                        <a:t>❌ 不更新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1000"/>
                        <a:t>❌ 不更新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1000"/>
                        <a:t>❌ 不更新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P → GS_RUNNING；R → </a:t>
                      </a:r>
                      <a:r>
                        <a:rPr lang="zh-CN" altLang="en-US" sz="1000"/>
                        <a:t>重置；</a:t>
                      </a:r>
                      <a:r>
                        <a:rPr lang="en-US" sz="1000"/>
                        <a:t>ESC → </a:t>
                      </a:r>
                      <a:r>
                        <a:rPr lang="zh-CN" altLang="en-US" sz="1000"/>
                        <a:t>退出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829893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000" b="1"/>
                        <a:t>GS_GAMEOVER</a:t>
                      </a:r>
                      <a:endParaRPr lang="en-US" sz="1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R（</a:t>
                      </a:r>
                      <a:r>
                        <a:rPr lang="zh-CN" altLang="en-US" sz="1000"/>
                        <a:t>重置）、</a:t>
                      </a:r>
                      <a:r>
                        <a:rPr lang="en-US" sz="1000"/>
                        <a:t>ESC（</a:t>
                      </a:r>
                      <a:r>
                        <a:rPr lang="zh-CN" altLang="en-US" sz="1000"/>
                        <a:t>退出）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1000"/>
                        <a:t>❌ 不更新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1000"/>
                        <a:t>❌ 不更新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1000"/>
                        <a:t>❌ 不更新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 → </a:t>
                      </a:r>
                      <a:r>
                        <a:rPr lang="zh-CN" altLang="en-US" sz="1000"/>
                        <a:t>重置；</a:t>
                      </a:r>
                      <a:r>
                        <a:rPr lang="en-US" sz="1000"/>
                        <a:t>ESC → </a:t>
                      </a:r>
                      <a:r>
                        <a:rPr lang="zh-CN" altLang="en-US" sz="1000"/>
                        <a:t>退出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5882347"/>
                  </a:ext>
                </a:extLst>
              </a:tr>
            </a:tbl>
          </a:graphicData>
        </a:graphic>
      </p:graphicFrame>
      <p:sp>
        <p:nvSpPr>
          <p:cNvPr id="11" name="文本框 10">
            <a:extLst>
              <a:ext uri="{FF2B5EF4-FFF2-40B4-BE49-F238E27FC236}">
                <a16:creationId xmlns:a16="http://schemas.microsoft.com/office/drawing/2014/main" id="{E6CB2C56-2323-49F5-818F-EFB8F833BE26}"/>
              </a:ext>
            </a:extLst>
          </p:cNvPr>
          <p:cNvSpPr txBox="1"/>
          <p:nvPr/>
        </p:nvSpPr>
        <p:spPr>
          <a:xfrm>
            <a:off x="6257738" y="6216894"/>
            <a:ext cx="60969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/>
              <a:t>所有更新、渲染和输入处理先判断状态再执行对应操作</a:t>
            </a:r>
            <a:r>
              <a:rPr lang="zh-CN" altLang="en-US"/>
              <a:t>。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542823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2165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video>
              <p:cMediaNode vol="80000">
                <p:cTn id="12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4" name="文本框 52">
            <a:extLst>
              <a:ext uri="{FF2B5EF4-FFF2-40B4-BE49-F238E27FC236}">
                <a16:creationId xmlns:a16="http://schemas.microsoft.com/office/drawing/2014/main" id="{9DA82089-C5DE-4EEF-9061-F9041F5237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4248" y="1029586"/>
            <a:ext cx="5964895" cy="17977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ß"/>
              <a:defRPr sz="3200" b="1">
                <a:solidFill>
                  <a:schemeClr val="tx1"/>
                </a:solidFill>
                <a:latin typeface="Consolas" panose="020B0609020204030204" pitchFamily="49" charset="0"/>
              </a:defRPr>
            </a:lvl1pPr>
            <a:lvl2pPr marL="800100" indent="-3429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 b="1">
                <a:solidFill>
                  <a:srgbClr val="333399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2pPr>
            <a:lvl3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 b="1">
                <a:solidFill>
                  <a:srgbClr val="3333CC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3pPr>
            <a:lvl4pPr marL="1714500" indent="-3429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4pPr>
            <a:lvl5pPr marL="2057400" indent="-2286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p"/>
              <a:tabLst/>
              <a:defRPr/>
            </a:pP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任务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3——</a:t>
            </a: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飞行控制与碰撞检测</a:t>
            </a: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800100" marR="0" lvl="1" indent="-34290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p"/>
              <a:tabLst/>
              <a:defRPr/>
            </a:pP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任务目标（运行效果）</a:t>
            </a: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914400" marR="0" lvl="2" indent="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本任务要求在任务</a:t>
            </a: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2“</a:t>
            </a: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背景卷轴</a:t>
            </a: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+</a:t>
            </a: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管道滚动”的基础上，加入完整的人机交互控制与失败判定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1DF8E92B-827B-3B38-FC63-8B8DF643BB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33639"/>
            <a:ext cx="11615737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ß"/>
              <a:defRPr sz="3200" b="1">
                <a:solidFill>
                  <a:schemeClr val="tx1"/>
                </a:solidFill>
                <a:latin typeface="Consolas" panose="020B0609020204030204" pitchFamily="49" charset="0"/>
              </a:defRPr>
            </a:lvl1pPr>
            <a:lvl2pPr marL="742950" indent="-28575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 b="1">
                <a:solidFill>
                  <a:srgbClr val="333399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2pPr>
            <a:lvl3pPr marL="1143000" indent="-2286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 b="1">
                <a:solidFill>
                  <a:srgbClr val="3333CC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3pPr>
            <a:lvl4pPr marL="1600200" indent="-2286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4pPr>
            <a:lvl5pPr marL="2057400" indent="-2286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综合实践项目</a:t>
            </a:r>
            <a:r>
              <a:rPr kumimoji="1" lang="en-US" altLang="zh-CN" sz="32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——FlappyBird</a:t>
            </a:r>
            <a:r>
              <a:rPr kumimoji="1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闯关系统</a:t>
            </a:r>
            <a:endParaRPr kumimoji="1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4178632D-29DB-596B-388D-DB7E3E0C3BE0}"/>
              </a:ext>
            </a:extLst>
          </p:cNvPr>
          <p:cNvCxnSpPr>
            <a:cxnSpLocks/>
          </p:cNvCxnSpPr>
          <p:nvPr/>
        </p:nvCxnSpPr>
        <p:spPr>
          <a:xfrm>
            <a:off x="6149143" y="1291472"/>
            <a:ext cx="0" cy="4846416"/>
          </a:xfrm>
          <a:prstGeom prst="line">
            <a:avLst/>
          </a:prstGeom>
          <a:ln w="28575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52">
            <a:extLst>
              <a:ext uri="{FF2B5EF4-FFF2-40B4-BE49-F238E27FC236}">
                <a16:creationId xmlns:a16="http://schemas.microsoft.com/office/drawing/2014/main" id="{B907F1B2-3696-44A9-BBC3-02948477F9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3519" y="1029155"/>
            <a:ext cx="6478481" cy="17515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ß"/>
              <a:defRPr sz="3200" b="1">
                <a:solidFill>
                  <a:schemeClr val="tx1"/>
                </a:solidFill>
                <a:latin typeface="Consolas" panose="020B0609020204030204" pitchFamily="49" charset="0"/>
              </a:defRPr>
            </a:lvl1pPr>
            <a:lvl2pPr marL="800100" indent="-3429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 b="1">
                <a:solidFill>
                  <a:srgbClr val="333399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2pPr>
            <a:lvl3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 b="1">
                <a:solidFill>
                  <a:srgbClr val="3333CC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3pPr>
            <a:lvl4pPr marL="1714500" indent="-3429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4pPr>
            <a:lvl5pPr marL="2057400" indent="-2286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9pPr>
          </a:lstStyle>
          <a:p>
            <a:pPr marL="800100" marR="0" lvl="1" indent="-34290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p"/>
              <a:tabLst/>
              <a:defRPr/>
            </a:pP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核心算法思路</a:t>
            </a: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zh-CN" altLang="en-US" sz="200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小鸟与管道的</a:t>
            </a: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碰撞检测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914400" marR="0" lvl="2" indent="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轴对齐矩形相交检测（</a:t>
            </a: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AABB</a:t>
            </a: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），判断两个矩形是否有重叠区域。即小鸟和管道的碰撞区域是矩形，通过判断矩形是否相交来判定碰撞。</a:t>
            </a:r>
            <a:endParaRPr kumimoji="0" lang="en-US" altLang="zh-CN" sz="1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6C92357A-FB4B-4643-857C-68760369D480}"/>
              </a:ext>
            </a:extLst>
          </p:cNvPr>
          <p:cNvSpPr txBox="1"/>
          <p:nvPr/>
        </p:nvSpPr>
        <p:spPr>
          <a:xfrm>
            <a:off x="6799949" y="5910996"/>
            <a:ext cx="430561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/>
              <a:t>两个矩形相交判定条件</a:t>
            </a:r>
            <a:r>
              <a:rPr lang="en-US" altLang="zh-CN"/>
              <a:t>(</a:t>
            </a:r>
            <a:r>
              <a:rPr lang="zh-CN" altLang="en-US"/>
              <a:t>同时满足</a:t>
            </a:r>
            <a:r>
              <a:rPr lang="en-US" altLang="zh-CN"/>
              <a:t>):</a:t>
            </a:r>
          </a:p>
          <a:p>
            <a:r>
              <a:rPr lang="en-US" altLang="zh-CN"/>
              <a:t>Ax1 &lt; Bx2 </a:t>
            </a:r>
            <a:r>
              <a:rPr lang="zh-CN" altLang="en-US"/>
              <a:t>且 </a:t>
            </a:r>
            <a:r>
              <a:rPr lang="en-US" altLang="zh-CN"/>
              <a:t>Ax2 &gt; Bx1 (X</a:t>
            </a:r>
            <a:r>
              <a:rPr lang="zh-CN" altLang="en-US"/>
              <a:t>轴投影相交</a:t>
            </a:r>
            <a:r>
              <a:rPr lang="en-US" altLang="zh-CN"/>
              <a:t>)</a:t>
            </a:r>
          </a:p>
          <a:p>
            <a:r>
              <a:rPr lang="en-US" altLang="zh-CN"/>
              <a:t>Ay1 &lt; By2 </a:t>
            </a:r>
            <a:r>
              <a:rPr lang="zh-CN" altLang="en-US"/>
              <a:t>且 </a:t>
            </a:r>
            <a:r>
              <a:rPr lang="en-US" altLang="zh-CN"/>
              <a:t>Ay2 &gt; By1(Y</a:t>
            </a:r>
            <a:r>
              <a:rPr lang="zh-CN" altLang="en-US"/>
              <a:t>轴投影相交</a:t>
            </a:r>
            <a:r>
              <a:rPr lang="en-US" altLang="zh-CN"/>
              <a:t>)</a:t>
            </a:r>
            <a:endParaRPr lang="zh-CN" altLang="en-US"/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69D3A625-85B4-439C-99B7-51790F2E4CC9}"/>
              </a:ext>
            </a:extLst>
          </p:cNvPr>
          <p:cNvGrpSpPr/>
          <p:nvPr/>
        </p:nvGrpSpPr>
        <p:grpSpPr>
          <a:xfrm>
            <a:off x="6472103" y="3567054"/>
            <a:ext cx="3277020" cy="2046025"/>
            <a:chOff x="6401083" y="2994480"/>
            <a:chExt cx="3277020" cy="2046025"/>
          </a:xfrm>
        </p:grpSpPr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DE90AE33-081D-43C0-BE21-41BA145BE1E7}"/>
                </a:ext>
              </a:extLst>
            </p:cNvPr>
            <p:cNvSpPr txBox="1"/>
            <p:nvPr/>
          </p:nvSpPr>
          <p:spPr>
            <a:xfrm>
              <a:off x="6401083" y="2994480"/>
              <a:ext cx="161685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>
                  <a:solidFill>
                    <a:srgbClr val="FF0000"/>
                  </a:solidFill>
                </a:rPr>
                <a:t>（</a:t>
              </a:r>
              <a:r>
                <a:rPr lang="en-US" altLang="zh-CN">
                  <a:solidFill>
                    <a:srgbClr val="FF0000"/>
                  </a:solidFill>
                </a:rPr>
                <a:t>Ax1, Ay1</a:t>
              </a:r>
              <a:r>
                <a:rPr lang="zh-CN" altLang="en-US">
                  <a:solidFill>
                    <a:srgbClr val="FF0000"/>
                  </a:solidFill>
                </a:rPr>
                <a:t>） </a:t>
              </a:r>
            </a:p>
          </p:txBody>
        </p: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31B01422-66B9-4937-8EE7-7B84161C48B1}"/>
                </a:ext>
              </a:extLst>
            </p:cNvPr>
            <p:cNvSpPr txBox="1"/>
            <p:nvPr/>
          </p:nvSpPr>
          <p:spPr>
            <a:xfrm>
              <a:off x="8061250" y="4671173"/>
              <a:ext cx="161685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>
                  <a:solidFill>
                    <a:srgbClr val="FF0000"/>
                  </a:solidFill>
                </a:rPr>
                <a:t>（</a:t>
              </a:r>
              <a:r>
                <a:rPr lang="en-US" altLang="zh-CN">
                  <a:solidFill>
                    <a:srgbClr val="FF0000"/>
                  </a:solidFill>
                </a:rPr>
                <a:t>Ax2, Ay2</a:t>
              </a:r>
              <a:r>
                <a:rPr lang="zh-CN" altLang="en-US">
                  <a:solidFill>
                    <a:srgbClr val="FF0000"/>
                  </a:solidFill>
                </a:rPr>
                <a:t>） </a:t>
              </a:r>
            </a:p>
          </p:txBody>
        </p:sp>
        <p:grpSp>
          <p:nvGrpSpPr>
            <p:cNvPr id="20" name="组合 19">
              <a:extLst>
                <a:ext uri="{FF2B5EF4-FFF2-40B4-BE49-F238E27FC236}">
                  <a16:creationId xmlns:a16="http://schemas.microsoft.com/office/drawing/2014/main" id="{DF0FA69F-105E-45E9-B5C2-E5C7F19B840A}"/>
                </a:ext>
              </a:extLst>
            </p:cNvPr>
            <p:cNvGrpSpPr/>
            <p:nvPr/>
          </p:nvGrpSpPr>
          <p:grpSpPr>
            <a:xfrm>
              <a:off x="6773886" y="3382078"/>
              <a:ext cx="2100028" cy="1259047"/>
              <a:chOff x="6773886" y="3382078"/>
              <a:chExt cx="2100028" cy="1259047"/>
            </a:xfrm>
          </p:grpSpPr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CC8BF28A-9CBD-416A-8EC5-5F06000E9436}"/>
                  </a:ext>
                </a:extLst>
              </p:cNvPr>
              <p:cNvSpPr/>
              <p:nvPr/>
            </p:nvSpPr>
            <p:spPr>
              <a:xfrm>
                <a:off x="6773886" y="3429000"/>
                <a:ext cx="2095791" cy="1195251"/>
              </a:xfrm>
              <a:prstGeom prst="rect">
                <a:avLst/>
              </a:prstGeom>
              <a:solidFill>
                <a:schemeClr val="accent6">
                  <a:alpha val="6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b="1">
                    <a:solidFill>
                      <a:schemeClr val="accent6">
                        <a:lumMod val="75000"/>
                      </a:schemeClr>
                    </a:solidFill>
                  </a:rPr>
                  <a:t>A</a:t>
                </a:r>
                <a:endParaRPr lang="zh-CN" altLang="en-US" b="1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  <p:sp>
            <p:nvSpPr>
              <p:cNvPr id="12" name="椭圆 11">
                <a:extLst>
                  <a:ext uri="{FF2B5EF4-FFF2-40B4-BE49-F238E27FC236}">
                    <a16:creationId xmlns:a16="http://schemas.microsoft.com/office/drawing/2014/main" id="{33198173-B655-461D-B2A7-4D440E732362}"/>
                  </a:ext>
                </a:extLst>
              </p:cNvPr>
              <p:cNvSpPr/>
              <p:nvPr/>
            </p:nvSpPr>
            <p:spPr>
              <a:xfrm>
                <a:off x="6773886" y="3382078"/>
                <a:ext cx="93845" cy="93845"/>
              </a:xfrm>
              <a:prstGeom prst="ellipse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" name="椭圆 16">
                <a:extLst>
                  <a:ext uri="{FF2B5EF4-FFF2-40B4-BE49-F238E27FC236}">
                    <a16:creationId xmlns:a16="http://schemas.microsoft.com/office/drawing/2014/main" id="{D752A8C2-718A-4205-AA49-B006ADBF73EE}"/>
                  </a:ext>
                </a:extLst>
              </p:cNvPr>
              <p:cNvSpPr/>
              <p:nvPr/>
            </p:nvSpPr>
            <p:spPr>
              <a:xfrm>
                <a:off x="8780069" y="4547280"/>
                <a:ext cx="93845" cy="93845"/>
              </a:xfrm>
              <a:prstGeom prst="ellipse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67A81A94-A9EE-41C5-8651-3355EFD00B9A}"/>
              </a:ext>
            </a:extLst>
          </p:cNvPr>
          <p:cNvGrpSpPr/>
          <p:nvPr/>
        </p:nvGrpSpPr>
        <p:grpSpPr>
          <a:xfrm>
            <a:off x="8088956" y="3807714"/>
            <a:ext cx="3524188" cy="1918101"/>
            <a:chOff x="9734881" y="2355138"/>
            <a:chExt cx="3524188" cy="1918101"/>
          </a:xfrm>
        </p:grpSpPr>
        <p:grpSp>
          <p:nvGrpSpPr>
            <p:cNvPr id="21" name="组合 20">
              <a:extLst>
                <a:ext uri="{FF2B5EF4-FFF2-40B4-BE49-F238E27FC236}">
                  <a16:creationId xmlns:a16="http://schemas.microsoft.com/office/drawing/2014/main" id="{6120A7C1-3DBF-4676-BD0C-432479EDEF4E}"/>
                </a:ext>
              </a:extLst>
            </p:cNvPr>
            <p:cNvGrpSpPr/>
            <p:nvPr/>
          </p:nvGrpSpPr>
          <p:grpSpPr>
            <a:xfrm>
              <a:off x="9734881" y="2355138"/>
              <a:ext cx="2703008" cy="1571179"/>
              <a:chOff x="9734881" y="2355138"/>
              <a:chExt cx="2703008" cy="1571179"/>
            </a:xfrm>
          </p:grpSpPr>
          <p:grpSp>
            <p:nvGrpSpPr>
              <p:cNvPr id="14" name="组合 13">
                <a:extLst>
                  <a:ext uri="{FF2B5EF4-FFF2-40B4-BE49-F238E27FC236}">
                    <a16:creationId xmlns:a16="http://schemas.microsoft.com/office/drawing/2014/main" id="{47DBE5EE-C2AF-4241-9FC6-D9E2D3ED5BF0}"/>
                  </a:ext>
                </a:extLst>
              </p:cNvPr>
              <p:cNvGrpSpPr/>
              <p:nvPr/>
            </p:nvGrpSpPr>
            <p:grpSpPr>
              <a:xfrm>
                <a:off x="10303839" y="2637221"/>
                <a:ext cx="2134050" cy="1289096"/>
                <a:chOff x="10303839" y="2637221"/>
                <a:chExt cx="2134050" cy="1289096"/>
              </a:xfrm>
            </p:grpSpPr>
            <p:sp>
              <p:nvSpPr>
                <p:cNvPr id="13" name="矩形 12">
                  <a:extLst>
                    <a:ext uri="{FF2B5EF4-FFF2-40B4-BE49-F238E27FC236}">
                      <a16:creationId xmlns:a16="http://schemas.microsoft.com/office/drawing/2014/main" id="{DDECA09A-C045-42D1-A4D5-94C5138ABC77}"/>
                    </a:ext>
                  </a:extLst>
                </p:cNvPr>
                <p:cNvSpPr/>
                <p:nvPr/>
              </p:nvSpPr>
              <p:spPr>
                <a:xfrm>
                  <a:off x="10303839" y="2684144"/>
                  <a:ext cx="2095791" cy="1195251"/>
                </a:xfrm>
                <a:prstGeom prst="rect">
                  <a:avLst/>
                </a:prstGeom>
                <a:solidFill>
                  <a:srgbClr val="92D050">
                    <a:alpha val="60000"/>
                  </a:srgb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b="1">
                      <a:solidFill>
                        <a:schemeClr val="accent3">
                          <a:lumMod val="50000"/>
                        </a:schemeClr>
                      </a:solidFill>
                    </a:rPr>
                    <a:t>B</a:t>
                  </a:r>
                  <a:endParaRPr lang="zh-CN" altLang="en-US" b="1">
                    <a:solidFill>
                      <a:schemeClr val="accent3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18" name="椭圆 17">
                  <a:extLst>
                    <a:ext uri="{FF2B5EF4-FFF2-40B4-BE49-F238E27FC236}">
                      <a16:creationId xmlns:a16="http://schemas.microsoft.com/office/drawing/2014/main" id="{E5FE85F3-1E83-4A06-82D1-D05FA03610C2}"/>
                    </a:ext>
                  </a:extLst>
                </p:cNvPr>
                <p:cNvSpPr/>
                <p:nvPr/>
              </p:nvSpPr>
              <p:spPr>
                <a:xfrm>
                  <a:off x="10303839" y="2637221"/>
                  <a:ext cx="93845" cy="93845"/>
                </a:xfrm>
                <a:prstGeom prst="ellipse">
                  <a:avLst/>
                </a:prstGeom>
                <a:solidFill>
                  <a:schemeClr val="accent3">
                    <a:lumMod val="75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9" name="椭圆 18">
                  <a:extLst>
                    <a:ext uri="{FF2B5EF4-FFF2-40B4-BE49-F238E27FC236}">
                      <a16:creationId xmlns:a16="http://schemas.microsoft.com/office/drawing/2014/main" id="{3A43CF2C-1E00-4328-A4FB-88C9D40C80E3}"/>
                    </a:ext>
                  </a:extLst>
                </p:cNvPr>
                <p:cNvSpPr/>
                <p:nvPr/>
              </p:nvSpPr>
              <p:spPr>
                <a:xfrm>
                  <a:off x="12344044" y="3832472"/>
                  <a:ext cx="93845" cy="93845"/>
                </a:xfrm>
                <a:prstGeom prst="ellipse">
                  <a:avLst/>
                </a:prstGeom>
                <a:solidFill>
                  <a:schemeClr val="accent3">
                    <a:lumMod val="75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CD8FD216-5A77-48D3-9916-10BE16B175BE}"/>
                  </a:ext>
                </a:extLst>
              </p:cNvPr>
              <p:cNvSpPr txBox="1"/>
              <p:nvPr/>
            </p:nvSpPr>
            <p:spPr>
              <a:xfrm>
                <a:off x="9734881" y="2355138"/>
                <a:ext cx="163378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>
                    <a:solidFill>
                      <a:schemeClr val="accent3">
                        <a:lumMod val="50000"/>
                      </a:schemeClr>
                    </a:solidFill>
                  </a:rPr>
                  <a:t>（</a:t>
                </a:r>
                <a:r>
                  <a:rPr lang="en-US" altLang="zh-CN">
                    <a:solidFill>
                      <a:schemeClr val="accent3">
                        <a:lumMod val="50000"/>
                      </a:schemeClr>
                    </a:solidFill>
                  </a:rPr>
                  <a:t>Bx1, By1</a:t>
                </a:r>
                <a:r>
                  <a:rPr lang="zh-CN" altLang="en-US">
                    <a:solidFill>
                      <a:schemeClr val="accent3">
                        <a:lumMod val="50000"/>
                      </a:schemeClr>
                    </a:solidFill>
                  </a:rPr>
                  <a:t>） </a:t>
                </a:r>
              </a:p>
            </p:txBody>
          </p:sp>
        </p:grp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9B80EFDB-CF48-4DF9-A026-C20B943FF9EF}"/>
                </a:ext>
              </a:extLst>
            </p:cNvPr>
            <p:cNvSpPr txBox="1"/>
            <p:nvPr/>
          </p:nvSpPr>
          <p:spPr>
            <a:xfrm>
              <a:off x="11625288" y="3903907"/>
              <a:ext cx="163378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>
                  <a:solidFill>
                    <a:schemeClr val="accent3">
                      <a:lumMod val="50000"/>
                    </a:schemeClr>
                  </a:solidFill>
                </a:rPr>
                <a:t>（</a:t>
              </a:r>
              <a:r>
                <a:rPr lang="en-US" altLang="zh-CN">
                  <a:solidFill>
                    <a:schemeClr val="accent3">
                      <a:lumMod val="50000"/>
                    </a:schemeClr>
                  </a:solidFill>
                </a:rPr>
                <a:t>Bx2, By2</a:t>
              </a:r>
              <a:r>
                <a:rPr lang="zh-CN" altLang="en-US">
                  <a:solidFill>
                    <a:schemeClr val="accent3">
                      <a:lumMod val="50000"/>
                    </a:schemeClr>
                  </a:solidFill>
                </a:rPr>
                <a:t>） </a:t>
              </a:r>
            </a:p>
          </p:txBody>
        </p:sp>
      </p:grp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8749909E-E056-4D8C-9BC4-41484093004C}"/>
              </a:ext>
            </a:extLst>
          </p:cNvPr>
          <p:cNvCxnSpPr>
            <a:cxnSpLocks/>
          </p:cNvCxnSpPr>
          <p:nvPr/>
        </p:nvCxnSpPr>
        <p:spPr>
          <a:xfrm rot="10800000" flipV="1">
            <a:off x="6472103" y="3306279"/>
            <a:ext cx="0" cy="252000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箭头连接符 28">
            <a:extLst>
              <a:ext uri="{FF2B5EF4-FFF2-40B4-BE49-F238E27FC236}">
                <a16:creationId xmlns:a16="http://schemas.microsoft.com/office/drawing/2014/main" id="{C6738F18-1204-4B8A-B9EA-FE8DD85B83D3}"/>
              </a:ext>
            </a:extLst>
          </p:cNvPr>
          <p:cNvCxnSpPr/>
          <p:nvPr/>
        </p:nvCxnSpPr>
        <p:spPr>
          <a:xfrm>
            <a:off x="6472102" y="3291088"/>
            <a:ext cx="5214654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本框 30">
            <a:extLst>
              <a:ext uri="{FF2B5EF4-FFF2-40B4-BE49-F238E27FC236}">
                <a16:creationId xmlns:a16="http://schemas.microsoft.com/office/drawing/2014/main" id="{59BD0865-D0F2-4BE3-ADBA-5E75826FAB6B}"/>
              </a:ext>
            </a:extLst>
          </p:cNvPr>
          <p:cNvSpPr txBox="1"/>
          <p:nvPr/>
        </p:nvSpPr>
        <p:spPr>
          <a:xfrm>
            <a:off x="11486582" y="3291088"/>
            <a:ext cx="2531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>
                <a:solidFill>
                  <a:srgbClr val="0000FF"/>
                </a:solidFill>
              </a:rPr>
              <a:t>x</a:t>
            </a:r>
            <a:endParaRPr lang="zh-CN" altLang="en-US">
              <a:solidFill>
                <a:srgbClr val="0000FF"/>
              </a:solidFill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8A00F6E1-99FC-44D6-A3CA-CFB4D4C0BE45}"/>
              </a:ext>
            </a:extLst>
          </p:cNvPr>
          <p:cNvSpPr txBox="1"/>
          <p:nvPr/>
        </p:nvSpPr>
        <p:spPr>
          <a:xfrm>
            <a:off x="6184062" y="5433672"/>
            <a:ext cx="2531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>
                <a:solidFill>
                  <a:srgbClr val="0000FF"/>
                </a:solidFill>
              </a:rPr>
              <a:t>y</a:t>
            </a:r>
            <a:endParaRPr lang="zh-CN" altLang="en-US">
              <a:solidFill>
                <a:srgbClr val="0000FF"/>
              </a:solidFill>
            </a:endParaRPr>
          </a:p>
        </p:txBody>
      </p:sp>
      <p:pic>
        <p:nvPicPr>
          <p:cNvPr id="34" name="bird3.mp4">
            <a:hlinkClick r:id="" action="ppaction://media"/>
            <a:extLst>
              <a:ext uri="{FF2B5EF4-FFF2-40B4-BE49-F238E27FC236}">
                <a16:creationId xmlns:a16="http://schemas.microsoft.com/office/drawing/2014/main" id="{10C9B7D0-AFE4-449A-874C-81F3B24FECB5}"/>
              </a:ext>
            </a:extLst>
          </p:cNvPr>
          <p:cNvPicPr>
            <a:picLocks noChangeAspect="1" noChangeArrowheads="1"/>
          </p:cNvPicPr>
          <p:nvPr>
            <a:videoFile r:link="rId3"/>
            <p:extLst>
              <p:ext uri="{DAA4B4D4-6D71-4841-9C94-3DE7FCFB9230}">
                <p14:media xmlns:p14="http://schemas.microsoft.com/office/powerpoint/2010/main" r:link="rId2"/>
              </p:ext>
            </p:ext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7624" y="3128597"/>
            <a:ext cx="3813606" cy="28602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5" name="文本框 34">
            <a:extLst>
              <a:ext uri="{FF2B5EF4-FFF2-40B4-BE49-F238E27FC236}">
                <a16:creationId xmlns:a16="http://schemas.microsoft.com/office/drawing/2014/main" id="{10833029-B8E2-4CAE-86D3-C561B84D0C64}"/>
              </a:ext>
            </a:extLst>
          </p:cNvPr>
          <p:cNvSpPr txBox="1"/>
          <p:nvPr/>
        </p:nvSpPr>
        <p:spPr>
          <a:xfrm>
            <a:off x="6208984" y="2976551"/>
            <a:ext cx="11487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solidFill>
                  <a:srgbClr val="0000FF"/>
                </a:solidFill>
              </a:rPr>
              <a:t>（</a:t>
            </a:r>
            <a:r>
              <a:rPr lang="en-US" altLang="zh-CN">
                <a:solidFill>
                  <a:srgbClr val="0000FF"/>
                </a:solidFill>
              </a:rPr>
              <a:t>0,0</a:t>
            </a:r>
            <a:r>
              <a:rPr lang="zh-CN" altLang="en-US">
                <a:solidFill>
                  <a:srgbClr val="0000FF"/>
                </a:solidFill>
              </a:rPr>
              <a:t>）</a:t>
            </a: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B0D70333-F7E6-4A04-A17D-8A1E0EFABB02}"/>
              </a:ext>
            </a:extLst>
          </p:cNvPr>
          <p:cNvSpPr txBox="1"/>
          <p:nvPr/>
        </p:nvSpPr>
        <p:spPr>
          <a:xfrm>
            <a:off x="6909868" y="2959598"/>
            <a:ext cx="370038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/>
              <a:t>屏幕坐标的原点通常在 </a:t>
            </a:r>
            <a:r>
              <a:rPr lang="zh-CN" altLang="en-US" b="1"/>
              <a:t>左上角</a:t>
            </a:r>
            <a:endParaRPr lang="zh-CN" alt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150022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2165" fill="hold"/>
                                        <p:tgtEl>
                                          <p:spTgt spid="3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3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3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4"/>
                  </p:tgtEl>
                </p:cond>
              </p:nextCondLst>
            </p:seq>
            <p:video>
              <p:cMediaNode vol="80000">
                <p:cTn id="12" fill="hold" display="0">
                  <p:stCondLst>
                    <p:cond delay="indefinite"/>
                  </p:stCondLst>
                </p:cTn>
                <p:tgtEl>
                  <p:spTgt spid="34"/>
                </p:tgtEl>
              </p:cMediaNode>
            </p:video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4" name="文本框 52">
            <a:extLst>
              <a:ext uri="{FF2B5EF4-FFF2-40B4-BE49-F238E27FC236}">
                <a16:creationId xmlns:a16="http://schemas.microsoft.com/office/drawing/2014/main" id="{9DA82089-C5DE-4EEF-9061-F9041F5237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4248" y="1029586"/>
            <a:ext cx="5337546" cy="499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ß"/>
              <a:defRPr sz="3200" b="1">
                <a:solidFill>
                  <a:schemeClr val="tx1"/>
                </a:solidFill>
                <a:latin typeface="Consolas" panose="020B0609020204030204" pitchFamily="49" charset="0"/>
              </a:defRPr>
            </a:lvl1pPr>
            <a:lvl2pPr marL="800100" indent="-3429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 b="1">
                <a:solidFill>
                  <a:srgbClr val="333399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2pPr>
            <a:lvl3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 b="1">
                <a:solidFill>
                  <a:srgbClr val="3333CC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3pPr>
            <a:lvl4pPr marL="1714500" indent="-3429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4pPr>
            <a:lvl5pPr marL="2057400" indent="-2286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p"/>
              <a:tabLst/>
              <a:defRPr/>
            </a:pP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任务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3——</a:t>
            </a: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飞行控制与碰撞检测</a:t>
            </a: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1DF8E92B-827B-3B38-FC63-8B8DF643BB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33639"/>
            <a:ext cx="11615737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ß"/>
              <a:defRPr sz="3200" b="1">
                <a:solidFill>
                  <a:schemeClr val="tx1"/>
                </a:solidFill>
                <a:latin typeface="Consolas" panose="020B0609020204030204" pitchFamily="49" charset="0"/>
              </a:defRPr>
            </a:lvl1pPr>
            <a:lvl2pPr marL="742950" indent="-28575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 b="1">
                <a:solidFill>
                  <a:srgbClr val="333399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2pPr>
            <a:lvl3pPr marL="1143000" indent="-2286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 b="1">
                <a:solidFill>
                  <a:srgbClr val="3333CC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3pPr>
            <a:lvl4pPr marL="1600200" indent="-2286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4pPr>
            <a:lvl5pPr marL="2057400" indent="-2286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综合实践项目</a:t>
            </a:r>
            <a:r>
              <a:rPr kumimoji="1" lang="en-US" altLang="zh-CN" sz="32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——FlappyBird</a:t>
            </a:r>
            <a:r>
              <a:rPr kumimoji="1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闯关系统</a:t>
            </a:r>
            <a:endParaRPr kumimoji="1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" name="文本框 52">
            <a:extLst>
              <a:ext uri="{FF2B5EF4-FFF2-40B4-BE49-F238E27FC236}">
                <a16:creationId xmlns:a16="http://schemas.microsoft.com/office/drawing/2014/main" id="{F06CC465-62F4-4AA1-A8FC-B8CA638689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267943" y="1529210"/>
            <a:ext cx="12520903" cy="46600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ß"/>
              <a:defRPr sz="3200" b="1">
                <a:solidFill>
                  <a:schemeClr val="tx1"/>
                </a:solidFill>
                <a:latin typeface="Consolas" panose="020B0609020204030204" pitchFamily="49" charset="0"/>
              </a:defRPr>
            </a:lvl1pPr>
            <a:lvl2pPr marL="800100" indent="-3429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 b="1">
                <a:solidFill>
                  <a:srgbClr val="333399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2pPr>
            <a:lvl3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 b="1">
                <a:solidFill>
                  <a:srgbClr val="3333CC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3pPr>
            <a:lvl4pPr marL="1714500" indent="-3429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4pPr>
            <a:lvl5pPr marL="2057400" indent="-2286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9pPr>
          </a:lstStyle>
          <a:p>
            <a:pPr marL="800100" marR="0" lvl="1" indent="-34290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p"/>
              <a:tabLst/>
              <a:defRPr/>
            </a:pP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实现流程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914400" marR="0" lvl="2" indent="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初始化阶段：完成随机数、图形资源、游戏实体（小鸟 </a:t>
            </a: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 </a:t>
            </a: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管道）、状态机的初始化，为运行准备基础数据； </a:t>
            </a:r>
          </a:p>
          <a:p>
            <a:pPr marL="914400" marR="0" lvl="2" indent="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主循环：</a:t>
            </a:r>
          </a:p>
          <a:p>
            <a:pPr marL="914400" marR="0" lvl="2" indent="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while</a:t>
            </a: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(1) {</a:t>
            </a:r>
          </a:p>
          <a:p>
            <a:pPr marL="914400" marR="0" lvl="2" indent="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检测退出：检测 </a:t>
            </a: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ESC </a:t>
            </a: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键 </a:t>
            </a: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-&gt; </a:t>
            </a: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终止循环，进入退出阶段</a:t>
            </a:r>
          </a:p>
          <a:p>
            <a:pPr marL="914400" marR="0" lvl="2" indent="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输入处理：每帧检测按键，按状态执行响应逻辑（如 </a:t>
            </a: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SPACE </a:t>
            </a: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开始 </a:t>
            </a: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 </a:t>
            </a: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跳跃、</a:t>
            </a: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 </a:t>
            </a: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暂停 </a:t>
            </a: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 </a:t>
            </a: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继续、</a:t>
            </a: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R </a:t>
            </a: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重置）；</a:t>
            </a:r>
          </a:p>
          <a:p>
            <a:pPr marL="914400" marR="0" lvl="2" indent="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状态更新：仅</a:t>
            </a: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GS_RUNNING</a:t>
            </a: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状态下更新小鸟物理、背景 </a:t>
            </a: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 </a:t>
            </a: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管道滚动，检测碰撞并切换到</a:t>
            </a: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GS_GAMEOVER</a:t>
            </a: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状态；</a:t>
            </a:r>
          </a:p>
          <a:p>
            <a:pPr marL="914400" marR="0" lvl="2" indent="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画面渲染：无论何种状态，每帧都渲染画面（背景、管道、小鸟、状态提示文字），保证视觉反馈即时；</a:t>
            </a:r>
          </a:p>
          <a:p>
            <a:pPr marL="914400" marR="0" lvl="2" indent="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帧率控制：</a:t>
            </a: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Sleep(16) </a:t>
            </a: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稳定 </a:t>
            </a: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60 </a:t>
            </a: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帧 </a:t>
            </a: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 </a:t>
            </a: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秒，避免画面卡顿或 </a:t>
            </a: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CPU </a:t>
            </a: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占用过高；</a:t>
            </a:r>
            <a:endParaRPr kumimoji="0" lang="en-US" altLang="zh-CN" sz="1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914400" marR="0" lvl="2" indent="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}</a:t>
            </a:r>
          </a:p>
          <a:p>
            <a:pPr marL="914400" marR="0" lvl="2" indent="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退出阶段：检测到 </a:t>
            </a: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ESC </a:t>
            </a: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键时终止循环，释放图形资源并关闭窗口。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5331183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4" name="文本框 52">
            <a:extLst>
              <a:ext uri="{FF2B5EF4-FFF2-40B4-BE49-F238E27FC236}">
                <a16:creationId xmlns:a16="http://schemas.microsoft.com/office/drawing/2014/main" id="{9DA82089-C5DE-4EEF-9061-F9041F5237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4248" y="1029586"/>
            <a:ext cx="5964895" cy="470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ß"/>
              <a:defRPr sz="3200" b="1">
                <a:solidFill>
                  <a:schemeClr val="tx1"/>
                </a:solidFill>
                <a:latin typeface="Consolas" panose="020B0609020204030204" pitchFamily="49" charset="0"/>
              </a:defRPr>
            </a:lvl1pPr>
            <a:lvl2pPr marL="800100" indent="-3429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 b="1">
                <a:solidFill>
                  <a:srgbClr val="333399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2pPr>
            <a:lvl3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 b="1">
                <a:solidFill>
                  <a:srgbClr val="3333CC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3pPr>
            <a:lvl4pPr marL="1714500" indent="-3429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4pPr>
            <a:lvl5pPr marL="2057400" indent="-2286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p"/>
              <a:tabLst/>
              <a:defRPr/>
            </a:pP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任务</a:t>
            </a:r>
            <a:r>
              <a:rPr lang="en-US" altLang="zh-CN" sz="200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——</a:t>
            </a: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系统功能拓展</a:t>
            </a: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800100" marR="0" lvl="1" indent="-34290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p"/>
              <a:tabLst/>
              <a:defRPr/>
            </a:pP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任务目标（运行效果）</a:t>
            </a: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914400" marR="0" lvl="2" indent="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任务</a:t>
            </a: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的基础上进行系统功能拓展：使用结构体管理小鸟与管道等游戏数据，设计菜单</a:t>
            </a: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—</a:t>
            </a: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游戏</a:t>
            </a: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—</a:t>
            </a: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暂停</a:t>
            </a: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—</a:t>
            </a: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结束</a:t>
            </a: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—</a:t>
            </a: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排行榜的状态切换；实现难度选择（简单</a:t>
            </a: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</a:t>
            </a: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普通</a:t>
            </a: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</a:t>
            </a: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困难，影响管道缝隙、速度、重力与初始血量）；在游戏过程中实时记录回合数与得分，通过按钮交互进入开始、排行榜、退出等功能页；实现血条</a:t>
            </a: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</a:t>
            </a: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生命值显示与扣血机制，碰撞扣血直至游戏结束，并将成绩写入本地文件形成分数排行榜，提升系统完整度与趣味性。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1DF8E92B-827B-3B38-FC63-8B8DF643BB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33639"/>
            <a:ext cx="11615737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ß"/>
              <a:defRPr sz="3200" b="1">
                <a:solidFill>
                  <a:schemeClr val="tx1"/>
                </a:solidFill>
                <a:latin typeface="Consolas" panose="020B0609020204030204" pitchFamily="49" charset="0"/>
              </a:defRPr>
            </a:lvl1pPr>
            <a:lvl2pPr marL="742950" indent="-28575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 b="1">
                <a:solidFill>
                  <a:srgbClr val="333399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2pPr>
            <a:lvl3pPr marL="1143000" indent="-2286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 b="1">
                <a:solidFill>
                  <a:srgbClr val="3333CC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3pPr>
            <a:lvl4pPr marL="1600200" indent="-2286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4pPr>
            <a:lvl5pPr marL="2057400" indent="-2286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综合实践项目</a:t>
            </a:r>
            <a:r>
              <a:rPr kumimoji="1" lang="en-US" altLang="zh-CN" sz="32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——FlappyBird</a:t>
            </a:r>
            <a:r>
              <a:rPr kumimoji="1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闯关系统</a:t>
            </a:r>
            <a:endParaRPr kumimoji="1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4178632D-29DB-596B-388D-DB7E3E0C3BE0}"/>
              </a:ext>
            </a:extLst>
          </p:cNvPr>
          <p:cNvCxnSpPr>
            <a:cxnSpLocks/>
          </p:cNvCxnSpPr>
          <p:nvPr/>
        </p:nvCxnSpPr>
        <p:spPr>
          <a:xfrm>
            <a:off x="6149143" y="1291472"/>
            <a:ext cx="0" cy="4846416"/>
          </a:xfrm>
          <a:prstGeom prst="line">
            <a:avLst/>
          </a:prstGeom>
          <a:ln w="28575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bird4.mp4">
            <a:hlinkClick r:id="" action="ppaction://media"/>
            <a:extLst>
              <a:ext uri="{FF2B5EF4-FFF2-40B4-BE49-F238E27FC236}">
                <a16:creationId xmlns:a16="http://schemas.microsoft.com/office/drawing/2014/main" id="{04777888-788F-45D0-9778-501670D5C5E9}"/>
              </a:ext>
            </a:extLst>
          </p:cNvPr>
          <p:cNvPicPr>
            <a:picLocks noChangeAspect="1" noChangeArrowheads="1"/>
          </p:cNvPicPr>
          <p:nvPr>
            <a:videoFile r:link="rId3"/>
            <p:extLst>
              <p:ext uri="{DAA4B4D4-6D71-4841-9C94-3DE7FCFB9230}">
                <p14:media xmlns:p14="http://schemas.microsoft.com/office/powerpoint/2010/main" r:link="rId2"/>
              </p:ext>
            </p:ext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33905" y="1971727"/>
            <a:ext cx="5081832" cy="38125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0363091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28639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video>
              <p:cMediaNode vol="80000">
                <p:cTn id="12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4" name="文本框 52">
            <a:extLst>
              <a:ext uri="{FF2B5EF4-FFF2-40B4-BE49-F238E27FC236}">
                <a16:creationId xmlns:a16="http://schemas.microsoft.com/office/drawing/2014/main" id="{9DA82089-C5DE-4EEF-9061-F9041F5237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4248" y="1029586"/>
            <a:ext cx="5964895" cy="499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ß"/>
              <a:defRPr sz="3200" b="1">
                <a:solidFill>
                  <a:schemeClr val="tx1"/>
                </a:solidFill>
                <a:latin typeface="Consolas" panose="020B0609020204030204" pitchFamily="49" charset="0"/>
              </a:defRPr>
            </a:lvl1pPr>
            <a:lvl2pPr marL="800100" indent="-3429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 b="1">
                <a:solidFill>
                  <a:srgbClr val="333399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2pPr>
            <a:lvl3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 b="1">
                <a:solidFill>
                  <a:srgbClr val="3333CC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3pPr>
            <a:lvl4pPr marL="1714500" indent="-3429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4pPr>
            <a:lvl5pPr marL="2057400" indent="-2286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p"/>
              <a:tabLst/>
              <a:defRPr/>
            </a:pP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任务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4——</a:t>
            </a: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系统功能拓展</a:t>
            </a: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1DF8E92B-827B-3B38-FC63-8B8DF643BB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33639"/>
            <a:ext cx="11615737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ß"/>
              <a:defRPr sz="3200" b="1">
                <a:solidFill>
                  <a:schemeClr val="tx1"/>
                </a:solidFill>
                <a:latin typeface="Consolas" panose="020B0609020204030204" pitchFamily="49" charset="0"/>
              </a:defRPr>
            </a:lvl1pPr>
            <a:lvl2pPr marL="742950" indent="-28575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 b="1">
                <a:solidFill>
                  <a:srgbClr val="333399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2pPr>
            <a:lvl3pPr marL="1143000" indent="-2286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 b="1">
                <a:solidFill>
                  <a:srgbClr val="3333CC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3pPr>
            <a:lvl4pPr marL="1600200" indent="-2286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4pPr>
            <a:lvl5pPr marL="2057400" indent="-2286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综合实践项目</a:t>
            </a:r>
            <a:r>
              <a:rPr kumimoji="1" lang="en-US" altLang="zh-CN" sz="32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——FlappyBird</a:t>
            </a:r>
            <a:r>
              <a:rPr kumimoji="1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闯关系统</a:t>
            </a:r>
            <a:endParaRPr kumimoji="1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6" name="Picture 6">
            <a:extLst>
              <a:ext uri="{FF2B5EF4-FFF2-40B4-BE49-F238E27FC236}">
                <a16:creationId xmlns:a16="http://schemas.microsoft.com/office/drawing/2014/main" id="{1F6FB1EC-DC2F-47CF-A4CD-61D5D4F360B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37338" y="1585475"/>
            <a:ext cx="355600" cy="355600"/>
          </a:xfrm>
          <a:prstGeom prst="rect">
            <a:avLst/>
          </a:prstGeom>
        </p:spPr>
      </p:pic>
      <p:sp>
        <p:nvSpPr>
          <p:cNvPr id="8" name="AutoShape 7">
            <a:extLst>
              <a:ext uri="{FF2B5EF4-FFF2-40B4-BE49-F238E27FC236}">
                <a16:creationId xmlns:a16="http://schemas.microsoft.com/office/drawing/2014/main" id="{A28038C4-A36B-4A21-A74B-1BFEDAF331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81838" y="1560075"/>
            <a:ext cx="4318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5000"/>
              </a:lnSpc>
            </a:pPr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</a:rPr>
              <a:t>提升系统完整度与趣味性</a:t>
            </a:r>
          </a:p>
        </p:txBody>
      </p:sp>
      <p:cxnSp>
        <p:nvCxnSpPr>
          <p:cNvPr id="9" name="Connector 8">
            <a:extLst>
              <a:ext uri="{FF2B5EF4-FFF2-40B4-BE49-F238E27FC236}">
                <a16:creationId xmlns:a16="http://schemas.microsoft.com/office/drawing/2014/main" id="{FDF2A95A-6E3B-4729-8B1D-BC26E75ED82C}"/>
              </a:ext>
            </a:extLst>
          </p:cNvPr>
          <p:cNvCxnSpPr>
            <a:cxnSpLocks noChangeShapeType="1"/>
          </p:cNvCxnSpPr>
          <p:nvPr/>
        </p:nvCxnSpPr>
        <p:spPr bwMode="auto">
          <a:xfrm rot="-9291">
            <a:off x="6637338" y="2023625"/>
            <a:ext cx="4699000" cy="12700"/>
          </a:xfrm>
          <a:prstGeom prst="straightConnector1">
            <a:avLst/>
          </a:prstGeom>
          <a:noFill/>
          <a:ln w="12700">
            <a:solidFill>
              <a:srgbClr val="38BDF8">
                <a:alpha val="30196"/>
              </a:srgbClr>
            </a:solidFill>
            <a:round/>
            <a:headEnd/>
            <a:tailEnd/>
          </a:ln>
        </p:spPr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A3E2212A-C56D-40A3-AF7F-C6B6E3B541E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37338" y="2220475"/>
            <a:ext cx="304800" cy="304800"/>
          </a:xfrm>
          <a:prstGeom prst="rect">
            <a:avLst/>
          </a:prstGeom>
        </p:spPr>
      </p:pic>
      <p:sp>
        <p:nvSpPr>
          <p:cNvPr id="11" name="AutoShape 10">
            <a:extLst>
              <a:ext uri="{FF2B5EF4-FFF2-40B4-BE49-F238E27FC236}">
                <a16:creationId xmlns:a16="http://schemas.microsoft.com/office/drawing/2014/main" id="{0F22E31F-A111-4A4C-8128-31FCD9B821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8338" y="2195075"/>
            <a:ext cx="4445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5000"/>
              </a:lnSpc>
            </a:pPr>
            <a:r>
              <a:rPr lang="zh-CN" altLang="en-US" sz="1500" b="1"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pitchFamily="34" charset="-122"/>
                <a:sym typeface="Noto Sans SC" panose="020B0200000000000000" pitchFamily="34" charset="-122"/>
              </a:rPr>
              <a:t>游戏状态切换</a:t>
            </a:r>
            <a:endParaRPr lang="en-US" altLang="zh-CN" sz="1500" b="1">
              <a:latin typeface="微软雅黑" panose="020B0503020204020204" pitchFamily="34" charset="-122"/>
              <a:ea typeface="微软雅黑" panose="020B0503020204020204" pitchFamily="34" charset="-122"/>
              <a:cs typeface="Noto Sans SC" panose="020B0200000000000000" pitchFamily="34" charset="-122"/>
              <a:sym typeface="Noto Sans SC" panose="020B0200000000000000" pitchFamily="34" charset="-122"/>
            </a:endParaRPr>
          </a:p>
          <a:p>
            <a:pPr>
              <a:lnSpc>
                <a:spcPct val="125000"/>
              </a:lnSpc>
            </a:pPr>
            <a:r>
              <a:rPr lang="zh-CN" altLang="en-US" sz="1300" b="1"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pitchFamily="34" charset="-122"/>
                <a:sym typeface="Noto Sans SC" panose="020B0200000000000000" pitchFamily="34" charset="-122"/>
              </a:rPr>
              <a:t>设计菜单</a:t>
            </a:r>
            <a:r>
              <a:rPr lang="en-US" altLang="zh-CN" sz="1300" b="1"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pitchFamily="34" charset="-122"/>
                <a:sym typeface="Noto Sans SC" panose="020B0200000000000000" pitchFamily="34" charset="-122"/>
              </a:rPr>
              <a:t>—</a:t>
            </a:r>
            <a:r>
              <a:rPr lang="zh-CN" altLang="en-US" sz="1300" b="1"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pitchFamily="34" charset="-122"/>
                <a:sym typeface="Noto Sans SC" panose="020B0200000000000000" pitchFamily="34" charset="-122"/>
              </a:rPr>
              <a:t>游戏</a:t>
            </a:r>
            <a:r>
              <a:rPr lang="en-US" altLang="zh-CN" sz="1300" b="1"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pitchFamily="34" charset="-122"/>
                <a:sym typeface="Noto Sans SC" panose="020B0200000000000000" pitchFamily="34" charset="-122"/>
              </a:rPr>
              <a:t>—</a:t>
            </a:r>
            <a:r>
              <a:rPr lang="zh-CN" altLang="en-US" sz="1300" b="1"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pitchFamily="34" charset="-122"/>
                <a:sym typeface="Noto Sans SC" panose="020B0200000000000000" pitchFamily="34" charset="-122"/>
              </a:rPr>
              <a:t>暂停</a:t>
            </a:r>
            <a:r>
              <a:rPr lang="en-US" altLang="zh-CN" sz="1300" b="1"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pitchFamily="34" charset="-122"/>
                <a:sym typeface="Noto Sans SC" panose="020B0200000000000000" pitchFamily="34" charset="-122"/>
              </a:rPr>
              <a:t>—</a:t>
            </a:r>
            <a:r>
              <a:rPr lang="zh-CN" altLang="en-US" sz="1300" b="1"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pitchFamily="34" charset="-122"/>
                <a:sym typeface="Noto Sans SC" panose="020B0200000000000000" pitchFamily="34" charset="-122"/>
              </a:rPr>
              <a:t>结束</a:t>
            </a:r>
            <a:r>
              <a:rPr lang="en-US" altLang="zh-CN" sz="1300" b="1"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pitchFamily="34" charset="-122"/>
                <a:sym typeface="Noto Sans SC" panose="020B0200000000000000" pitchFamily="34" charset="-122"/>
              </a:rPr>
              <a:t>—</a:t>
            </a:r>
            <a:r>
              <a:rPr lang="zh-CN" altLang="en-US" sz="1300" b="1"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pitchFamily="34" charset="-122"/>
                <a:sym typeface="Noto Sans SC" panose="020B0200000000000000" pitchFamily="34" charset="-122"/>
              </a:rPr>
              <a:t>排行榜的状态切换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D27B5A6-DC66-40C2-8CDE-318820101B5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37338" y="3045975"/>
            <a:ext cx="304800" cy="304800"/>
          </a:xfrm>
          <a:prstGeom prst="rect">
            <a:avLst/>
          </a:prstGeom>
        </p:spPr>
      </p:pic>
      <p:sp>
        <p:nvSpPr>
          <p:cNvPr id="13" name="AutoShape 12">
            <a:extLst>
              <a:ext uri="{FF2B5EF4-FFF2-40B4-BE49-F238E27FC236}">
                <a16:creationId xmlns:a16="http://schemas.microsoft.com/office/drawing/2014/main" id="{D04436C7-7473-4610-8C0A-86938C7A20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8338" y="3020575"/>
            <a:ext cx="4445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5000"/>
              </a:lnSpc>
            </a:pPr>
            <a:r>
              <a:rPr lang="zh-CN" altLang="en-US" sz="1500" b="1"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pitchFamily="34" charset="-122"/>
                <a:sym typeface="Noto Sans SC" panose="020B0200000000000000" pitchFamily="34" charset="-122"/>
              </a:rPr>
              <a:t>实现难度选择</a:t>
            </a:r>
            <a:endParaRPr lang="en-US" altLang="zh-CN" sz="1500" b="1">
              <a:latin typeface="微软雅黑" panose="020B0503020204020204" pitchFamily="34" charset="-122"/>
              <a:ea typeface="微软雅黑" panose="020B0503020204020204" pitchFamily="34" charset="-122"/>
              <a:cs typeface="Noto Sans SC" panose="020B0200000000000000" pitchFamily="34" charset="-122"/>
              <a:sym typeface="Noto Sans SC" panose="020B0200000000000000" pitchFamily="34" charset="-122"/>
            </a:endParaRPr>
          </a:p>
          <a:p>
            <a:pPr>
              <a:lnSpc>
                <a:spcPct val="125000"/>
              </a:lnSpc>
            </a:pPr>
            <a:r>
              <a:rPr lang="zh-CN" altLang="en-US" sz="1300"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pitchFamily="34" charset="-122"/>
                <a:sym typeface="Noto Sans SC" panose="020B0200000000000000" pitchFamily="34" charset="-122"/>
              </a:rPr>
              <a:t>简单</a:t>
            </a:r>
            <a:r>
              <a:rPr lang="en-US" altLang="zh-CN" sz="1300"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pitchFamily="34" charset="-122"/>
                <a:sym typeface="Noto Sans SC" panose="020B0200000000000000" pitchFamily="34" charset="-122"/>
              </a:rPr>
              <a:t>/</a:t>
            </a:r>
            <a:r>
              <a:rPr lang="zh-CN" altLang="en-US" sz="1300"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pitchFamily="34" charset="-122"/>
                <a:sym typeface="Noto Sans SC" panose="020B0200000000000000" pitchFamily="34" charset="-122"/>
              </a:rPr>
              <a:t>普通</a:t>
            </a:r>
            <a:r>
              <a:rPr lang="en-US" altLang="zh-CN" sz="1300"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pitchFamily="34" charset="-122"/>
                <a:sym typeface="Noto Sans SC" panose="020B0200000000000000" pitchFamily="34" charset="-122"/>
              </a:rPr>
              <a:t>/</a:t>
            </a:r>
            <a:r>
              <a:rPr lang="zh-CN" altLang="en-US" sz="1300"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pitchFamily="34" charset="-122"/>
                <a:sym typeface="Noto Sans SC" panose="020B0200000000000000" pitchFamily="34" charset="-122"/>
              </a:rPr>
              <a:t>困难，影响管道缝隙、速度、重力与初始血量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9C8C9BC5-F37F-4B7E-A7D5-176170A241B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37338" y="3871475"/>
            <a:ext cx="304800" cy="304800"/>
          </a:xfrm>
          <a:prstGeom prst="rect">
            <a:avLst/>
          </a:prstGeom>
        </p:spPr>
      </p:pic>
      <p:sp>
        <p:nvSpPr>
          <p:cNvPr id="16" name="AutoShape 14">
            <a:extLst>
              <a:ext uri="{FF2B5EF4-FFF2-40B4-BE49-F238E27FC236}">
                <a16:creationId xmlns:a16="http://schemas.microsoft.com/office/drawing/2014/main" id="{C25485F1-628F-41D1-A173-E4AFA28979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8338" y="3846075"/>
            <a:ext cx="4445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5000"/>
              </a:lnSpc>
            </a:pPr>
            <a:r>
              <a:rPr lang="zh-CN" altLang="en-US" sz="1500" b="1"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pitchFamily="34" charset="-122"/>
                <a:sym typeface="Noto Sans SC" panose="020B0200000000000000" pitchFamily="34" charset="-122"/>
              </a:rPr>
              <a:t>实时记录回合数与得分</a:t>
            </a:r>
            <a:endParaRPr lang="en-US" altLang="zh-CN" sz="1500" b="1">
              <a:latin typeface="微软雅黑" panose="020B0503020204020204" pitchFamily="34" charset="-122"/>
              <a:ea typeface="微软雅黑" panose="020B0503020204020204" pitchFamily="34" charset="-122"/>
              <a:cs typeface="Noto Sans SC" panose="020B0200000000000000" pitchFamily="34" charset="-122"/>
              <a:sym typeface="Noto Sans SC" panose="020B0200000000000000" pitchFamily="34" charset="-122"/>
            </a:endParaRPr>
          </a:p>
          <a:p>
            <a:pPr>
              <a:lnSpc>
                <a:spcPct val="125000"/>
              </a:lnSpc>
            </a:pPr>
            <a:r>
              <a:rPr lang="zh-CN" altLang="en-US" sz="1300"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pitchFamily="34" charset="-122"/>
                <a:sym typeface="Noto Sans SC" panose="020B0200000000000000" pitchFamily="34" charset="-122"/>
              </a:rPr>
              <a:t>在游戏过程中实时记录回合数与得分</a:t>
            </a:r>
          </a:p>
        </p:txBody>
      </p:sp>
      <p:sp>
        <p:nvSpPr>
          <p:cNvPr id="17" name="AutoShape 20">
            <a:extLst>
              <a:ext uri="{FF2B5EF4-FFF2-40B4-BE49-F238E27FC236}">
                <a16:creationId xmlns:a16="http://schemas.microsoft.com/office/drawing/2014/main" id="{7884761A-B52B-405C-B393-3B5FB02F8209}"/>
              </a:ext>
            </a:extLst>
          </p:cNvPr>
          <p:cNvSpPr/>
          <p:nvPr/>
        </p:nvSpPr>
        <p:spPr>
          <a:xfrm>
            <a:off x="630238" y="1526966"/>
            <a:ext cx="5207000" cy="4826000"/>
          </a:xfrm>
          <a:prstGeom prst="roundRect">
            <a:avLst>
              <a:gd name="adj" fmla="val 2631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00000">
                <a:alpha val="5000"/>
              </a:srgbClr>
            </a:outerShdw>
          </a:effectLst>
        </p:spPr>
        <p:txBody>
          <a:bodyPr lIns="63500" tIns="63500" rIns="63500" bIns="6350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22">
            <a:extLst>
              <a:ext uri="{FF2B5EF4-FFF2-40B4-BE49-F238E27FC236}">
                <a16:creationId xmlns:a16="http://schemas.microsoft.com/office/drawing/2014/main" id="{1D632DD7-5454-447A-939E-53BC2F25BA14}"/>
              </a:ext>
            </a:extLst>
          </p:cNvPr>
          <p:cNvSpPr/>
          <p:nvPr/>
        </p:nvSpPr>
        <p:spPr>
          <a:xfrm>
            <a:off x="1050925" y="4154278"/>
            <a:ext cx="4699000" cy="23749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lIns="0" tIns="0" rIns="0" bIns="0" anchor="ctr"/>
          <a:lstStyle/>
          <a:p>
            <a:pPr>
              <a:lnSpc>
                <a:spcPct val="125000"/>
              </a:lnSpc>
              <a:defRPr/>
            </a:pPr>
            <a:r>
              <a:rPr lang="zh-CN" altLang="en-US" sz="1400" b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Noto Sans SC"/>
              </a:rPr>
              <a:t>能力目标</a:t>
            </a:r>
            <a:endParaRPr lang="en-US" altLang="zh-CN" sz="1400" b="1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Noto Sans SC"/>
            </a:endParaRPr>
          </a:p>
          <a:p>
            <a:pPr marL="342900" indent="-342900">
              <a:lnSpc>
                <a:spcPct val="130000"/>
              </a:lnSpc>
              <a:buFontTx/>
              <a:buAutoNum type="arabicPeriod"/>
              <a:defRPr/>
            </a:pPr>
            <a:r>
              <a:rPr lang="zh-CN" altLang="en-US" sz="1400" b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具备独立进行小型游戏项目开发与架构设计能力</a:t>
            </a:r>
          </a:p>
        </p:txBody>
      </p:sp>
      <p:pic>
        <p:nvPicPr>
          <p:cNvPr id="19" name="bird4.mp4">
            <a:hlinkClick r:id="" action="ppaction://media"/>
            <a:extLst>
              <a:ext uri="{FF2B5EF4-FFF2-40B4-BE49-F238E27FC236}">
                <a16:creationId xmlns:a16="http://schemas.microsoft.com/office/drawing/2014/main" id="{3792CADB-735F-41D2-AA80-D5527180C7D3}"/>
              </a:ext>
            </a:extLst>
          </p:cNvPr>
          <p:cNvPicPr>
            <a:picLocks noChangeAspect="1" noChangeArrowheads="1"/>
          </p:cNvPicPr>
          <p:nvPr>
            <a:videoFile r:link="rId3"/>
            <p:extLst>
              <p:ext uri="{DAA4B4D4-6D71-4841-9C94-3DE7FCFB9230}">
                <p14:media xmlns:p14="http://schemas.microsoft.com/office/powerpoint/2010/main" r:link="rId2"/>
              </p:ext>
            </p:ext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8212" y="1700027"/>
            <a:ext cx="4176966" cy="3133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" name="Picture 9">
            <a:extLst>
              <a:ext uri="{FF2B5EF4-FFF2-40B4-BE49-F238E27FC236}">
                <a16:creationId xmlns:a16="http://schemas.microsoft.com/office/drawing/2014/main" id="{E27A999F-4070-4E36-9707-1727DECB73B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37338" y="4665225"/>
            <a:ext cx="304800" cy="304800"/>
          </a:xfrm>
          <a:prstGeom prst="rect">
            <a:avLst/>
          </a:prstGeom>
        </p:spPr>
      </p:pic>
      <p:sp>
        <p:nvSpPr>
          <p:cNvPr id="21" name="AutoShape 10">
            <a:extLst>
              <a:ext uri="{FF2B5EF4-FFF2-40B4-BE49-F238E27FC236}">
                <a16:creationId xmlns:a16="http://schemas.microsoft.com/office/drawing/2014/main" id="{56F4264D-0907-44C1-9CFA-EBF3FCA5B6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8338" y="4639825"/>
            <a:ext cx="4445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5000"/>
              </a:lnSpc>
            </a:pPr>
            <a:r>
              <a:rPr lang="zh-CN" altLang="en-US" sz="1500" b="1"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pitchFamily="34" charset="-122"/>
                <a:sym typeface="Noto Sans SC" panose="020B0200000000000000" pitchFamily="34" charset="-122"/>
              </a:rPr>
              <a:t>碰撞扣血机制</a:t>
            </a:r>
            <a:endParaRPr lang="zh-CN" altLang="en-US" sz="1100">
              <a:latin typeface="微软雅黑" panose="020B0503020204020204" pitchFamily="34" charset="-122"/>
              <a:ea typeface="微软雅黑" panose="020B0503020204020204" pitchFamily="34" charset="-122"/>
              <a:cs typeface="Noto Sans SC" panose="020B0200000000000000" pitchFamily="34" charset="-122"/>
            </a:endParaRPr>
          </a:p>
          <a:p>
            <a:pPr>
              <a:lnSpc>
                <a:spcPct val="125000"/>
              </a:lnSpc>
            </a:pPr>
            <a:r>
              <a:rPr lang="zh-CN" altLang="en-US" sz="1300"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pitchFamily="34" charset="-122"/>
                <a:sym typeface="Noto Sans SC" panose="020B0200000000000000" pitchFamily="34" charset="-122"/>
              </a:rPr>
              <a:t>实现血条</a:t>
            </a:r>
            <a:r>
              <a:rPr lang="en-US" altLang="zh-CN" sz="1300"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pitchFamily="34" charset="-122"/>
                <a:sym typeface="Noto Sans SC" panose="020B0200000000000000" pitchFamily="34" charset="-122"/>
              </a:rPr>
              <a:t>/</a:t>
            </a:r>
            <a:r>
              <a:rPr lang="zh-CN" altLang="en-US" sz="1300"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pitchFamily="34" charset="-122"/>
                <a:sym typeface="Noto Sans SC" panose="020B0200000000000000" pitchFamily="34" charset="-122"/>
              </a:rPr>
              <a:t>生命值显示与扣血机制，碰撞扣血直至游戏结束</a:t>
            </a:r>
          </a:p>
        </p:txBody>
      </p:sp>
      <p:pic>
        <p:nvPicPr>
          <p:cNvPr id="22" name="Picture 11">
            <a:extLst>
              <a:ext uri="{FF2B5EF4-FFF2-40B4-BE49-F238E27FC236}">
                <a16:creationId xmlns:a16="http://schemas.microsoft.com/office/drawing/2014/main" id="{178CF14E-0BEC-4A38-B19B-F2F0B2A3345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37338" y="5482787"/>
            <a:ext cx="304800" cy="304800"/>
          </a:xfrm>
          <a:prstGeom prst="rect">
            <a:avLst/>
          </a:prstGeom>
        </p:spPr>
      </p:pic>
      <p:sp>
        <p:nvSpPr>
          <p:cNvPr id="23" name="AutoShape 12">
            <a:extLst>
              <a:ext uri="{FF2B5EF4-FFF2-40B4-BE49-F238E27FC236}">
                <a16:creationId xmlns:a16="http://schemas.microsoft.com/office/drawing/2014/main" id="{3D7618CE-D6F7-4C04-A213-E90BF5D6A0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8338" y="5457387"/>
            <a:ext cx="4445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5000"/>
              </a:lnSpc>
            </a:pPr>
            <a:r>
              <a:rPr lang="zh-CN" altLang="en-US" sz="1500" b="1"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pitchFamily="34" charset="-122"/>
                <a:sym typeface="Noto Sans SC" panose="020B0200000000000000" pitchFamily="34" charset="-122"/>
              </a:rPr>
              <a:t>分数排行榜</a:t>
            </a:r>
            <a:endParaRPr lang="en-US" altLang="zh-CN" sz="1500" b="1">
              <a:latin typeface="微软雅黑" panose="020B0503020204020204" pitchFamily="34" charset="-122"/>
              <a:ea typeface="微软雅黑" panose="020B0503020204020204" pitchFamily="34" charset="-122"/>
              <a:cs typeface="Noto Sans SC" panose="020B0200000000000000" pitchFamily="34" charset="-122"/>
              <a:sym typeface="Noto Sans SC" panose="020B0200000000000000" pitchFamily="34" charset="-122"/>
            </a:endParaRPr>
          </a:p>
          <a:p>
            <a:pPr>
              <a:lnSpc>
                <a:spcPct val="125000"/>
              </a:lnSpc>
            </a:pPr>
            <a:r>
              <a:rPr lang="zh-CN" altLang="en-US" sz="1300"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pitchFamily="34" charset="-122"/>
                <a:sym typeface="Noto Sans SC" panose="020B0200000000000000" pitchFamily="34" charset="-122"/>
              </a:rPr>
              <a:t>将成绩写入本地文件形成分数排行榜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766674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28639" fill="hold"/>
                                        <p:tgtEl>
                                          <p:spTgt spid="1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1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  <p:video>
              <p:cMediaNode vol="80000">
                <p:cTn id="12" fill="hold" display="0">
                  <p:stCondLst>
                    <p:cond delay="indefinite"/>
                  </p:stCondLst>
                </p:cTn>
                <p:tgtEl>
                  <p:spTgt spid="19"/>
                </p:tgtEl>
              </p:cMediaNode>
            </p:video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4" name="文本框 52">
            <a:extLst>
              <a:ext uri="{FF2B5EF4-FFF2-40B4-BE49-F238E27FC236}">
                <a16:creationId xmlns:a16="http://schemas.microsoft.com/office/drawing/2014/main" id="{9DA82089-C5DE-4EEF-9061-F9041F5237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4248" y="1029586"/>
            <a:ext cx="5964895" cy="30442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ß"/>
              <a:defRPr sz="3200" b="1">
                <a:solidFill>
                  <a:schemeClr val="tx1"/>
                </a:solidFill>
                <a:latin typeface="Consolas" panose="020B0609020204030204" pitchFamily="49" charset="0"/>
              </a:defRPr>
            </a:lvl1pPr>
            <a:lvl2pPr marL="800100" indent="-3429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 b="1">
                <a:solidFill>
                  <a:srgbClr val="333399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2pPr>
            <a:lvl3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 b="1">
                <a:solidFill>
                  <a:srgbClr val="3333CC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3pPr>
            <a:lvl4pPr marL="1714500" indent="-3429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4pPr>
            <a:lvl5pPr marL="2057400" indent="-2286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p"/>
              <a:tabLst/>
              <a:defRPr/>
            </a:pP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任务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4——</a:t>
            </a: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系统功能拓展</a:t>
            </a: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800100" marR="0" lvl="1" indent="-34290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p"/>
              <a:tabLst/>
              <a:defRPr/>
            </a:pP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任务目标（运行效果）</a:t>
            </a: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914400" marR="0" lvl="2" indent="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实现难度选择（简单</a:t>
            </a: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</a:t>
            </a: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普通</a:t>
            </a: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</a:t>
            </a: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困难，影响管道缝隙、速度、重力与初始血量）；</a:t>
            </a:r>
            <a:endParaRPr kumimoji="0" lang="en-US" altLang="zh-CN" sz="1800" b="1" i="0" u="none" strike="noStrike" kern="1200" cap="none" spc="0" normalizeH="0" baseline="0" noProof="0">
              <a:ln>
                <a:noFill/>
              </a:ln>
              <a:solidFill>
                <a:srgbClr val="3333CC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914400" marR="0" lvl="2" indent="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通过按钮交互进入开始、排行榜、退出等功能页；</a:t>
            </a:r>
            <a:endParaRPr kumimoji="0" lang="en-US" altLang="zh-CN" sz="1800" b="1" i="0" u="none" strike="noStrike" kern="1200" cap="none" spc="0" normalizeH="0" baseline="0" noProof="0">
              <a:ln>
                <a:noFill/>
              </a:ln>
              <a:solidFill>
                <a:srgbClr val="3333CC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914400" marR="0" lvl="2" indent="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将成绩写入本地文件形成分数排行榜。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1DF8E92B-827B-3B38-FC63-8B8DF643BB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33639"/>
            <a:ext cx="11615737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ß"/>
              <a:defRPr sz="3200" b="1">
                <a:solidFill>
                  <a:schemeClr val="tx1"/>
                </a:solidFill>
                <a:latin typeface="Consolas" panose="020B0609020204030204" pitchFamily="49" charset="0"/>
              </a:defRPr>
            </a:lvl1pPr>
            <a:lvl2pPr marL="742950" indent="-28575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 b="1">
                <a:solidFill>
                  <a:srgbClr val="333399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2pPr>
            <a:lvl3pPr marL="1143000" indent="-2286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 b="1">
                <a:solidFill>
                  <a:srgbClr val="3333CC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3pPr>
            <a:lvl4pPr marL="1600200" indent="-2286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4pPr>
            <a:lvl5pPr marL="2057400" indent="-2286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综合实践项目</a:t>
            </a:r>
            <a:r>
              <a:rPr kumimoji="1" lang="en-US" altLang="zh-CN" sz="32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——FlappyBird</a:t>
            </a:r>
            <a:r>
              <a:rPr kumimoji="1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闯关系统</a:t>
            </a:r>
            <a:endParaRPr kumimoji="1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4178632D-29DB-596B-388D-DB7E3E0C3BE0}"/>
              </a:ext>
            </a:extLst>
          </p:cNvPr>
          <p:cNvCxnSpPr>
            <a:cxnSpLocks/>
          </p:cNvCxnSpPr>
          <p:nvPr/>
        </p:nvCxnSpPr>
        <p:spPr>
          <a:xfrm>
            <a:off x="6149143" y="1291472"/>
            <a:ext cx="0" cy="4846416"/>
          </a:xfrm>
          <a:prstGeom prst="line">
            <a:avLst/>
          </a:prstGeom>
          <a:ln w="28575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52">
            <a:extLst>
              <a:ext uri="{FF2B5EF4-FFF2-40B4-BE49-F238E27FC236}">
                <a16:creationId xmlns:a16="http://schemas.microsoft.com/office/drawing/2014/main" id="{109B6832-B9E2-40BA-8BC9-4A81DF13C9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92459" y="820706"/>
            <a:ext cx="5673810" cy="499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ß"/>
              <a:defRPr sz="3200" b="1">
                <a:solidFill>
                  <a:schemeClr val="tx1"/>
                </a:solidFill>
                <a:latin typeface="Consolas" panose="020B0609020204030204" pitchFamily="49" charset="0"/>
              </a:defRPr>
            </a:lvl1pPr>
            <a:lvl2pPr marL="800100" indent="-3429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 b="1">
                <a:solidFill>
                  <a:srgbClr val="333399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2pPr>
            <a:lvl3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 b="1">
                <a:solidFill>
                  <a:srgbClr val="3333CC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3pPr>
            <a:lvl4pPr marL="1714500" indent="-3429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4pPr>
            <a:lvl5pPr marL="2057400" indent="-2286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9pPr>
          </a:lstStyle>
          <a:p>
            <a:pPr marL="800100" marR="0" lvl="1" indent="-34290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p"/>
              <a:tabLst/>
              <a:defRPr/>
            </a:pP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游戏状态切换</a:t>
            </a: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646AD859-548F-4656-9203-16581CD8C5B5}"/>
              </a:ext>
            </a:extLst>
          </p:cNvPr>
          <p:cNvSpPr txBox="1"/>
          <p:nvPr/>
        </p:nvSpPr>
        <p:spPr>
          <a:xfrm>
            <a:off x="6364540" y="1347499"/>
            <a:ext cx="5396534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FF"/>
                </a:highlight>
                <a:uLnTx/>
                <a:uFillTx/>
                <a:latin typeface="新宋体" panose="02010609030101010101" pitchFamily="49" charset="-122"/>
                <a:ea typeface="新宋体" panose="02010609030101010101" pitchFamily="49" charset="-122"/>
                <a:cs typeface="+mn-cs"/>
              </a:rPr>
              <a:t>typedef</a:t>
            </a: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新宋体" panose="02010609030101010101" pitchFamily="49" charset="-122"/>
                <a:ea typeface="新宋体" panose="02010609030101010101" pitchFamily="49" charset="-122"/>
                <a:cs typeface="+mn-cs"/>
              </a:rPr>
              <a:t> </a:t>
            </a: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FF"/>
                </a:highlight>
                <a:uLnTx/>
                <a:uFillTx/>
                <a:latin typeface="新宋体" panose="02010609030101010101" pitchFamily="49" charset="-122"/>
                <a:ea typeface="新宋体" panose="02010609030101010101" pitchFamily="49" charset="-122"/>
                <a:cs typeface="+mn-cs"/>
              </a:rPr>
              <a:t>enum</a:t>
            </a: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新宋体" panose="02010609030101010101" pitchFamily="49" charset="-122"/>
                <a:ea typeface="新宋体" panose="02010609030101010101" pitchFamily="49" charset="-122"/>
                <a:cs typeface="+mn-cs"/>
              </a:rPr>
              <a:t> 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新宋体" panose="02010609030101010101" pitchFamily="49" charset="-122"/>
                <a:ea typeface="新宋体" panose="02010609030101010101" pitchFamily="49" charset="-122"/>
                <a:cs typeface="+mn-cs"/>
              </a:rPr>
              <a:t>    </a:t>
            </a: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2F4F4F"/>
                </a:solidFill>
                <a:effectLst/>
                <a:highlight>
                  <a:srgbClr val="FFFFFF"/>
                </a:highlight>
                <a:uLnTx/>
                <a:uFillTx/>
                <a:latin typeface="新宋体" panose="02010609030101010101" pitchFamily="49" charset="-122"/>
                <a:ea typeface="新宋体" panose="02010609030101010101" pitchFamily="49" charset="-122"/>
                <a:cs typeface="+mn-cs"/>
              </a:rPr>
              <a:t>GS_MENU</a:t>
            </a: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新宋体" panose="02010609030101010101" pitchFamily="49" charset="-122"/>
                <a:ea typeface="新宋体" panose="02010609030101010101" pitchFamily="49" charset="-122"/>
                <a:cs typeface="+mn-cs"/>
              </a:rPr>
              <a:t> = 0,       </a:t>
            </a: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highlight>
                  <a:srgbClr val="FFFFFF"/>
                </a:highlight>
                <a:uLnTx/>
                <a:uFillTx/>
                <a:latin typeface="新宋体" panose="02010609030101010101" pitchFamily="49" charset="-122"/>
                <a:ea typeface="新宋体" panose="02010609030101010101" pitchFamily="49" charset="-122"/>
                <a:cs typeface="+mn-cs"/>
              </a:rPr>
              <a:t>// 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highlight>
                  <a:srgbClr val="FFFFFF"/>
                </a:highlight>
                <a:uLnTx/>
                <a:uFillTx/>
                <a:latin typeface="新宋体" panose="02010609030101010101" pitchFamily="49" charset="-122"/>
                <a:ea typeface="新宋体" panose="02010609030101010101" pitchFamily="49" charset="-122"/>
                <a:cs typeface="+mn-cs"/>
              </a:rPr>
              <a:t>菜单界面</a:t>
            </a: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highlight>
                <a:srgbClr val="FFFFFF"/>
              </a:highlight>
              <a:uLnTx/>
              <a:uFillTx/>
              <a:latin typeface="新宋体" panose="02010609030101010101" pitchFamily="49" charset="-122"/>
              <a:ea typeface="新宋体" panose="02010609030101010101" pitchFamily="49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新宋体" panose="02010609030101010101" pitchFamily="49" charset="-122"/>
                <a:ea typeface="新宋体" panose="02010609030101010101" pitchFamily="49" charset="-122"/>
                <a:cs typeface="+mn-cs"/>
              </a:rPr>
              <a:t>    </a:t>
            </a: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2F4F4F"/>
                </a:solidFill>
                <a:effectLst/>
                <a:highlight>
                  <a:srgbClr val="FFFFFF"/>
                </a:highlight>
                <a:uLnTx/>
                <a:uFillTx/>
                <a:latin typeface="新宋体" panose="02010609030101010101" pitchFamily="49" charset="-122"/>
                <a:ea typeface="新宋体" panose="02010609030101010101" pitchFamily="49" charset="-122"/>
                <a:cs typeface="+mn-cs"/>
              </a:rPr>
              <a:t>GS_PLAY</a:t>
            </a: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新宋体" panose="02010609030101010101" pitchFamily="49" charset="-122"/>
                <a:ea typeface="新宋体" panose="02010609030101010101" pitchFamily="49" charset="-122"/>
                <a:cs typeface="+mn-cs"/>
              </a:rPr>
              <a:t>,           </a:t>
            </a: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highlight>
                  <a:srgbClr val="FFFFFF"/>
                </a:highlight>
                <a:uLnTx/>
                <a:uFillTx/>
                <a:latin typeface="新宋体" panose="02010609030101010101" pitchFamily="49" charset="-122"/>
                <a:ea typeface="新宋体" panose="02010609030101010101" pitchFamily="49" charset="-122"/>
                <a:cs typeface="+mn-cs"/>
              </a:rPr>
              <a:t>// 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highlight>
                  <a:srgbClr val="FFFFFF"/>
                </a:highlight>
                <a:uLnTx/>
                <a:uFillTx/>
                <a:latin typeface="新宋体" panose="02010609030101010101" pitchFamily="49" charset="-122"/>
                <a:ea typeface="新宋体" panose="02010609030101010101" pitchFamily="49" charset="-122"/>
                <a:cs typeface="+mn-cs"/>
              </a:rPr>
              <a:t>游戏进行中</a:t>
            </a: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highlight>
                <a:srgbClr val="FFFFFF"/>
              </a:highlight>
              <a:uLnTx/>
              <a:uFillTx/>
              <a:latin typeface="新宋体" panose="02010609030101010101" pitchFamily="49" charset="-122"/>
              <a:ea typeface="新宋体" panose="02010609030101010101" pitchFamily="49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新宋体" panose="02010609030101010101" pitchFamily="49" charset="-122"/>
                <a:ea typeface="新宋体" panose="02010609030101010101" pitchFamily="49" charset="-122"/>
                <a:cs typeface="+mn-cs"/>
              </a:rPr>
              <a:t>    </a:t>
            </a: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2F4F4F"/>
                </a:solidFill>
                <a:effectLst/>
                <a:highlight>
                  <a:srgbClr val="FFFFFF"/>
                </a:highlight>
                <a:uLnTx/>
                <a:uFillTx/>
                <a:latin typeface="新宋体" panose="02010609030101010101" pitchFamily="49" charset="-122"/>
                <a:ea typeface="新宋体" panose="02010609030101010101" pitchFamily="49" charset="-122"/>
                <a:cs typeface="+mn-cs"/>
              </a:rPr>
              <a:t>GS_PAUSED</a:t>
            </a: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新宋体" panose="02010609030101010101" pitchFamily="49" charset="-122"/>
                <a:ea typeface="新宋体" panose="02010609030101010101" pitchFamily="49" charset="-122"/>
                <a:cs typeface="+mn-cs"/>
              </a:rPr>
              <a:t>,         </a:t>
            </a: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highlight>
                  <a:srgbClr val="FFFFFF"/>
                </a:highlight>
                <a:uLnTx/>
                <a:uFillTx/>
                <a:latin typeface="新宋体" panose="02010609030101010101" pitchFamily="49" charset="-122"/>
                <a:ea typeface="新宋体" panose="02010609030101010101" pitchFamily="49" charset="-122"/>
                <a:cs typeface="+mn-cs"/>
              </a:rPr>
              <a:t>// 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highlight>
                  <a:srgbClr val="FFFFFF"/>
                </a:highlight>
                <a:uLnTx/>
                <a:uFillTx/>
                <a:latin typeface="新宋体" panose="02010609030101010101" pitchFamily="49" charset="-122"/>
                <a:ea typeface="新宋体" panose="02010609030101010101" pitchFamily="49" charset="-122"/>
                <a:cs typeface="+mn-cs"/>
              </a:rPr>
              <a:t>暂停</a:t>
            </a: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highlight>
                <a:srgbClr val="FFFFFF"/>
              </a:highlight>
              <a:uLnTx/>
              <a:uFillTx/>
              <a:latin typeface="新宋体" panose="02010609030101010101" pitchFamily="49" charset="-122"/>
              <a:ea typeface="新宋体" panose="02010609030101010101" pitchFamily="49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新宋体" panose="02010609030101010101" pitchFamily="49" charset="-122"/>
                <a:ea typeface="新宋体" panose="02010609030101010101" pitchFamily="49" charset="-122"/>
                <a:cs typeface="+mn-cs"/>
              </a:rPr>
              <a:t>    </a:t>
            </a: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2F4F4F"/>
                </a:solidFill>
                <a:effectLst/>
                <a:highlight>
                  <a:srgbClr val="FFFFFF"/>
                </a:highlight>
                <a:uLnTx/>
                <a:uFillTx/>
                <a:latin typeface="新宋体" panose="02010609030101010101" pitchFamily="49" charset="-122"/>
                <a:ea typeface="新宋体" panose="02010609030101010101" pitchFamily="49" charset="-122"/>
                <a:cs typeface="+mn-cs"/>
              </a:rPr>
              <a:t>GS_GAMEOVER</a:t>
            </a: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新宋体" panose="02010609030101010101" pitchFamily="49" charset="-122"/>
                <a:ea typeface="新宋体" panose="02010609030101010101" pitchFamily="49" charset="-122"/>
                <a:cs typeface="+mn-cs"/>
              </a:rPr>
              <a:t>,       </a:t>
            </a: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highlight>
                  <a:srgbClr val="FFFFFF"/>
                </a:highlight>
                <a:uLnTx/>
                <a:uFillTx/>
                <a:latin typeface="新宋体" panose="02010609030101010101" pitchFamily="49" charset="-122"/>
                <a:ea typeface="新宋体" panose="02010609030101010101" pitchFamily="49" charset="-122"/>
                <a:cs typeface="+mn-cs"/>
              </a:rPr>
              <a:t>// 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highlight>
                  <a:srgbClr val="FFFFFF"/>
                </a:highlight>
                <a:uLnTx/>
                <a:uFillTx/>
                <a:latin typeface="新宋体" panose="02010609030101010101" pitchFamily="49" charset="-122"/>
                <a:ea typeface="新宋体" panose="02010609030101010101" pitchFamily="49" charset="-122"/>
                <a:cs typeface="+mn-cs"/>
              </a:rPr>
              <a:t>游戏结束</a:t>
            </a: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highlight>
                <a:srgbClr val="FFFFFF"/>
              </a:highlight>
              <a:uLnTx/>
              <a:uFillTx/>
              <a:latin typeface="新宋体" panose="02010609030101010101" pitchFamily="49" charset="-122"/>
              <a:ea typeface="新宋体" panose="02010609030101010101" pitchFamily="49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新宋体" panose="02010609030101010101" pitchFamily="49" charset="-122"/>
                <a:ea typeface="新宋体" panose="02010609030101010101" pitchFamily="49" charset="-122"/>
                <a:cs typeface="+mn-cs"/>
              </a:rPr>
              <a:t>    </a:t>
            </a: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2F4F4F"/>
                </a:solidFill>
                <a:effectLst/>
                <a:highlight>
                  <a:srgbClr val="FFFFFF"/>
                </a:highlight>
                <a:uLnTx/>
                <a:uFillTx/>
                <a:latin typeface="新宋体" panose="02010609030101010101" pitchFamily="49" charset="-122"/>
                <a:ea typeface="新宋体" panose="02010609030101010101" pitchFamily="49" charset="-122"/>
                <a:cs typeface="+mn-cs"/>
              </a:rPr>
              <a:t>GS_RANK</a:t>
            </a: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新宋体" panose="02010609030101010101" pitchFamily="49" charset="-122"/>
                <a:ea typeface="新宋体" panose="02010609030101010101" pitchFamily="49" charset="-122"/>
                <a:cs typeface="+mn-cs"/>
              </a:rPr>
              <a:t>            </a:t>
            </a: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highlight>
                  <a:srgbClr val="FFFFFF"/>
                </a:highlight>
                <a:uLnTx/>
                <a:uFillTx/>
                <a:latin typeface="新宋体" panose="02010609030101010101" pitchFamily="49" charset="-122"/>
                <a:ea typeface="新宋体" panose="02010609030101010101" pitchFamily="49" charset="-122"/>
                <a:cs typeface="+mn-cs"/>
              </a:rPr>
              <a:t>// 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highlight>
                  <a:srgbClr val="FFFFFF"/>
                </a:highlight>
                <a:uLnTx/>
                <a:uFillTx/>
                <a:latin typeface="新宋体" panose="02010609030101010101" pitchFamily="49" charset="-122"/>
                <a:ea typeface="新宋体" panose="02010609030101010101" pitchFamily="49" charset="-122"/>
                <a:cs typeface="+mn-cs"/>
              </a:rPr>
              <a:t>排行榜</a:t>
            </a: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highlight>
                <a:srgbClr val="FFFFFF"/>
              </a:highlight>
              <a:uLnTx/>
              <a:uFillTx/>
              <a:latin typeface="新宋体" panose="02010609030101010101" pitchFamily="49" charset="-122"/>
              <a:ea typeface="新宋体" panose="02010609030101010101" pitchFamily="49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新宋体" panose="02010609030101010101" pitchFamily="49" charset="-122"/>
                <a:ea typeface="新宋体" panose="02010609030101010101" pitchFamily="49" charset="-122"/>
                <a:cs typeface="+mn-cs"/>
              </a:rPr>
              <a:t>} </a:t>
            </a: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2B91AF"/>
                </a:solidFill>
                <a:effectLst/>
                <a:highlight>
                  <a:srgbClr val="FFFFFF"/>
                </a:highlight>
                <a:uLnTx/>
                <a:uFillTx/>
                <a:latin typeface="新宋体" panose="02010609030101010101" pitchFamily="49" charset="-122"/>
                <a:ea typeface="新宋体" panose="02010609030101010101" pitchFamily="49" charset="-122"/>
                <a:cs typeface="+mn-cs"/>
              </a:rPr>
              <a:t>GameState</a:t>
            </a: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新宋体" panose="02010609030101010101" pitchFamily="49" charset="-122"/>
                <a:ea typeface="新宋体" panose="02010609030101010101" pitchFamily="49" charset="-122"/>
                <a:cs typeface="+mn-cs"/>
              </a:rPr>
              <a:t>;</a:t>
            </a: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09C2F9DE-F660-4FEF-96CE-C4BE112161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4838519"/>
              </p:ext>
            </p:extLst>
          </p:nvPr>
        </p:nvGraphicFramePr>
        <p:xfrm>
          <a:off x="6429068" y="3636994"/>
          <a:ext cx="5267960" cy="2400300"/>
        </p:xfrm>
        <a:graphic>
          <a:graphicData uri="http://schemas.openxmlformats.org/drawingml/2006/table">
            <a:tbl>
              <a:tblPr firstRow="1" firstCol="1" bandRow="1"/>
              <a:tblGrid>
                <a:gridCol w="1617345">
                  <a:extLst>
                    <a:ext uri="{9D8B030D-6E8A-4147-A177-3AD203B41FA5}">
                      <a16:colId xmlns:a16="http://schemas.microsoft.com/office/drawing/2014/main" val="2899547810"/>
                    </a:ext>
                  </a:extLst>
                </a:gridCol>
                <a:gridCol w="1894205">
                  <a:extLst>
                    <a:ext uri="{9D8B030D-6E8A-4147-A177-3AD203B41FA5}">
                      <a16:colId xmlns:a16="http://schemas.microsoft.com/office/drawing/2014/main" val="2471610414"/>
                    </a:ext>
                  </a:extLst>
                </a:gridCol>
                <a:gridCol w="1756410">
                  <a:extLst>
                    <a:ext uri="{9D8B030D-6E8A-4147-A177-3AD203B41FA5}">
                      <a16:colId xmlns:a16="http://schemas.microsoft.com/office/drawing/2014/main" val="193832588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zh-CN" sz="1050" kern="100">
                          <a:effectLst/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游戏状态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050" kern="100">
                          <a:effectLst/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渲染内容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050" kern="100">
                          <a:effectLst/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视觉特点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365734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/>
                      <a:r>
                        <a:rPr lang="en-US" sz="1050" kern="100">
                          <a:effectLst/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GS_MENU</a:t>
                      </a:r>
                      <a:r>
                        <a:rPr lang="zh-CN" sz="1050" kern="100">
                          <a:effectLst/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（菜单）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zh-CN" sz="1050" kern="100">
                          <a:effectLst/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背景</a:t>
                      </a:r>
                      <a:r>
                        <a:rPr lang="en-US" sz="1050" kern="100">
                          <a:effectLst/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+ </a:t>
                      </a:r>
                      <a:r>
                        <a:rPr lang="zh-CN" sz="1050" kern="100">
                          <a:effectLst/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提示文字</a:t>
                      </a:r>
                      <a:r>
                        <a:rPr lang="en-US" sz="1050" kern="100">
                          <a:effectLst/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+ </a:t>
                      </a:r>
                      <a:r>
                        <a:rPr lang="zh-CN" sz="1050" kern="100">
                          <a:effectLst/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按钮（</a:t>
                      </a:r>
                      <a:r>
                        <a:rPr lang="en-US" sz="1050" kern="100">
                          <a:effectLst/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START/RANK/EXIT + </a:t>
                      </a:r>
                      <a:r>
                        <a:rPr lang="zh-CN" sz="1050" kern="100">
                          <a:effectLst/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难度选择）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zh-CN" sz="1050" kern="100">
                          <a:effectLst/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按钮区分颜色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787535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/>
                      <a:r>
                        <a:rPr lang="en-US" sz="1050" kern="100">
                          <a:effectLst/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GS_PLAY</a:t>
                      </a:r>
                      <a:r>
                        <a:rPr lang="zh-CN" sz="1050" kern="100">
                          <a:effectLst/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（游戏进行中）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zh-CN" sz="1050" kern="100">
                          <a:effectLst/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背景（循环滚动）</a:t>
                      </a:r>
                      <a:r>
                        <a:rPr lang="en-US" sz="1050" kern="100">
                          <a:effectLst/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+ </a:t>
                      </a:r>
                      <a:r>
                        <a:rPr lang="zh-CN" sz="1050" kern="100">
                          <a:effectLst/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管道</a:t>
                      </a:r>
                      <a:r>
                        <a:rPr lang="en-US" sz="1050" kern="100">
                          <a:effectLst/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+ </a:t>
                      </a:r>
                      <a:r>
                        <a:rPr lang="zh-CN" sz="1050" kern="100">
                          <a:effectLst/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小鸟</a:t>
                      </a:r>
                      <a:r>
                        <a:rPr lang="en-US" sz="1050" kern="100">
                          <a:effectLst/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+ </a:t>
                      </a:r>
                      <a:r>
                        <a:rPr lang="zh-CN" sz="1050" kern="100">
                          <a:effectLst/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界面元素</a:t>
                      </a:r>
                      <a:r>
                        <a:rPr lang="en-US" sz="1050" kern="100">
                          <a:effectLst/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HUD</a:t>
                      </a:r>
                      <a:r>
                        <a:rPr lang="zh-CN" sz="1050" kern="100">
                          <a:effectLst/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（分数</a:t>
                      </a:r>
                      <a:r>
                        <a:rPr lang="en-US" sz="1050" kern="100">
                          <a:effectLst/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/ </a:t>
                      </a:r>
                      <a:r>
                        <a:rPr lang="zh-CN" sz="1050" kern="100">
                          <a:effectLst/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回合</a:t>
                      </a:r>
                      <a:r>
                        <a:rPr lang="en-US" sz="1050" kern="100">
                          <a:effectLst/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/ </a:t>
                      </a:r>
                      <a:r>
                        <a:rPr lang="zh-CN" sz="1050" kern="100">
                          <a:effectLst/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难度</a:t>
                      </a:r>
                      <a:r>
                        <a:rPr lang="en-US" sz="1050" kern="100">
                          <a:effectLst/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/ </a:t>
                      </a:r>
                      <a:r>
                        <a:rPr lang="zh-CN" sz="1050" kern="100">
                          <a:effectLst/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静音</a:t>
                      </a:r>
                      <a:r>
                        <a:rPr lang="en-US" sz="1050" kern="100">
                          <a:effectLst/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+ </a:t>
                      </a:r>
                      <a:r>
                        <a:rPr lang="zh-CN" sz="1050" kern="100">
                          <a:effectLst/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血条）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zh-CN" sz="1050" kern="100">
                          <a:effectLst/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背景循环滚动；血条红色显示当前血量，白色边框；</a:t>
                      </a:r>
                      <a:r>
                        <a:rPr lang="en-US" sz="1050" kern="100">
                          <a:effectLst/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HUD </a:t>
                      </a:r>
                      <a:r>
                        <a:rPr lang="zh-CN" sz="1050" kern="100">
                          <a:effectLst/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固定左上角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328435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/>
                      <a:r>
                        <a:rPr lang="en-US" sz="1050" kern="100">
                          <a:effectLst/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S_PAUSED</a:t>
                      </a:r>
                      <a:r>
                        <a:rPr lang="zh-CN" sz="1050" kern="100">
                          <a:effectLst/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（暂停）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zh-CN" sz="1050" kern="100">
                          <a:effectLst/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游戏画面</a:t>
                      </a:r>
                      <a:r>
                        <a:rPr lang="en-US" sz="1050" kern="100">
                          <a:effectLst/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+ </a:t>
                      </a:r>
                      <a:r>
                        <a:rPr lang="zh-CN" sz="1050" kern="100">
                          <a:effectLst/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暂停文字（</a:t>
                      </a:r>
                      <a:r>
                        <a:rPr lang="en-US" sz="1050" kern="100">
                          <a:effectLst/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PAUSE</a:t>
                      </a:r>
                      <a:r>
                        <a:rPr lang="zh-CN" sz="1050" kern="100">
                          <a:effectLst/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）</a:t>
                      </a:r>
                      <a:r>
                        <a:rPr lang="en-US" sz="1050" kern="100">
                          <a:effectLst/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+ HUD</a:t>
                      </a:r>
                      <a:endParaRPr lang="zh-CN" sz="1050" kern="100">
                        <a:effectLst/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zh-CN" sz="1050" kern="100">
                          <a:effectLst/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保留游戏画面，暂停文字居中显示，视觉突出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392899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/>
                      <a:r>
                        <a:rPr lang="en-US" sz="1050" kern="100">
                          <a:effectLst/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GS_GAMEOVER</a:t>
                      </a:r>
                      <a:r>
                        <a:rPr lang="zh-CN" sz="1050" kern="100">
                          <a:effectLst/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（结束）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zh-CN" sz="1050" kern="100">
                          <a:effectLst/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游戏画面</a:t>
                      </a:r>
                      <a:r>
                        <a:rPr lang="en-US" sz="1050" kern="100">
                          <a:effectLst/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+ </a:t>
                      </a:r>
                      <a:r>
                        <a:rPr lang="zh-CN" sz="1050" kern="100">
                          <a:effectLst/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结束文字（</a:t>
                      </a:r>
                      <a:r>
                        <a:rPr lang="en-US" sz="1050" kern="100">
                          <a:effectLst/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GAME OVER</a:t>
                      </a:r>
                      <a:r>
                        <a:rPr lang="zh-CN" sz="1050" kern="100">
                          <a:effectLst/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）</a:t>
                      </a:r>
                      <a:r>
                        <a:rPr lang="en-US" sz="1050" kern="100">
                          <a:effectLst/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+ </a:t>
                      </a:r>
                      <a:r>
                        <a:rPr lang="zh-CN" sz="1050" kern="100">
                          <a:effectLst/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提示文字</a:t>
                      </a:r>
                      <a:r>
                        <a:rPr lang="en-US" sz="1050" kern="100">
                          <a:effectLst/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+ HUD</a:t>
                      </a:r>
                      <a:endParaRPr lang="zh-CN" sz="1050" kern="100">
                        <a:effectLst/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zh-CN" sz="1050" kern="100">
                          <a:effectLst/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结束文字居中大号显示，提示点击区域切换状态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435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/>
                      <a:r>
                        <a:rPr lang="en-US" sz="1050" kern="100">
                          <a:effectLst/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GS_RANK</a:t>
                      </a:r>
                      <a:r>
                        <a:rPr lang="zh-CN" sz="1050" kern="100">
                          <a:effectLst/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（排行榜）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zh-CN" sz="1050" kern="100">
                          <a:effectLst/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背景</a:t>
                      </a:r>
                      <a:r>
                        <a:rPr lang="en-US" sz="1050" kern="100">
                          <a:effectLst/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+ </a:t>
                      </a:r>
                      <a:r>
                        <a:rPr lang="zh-CN" sz="1050" kern="100">
                          <a:effectLst/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排行榜标题</a:t>
                      </a:r>
                      <a:r>
                        <a:rPr lang="en-US" sz="1050" kern="100">
                          <a:effectLst/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+ 10 </a:t>
                      </a:r>
                      <a:r>
                        <a:rPr lang="zh-CN" sz="1050" kern="100">
                          <a:effectLst/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条排名记录（名次</a:t>
                      </a:r>
                      <a:r>
                        <a:rPr lang="en-US" sz="1050" kern="100">
                          <a:effectLst/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/ </a:t>
                      </a:r>
                      <a:r>
                        <a:rPr lang="zh-CN" sz="1050" kern="100">
                          <a:effectLst/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姓名</a:t>
                      </a:r>
                      <a:r>
                        <a:rPr lang="en-US" sz="1050" kern="100">
                          <a:effectLst/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/ </a:t>
                      </a:r>
                      <a:r>
                        <a:rPr lang="zh-CN" sz="1050" kern="100">
                          <a:effectLst/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得分）</a:t>
                      </a:r>
                      <a:r>
                        <a:rPr lang="en-US" sz="1050" kern="100">
                          <a:effectLst/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+ BACK </a:t>
                      </a:r>
                      <a:r>
                        <a:rPr lang="zh-CN" sz="1050" kern="100">
                          <a:effectLst/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按钮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zh-CN" sz="1050" kern="100">
                          <a:effectLst/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排名按得分降序显示，</a:t>
                      </a:r>
                      <a:r>
                        <a:rPr lang="en-US" sz="1050" kern="100">
                          <a:effectLst/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BACK </a:t>
                      </a:r>
                      <a:r>
                        <a:rPr lang="zh-CN" sz="1050" kern="100">
                          <a:effectLst/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按钮居中底部，点击可返回菜单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07940186"/>
                  </a:ext>
                </a:extLst>
              </a:tr>
            </a:tbl>
          </a:graphicData>
        </a:graphic>
      </p:graphicFrame>
      <p:sp>
        <p:nvSpPr>
          <p:cNvPr id="12" name="文本框 11">
            <a:extLst>
              <a:ext uri="{FF2B5EF4-FFF2-40B4-BE49-F238E27FC236}">
                <a16:creationId xmlns:a16="http://schemas.microsoft.com/office/drawing/2014/main" id="{0B3EE107-2ADF-4CAC-860C-34B8B0B71094}"/>
              </a:ext>
            </a:extLst>
          </p:cNvPr>
          <p:cNvSpPr txBox="1"/>
          <p:nvPr/>
        </p:nvSpPr>
        <p:spPr>
          <a:xfrm>
            <a:off x="6364540" y="6064463"/>
            <a:ext cx="589573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800">
                <a:effectLst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游戏界面支持状态切换，包括菜单、游戏进行中、游戏结束、排行榜等页面，分状态渲染。</a:t>
            </a:r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93AD883C-8E8D-4BAD-9101-F324F7FECC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4248" y="3971838"/>
            <a:ext cx="1820029" cy="1370375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E47C6441-77DC-4343-BC43-906870B2817C}"/>
              </a:ext>
            </a:extLst>
          </p:cNvPr>
          <p:cNvPicPr/>
          <p:nvPr/>
        </p:nvPicPr>
        <p:blipFill>
          <a:blip r:embed="rId5"/>
          <a:stretch>
            <a:fillRect/>
          </a:stretch>
        </p:blipFill>
        <p:spPr>
          <a:xfrm>
            <a:off x="2284201" y="4006723"/>
            <a:ext cx="1704720" cy="1332059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47FC549E-2702-48BC-8FDC-7A43D150E7A0}"/>
              </a:ext>
            </a:extLst>
          </p:cNvPr>
          <p:cNvPicPr/>
          <p:nvPr/>
        </p:nvPicPr>
        <p:blipFill>
          <a:blip r:embed="rId6"/>
          <a:stretch>
            <a:fillRect/>
          </a:stretch>
        </p:blipFill>
        <p:spPr>
          <a:xfrm>
            <a:off x="209866" y="5392302"/>
            <a:ext cx="1820029" cy="1332059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FEB3259E-4FCF-4808-BC80-C5940F9EA2D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45291" y="5348640"/>
            <a:ext cx="1773244" cy="1328479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02FCC390-7713-4E28-BDB5-422922B4E130}"/>
              </a:ext>
            </a:extLst>
          </p:cNvPr>
          <p:cNvPicPr/>
          <p:nvPr/>
        </p:nvPicPr>
        <p:blipFill>
          <a:blip r:embed="rId8"/>
          <a:stretch>
            <a:fillRect/>
          </a:stretch>
        </p:blipFill>
        <p:spPr>
          <a:xfrm>
            <a:off x="4175958" y="5363360"/>
            <a:ext cx="1815762" cy="1361002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EED475DB-62C1-4F8F-A910-67BCED078197}"/>
              </a:ext>
            </a:extLst>
          </p:cNvPr>
          <p:cNvPicPr/>
          <p:nvPr/>
        </p:nvPicPr>
        <p:blipFill>
          <a:blip r:embed="rId9"/>
          <a:stretch>
            <a:fillRect/>
          </a:stretch>
        </p:blipFill>
        <p:spPr>
          <a:xfrm>
            <a:off x="4134884" y="4006723"/>
            <a:ext cx="1856831" cy="133205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3580463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4" name="文本框 52">
            <a:extLst>
              <a:ext uri="{FF2B5EF4-FFF2-40B4-BE49-F238E27FC236}">
                <a16:creationId xmlns:a16="http://schemas.microsoft.com/office/drawing/2014/main" id="{9DA82089-C5DE-4EEF-9061-F9041F5237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4248" y="1029586"/>
            <a:ext cx="5964895" cy="17977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ß"/>
              <a:defRPr sz="3200" b="1">
                <a:solidFill>
                  <a:schemeClr val="tx1"/>
                </a:solidFill>
                <a:latin typeface="Consolas" panose="020B0609020204030204" pitchFamily="49" charset="0"/>
              </a:defRPr>
            </a:lvl1pPr>
            <a:lvl2pPr marL="800100" indent="-3429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 b="1">
                <a:solidFill>
                  <a:srgbClr val="333399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2pPr>
            <a:lvl3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 b="1">
                <a:solidFill>
                  <a:srgbClr val="3333CC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3pPr>
            <a:lvl4pPr marL="1714500" indent="-3429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4pPr>
            <a:lvl5pPr marL="2057400" indent="-2286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p"/>
              <a:tabLst/>
              <a:defRPr/>
            </a:pP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任务</a:t>
            </a:r>
            <a:r>
              <a:rPr lang="en-US" altLang="zh-CN" sz="200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——</a:t>
            </a: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系统功能拓展</a:t>
            </a: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800100" marR="0" lvl="1" indent="-34290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p"/>
              <a:tabLst/>
              <a:defRPr/>
            </a:pP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任务目标（运行效果）</a:t>
            </a: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914400" marR="0" lvl="2" indent="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实现难度选择（简单</a:t>
            </a: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</a:t>
            </a: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普通</a:t>
            </a: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</a:t>
            </a: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困难，影响管道缝隙、速度、重力与初始血量）；</a:t>
            </a:r>
            <a:endParaRPr kumimoji="0" lang="en-US" altLang="zh-CN" sz="1800" b="1" i="0" u="none" strike="noStrike" kern="1200" cap="none" spc="0" normalizeH="0" baseline="0" noProof="0">
              <a:ln>
                <a:noFill/>
              </a:ln>
              <a:solidFill>
                <a:srgbClr val="3333CC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1DF8E92B-827B-3B38-FC63-8B8DF643BB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33639"/>
            <a:ext cx="11615737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ß"/>
              <a:defRPr sz="3200" b="1">
                <a:solidFill>
                  <a:schemeClr val="tx1"/>
                </a:solidFill>
                <a:latin typeface="Consolas" panose="020B0609020204030204" pitchFamily="49" charset="0"/>
              </a:defRPr>
            </a:lvl1pPr>
            <a:lvl2pPr marL="742950" indent="-28575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 b="1">
                <a:solidFill>
                  <a:srgbClr val="333399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2pPr>
            <a:lvl3pPr marL="1143000" indent="-2286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 b="1">
                <a:solidFill>
                  <a:srgbClr val="3333CC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3pPr>
            <a:lvl4pPr marL="1600200" indent="-2286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4pPr>
            <a:lvl5pPr marL="2057400" indent="-2286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综合实践项目</a:t>
            </a:r>
            <a:r>
              <a:rPr kumimoji="1" lang="en-US" altLang="zh-CN" sz="32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——FlappyBird</a:t>
            </a:r>
            <a:r>
              <a:rPr kumimoji="1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闯关系统</a:t>
            </a:r>
            <a:endParaRPr kumimoji="1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4178632D-29DB-596B-388D-DB7E3E0C3BE0}"/>
              </a:ext>
            </a:extLst>
          </p:cNvPr>
          <p:cNvCxnSpPr>
            <a:cxnSpLocks/>
          </p:cNvCxnSpPr>
          <p:nvPr/>
        </p:nvCxnSpPr>
        <p:spPr>
          <a:xfrm>
            <a:off x="6149143" y="1291472"/>
            <a:ext cx="0" cy="4846416"/>
          </a:xfrm>
          <a:prstGeom prst="line">
            <a:avLst/>
          </a:prstGeom>
          <a:ln w="28575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bird4.mp4">
            <a:hlinkClick r:id="" action="ppaction://media"/>
            <a:extLst>
              <a:ext uri="{FF2B5EF4-FFF2-40B4-BE49-F238E27FC236}">
                <a16:creationId xmlns:a16="http://schemas.microsoft.com/office/drawing/2014/main" id="{04777888-788F-45D0-9778-501670D5C5E9}"/>
              </a:ext>
            </a:extLst>
          </p:cNvPr>
          <p:cNvPicPr>
            <a:picLocks noChangeAspect="1" noChangeArrowheads="1"/>
          </p:cNvPicPr>
          <p:nvPr>
            <a:videoFile r:link="rId3"/>
            <p:extLst>
              <p:ext uri="{DAA4B4D4-6D71-4841-9C94-3DE7FCFB9230}">
                <p14:media xmlns:p14="http://schemas.microsoft.com/office/powerpoint/2010/main" r:link="rId2"/>
              </p:ext>
            </p:ext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8250" y="2741689"/>
            <a:ext cx="3436209" cy="25779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E5758910-C5A5-462A-A607-54F0D5101C5B}"/>
              </a:ext>
            </a:extLst>
          </p:cNvPr>
          <p:cNvSpPr txBox="1"/>
          <p:nvPr/>
        </p:nvSpPr>
        <p:spPr>
          <a:xfrm>
            <a:off x="6255760" y="1309898"/>
            <a:ext cx="593624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>
                <a:solidFill>
                  <a:srgbClr val="0000FF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typedef</a:t>
            </a:r>
            <a:r>
              <a:rPr lang="en-US" altLang="zh-CN">
                <a:solidFill>
                  <a:srgbClr val="000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 </a:t>
            </a:r>
            <a:r>
              <a:rPr lang="en-US" altLang="zh-CN">
                <a:solidFill>
                  <a:srgbClr val="0000FF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enum</a:t>
            </a:r>
            <a:r>
              <a:rPr lang="en-US" altLang="zh-CN">
                <a:solidFill>
                  <a:srgbClr val="000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 {</a:t>
            </a:r>
          </a:p>
          <a:p>
            <a:r>
              <a:rPr lang="en-US" altLang="zh-CN">
                <a:solidFill>
                  <a:srgbClr val="000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    </a:t>
            </a:r>
            <a:r>
              <a:rPr lang="en-US" altLang="zh-CN">
                <a:solidFill>
                  <a:srgbClr val="2F4F4F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DIFF_EASY</a:t>
            </a:r>
            <a:r>
              <a:rPr lang="en-US" altLang="zh-CN">
                <a:solidFill>
                  <a:srgbClr val="000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 = 0, </a:t>
            </a:r>
            <a:r>
              <a:rPr lang="en-US" altLang="zh-CN">
                <a:solidFill>
                  <a:srgbClr val="008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// </a:t>
            </a:r>
            <a:r>
              <a:rPr lang="zh-CN" altLang="en-US">
                <a:solidFill>
                  <a:srgbClr val="008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简单难度</a:t>
            </a:r>
            <a:endParaRPr lang="zh-CN" altLang="en-US">
              <a:solidFill>
                <a:srgbClr val="000000"/>
              </a:solidFill>
              <a:highlight>
                <a:srgbClr val="FFFFFF"/>
              </a:highlight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r>
              <a:rPr lang="en-US" altLang="zh-CN">
                <a:solidFill>
                  <a:srgbClr val="000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    </a:t>
            </a:r>
            <a:r>
              <a:rPr lang="en-US" altLang="zh-CN">
                <a:solidFill>
                  <a:srgbClr val="2F4F4F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DIFF_NORMAL</a:t>
            </a:r>
            <a:r>
              <a:rPr lang="en-US" altLang="zh-CN">
                <a:solidFill>
                  <a:srgbClr val="000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,   </a:t>
            </a:r>
            <a:r>
              <a:rPr lang="en-US" altLang="zh-CN">
                <a:solidFill>
                  <a:srgbClr val="008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// </a:t>
            </a:r>
            <a:r>
              <a:rPr lang="zh-CN" altLang="en-US">
                <a:solidFill>
                  <a:srgbClr val="008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普通难度</a:t>
            </a:r>
            <a:endParaRPr lang="zh-CN" altLang="en-US">
              <a:solidFill>
                <a:srgbClr val="000000"/>
              </a:solidFill>
              <a:highlight>
                <a:srgbClr val="FFFFFF"/>
              </a:highlight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r>
              <a:rPr lang="en-US" altLang="zh-CN">
                <a:solidFill>
                  <a:srgbClr val="000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    </a:t>
            </a:r>
            <a:r>
              <a:rPr lang="en-US" altLang="zh-CN">
                <a:solidFill>
                  <a:srgbClr val="2F4F4F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DIFF_HARD</a:t>
            </a:r>
            <a:r>
              <a:rPr lang="en-US" altLang="zh-CN">
                <a:solidFill>
                  <a:srgbClr val="000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      </a:t>
            </a:r>
            <a:r>
              <a:rPr lang="en-US" altLang="zh-CN">
                <a:solidFill>
                  <a:srgbClr val="008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// </a:t>
            </a:r>
            <a:r>
              <a:rPr lang="zh-CN" altLang="en-US">
                <a:solidFill>
                  <a:srgbClr val="008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难度较高</a:t>
            </a:r>
            <a:endParaRPr lang="zh-CN" altLang="en-US">
              <a:solidFill>
                <a:srgbClr val="000000"/>
              </a:solidFill>
              <a:highlight>
                <a:srgbClr val="FFFFFF"/>
              </a:highlight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r>
              <a:rPr lang="en-US" altLang="zh-CN">
                <a:solidFill>
                  <a:srgbClr val="000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} </a:t>
            </a:r>
            <a:r>
              <a:rPr lang="en-US" altLang="zh-CN">
                <a:solidFill>
                  <a:srgbClr val="2B91AF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Difficulty</a:t>
            </a:r>
            <a:r>
              <a:rPr lang="en-US" altLang="zh-CN">
                <a:solidFill>
                  <a:srgbClr val="000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;</a:t>
            </a:r>
            <a:r>
              <a:rPr lang="en-US" altLang="zh-CN">
                <a:solidFill>
                  <a:srgbClr val="008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 //</a:t>
            </a:r>
            <a:r>
              <a:rPr lang="zh-CN" altLang="en-US">
                <a:solidFill>
                  <a:srgbClr val="008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难度级别</a:t>
            </a:r>
            <a:endParaRPr lang="en-US" altLang="zh-CN">
              <a:solidFill>
                <a:srgbClr val="000000"/>
              </a:solidFill>
              <a:highlight>
                <a:srgbClr val="FFFFFF"/>
              </a:highlight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r>
              <a:rPr lang="en-US" altLang="zh-CN">
                <a:solidFill>
                  <a:srgbClr val="0000FF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typedef</a:t>
            </a:r>
            <a:r>
              <a:rPr lang="en-US" altLang="zh-CN">
                <a:solidFill>
                  <a:srgbClr val="000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 </a:t>
            </a:r>
            <a:r>
              <a:rPr lang="en-US" altLang="zh-CN">
                <a:solidFill>
                  <a:srgbClr val="0000FF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struct</a:t>
            </a:r>
            <a:r>
              <a:rPr lang="en-US" altLang="zh-CN">
                <a:solidFill>
                  <a:srgbClr val="000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 {</a:t>
            </a:r>
          </a:p>
          <a:p>
            <a:r>
              <a:rPr lang="en-US" altLang="zh-CN">
                <a:solidFill>
                  <a:srgbClr val="000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    </a:t>
            </a:r>
            <a:r>
              <a:rPr lang="en-US" altLang="zh-CN">
                <a:solidFill>
                  <a:srgbClr val="0000FF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int</a:t>
            </a:r>
            <a:r>
              <a:rPr lang="en-US" altLang="zh-CN">
                <a:solidFill>
                  <a:srgbClr val="000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 pipeGap;       </a:t>
            </a:r>
            <a:r>
              <a:rPr lang="en-US" altLang="zh-CN">
                <a:solidFill>
                  <a:srgbClr val="008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// </a:t>
            </a:r>
            <a:r>
              <a:rPr lang="zh-CN" altLang="en-US">
                <a:solidFill>
                  <a:srgbClr val="008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管道缝隙大小</a:t>
            </a:r>
            <a:endParaRPr lang="zh-CN" altLang="en-US">
              <a:solidFill>
                <a:srgbClr val="000000"/>
              </a:solidFill>
              <a:highlight>
                <a:srgbClr val="FFFFFF"/>
              </a:highlight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r>
              <a:rPr lang="en-US" altLang="zh-CN">
                <a:solidFill>
                  <a:srgbClr val="000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    </a:t>
            </a:r>
            <a:r>
              <a:rPr lang="en-US" altLang="zh-CN">
                <a:solidFill>
                  <a:srgbClr val="0000FF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int</a:t>
            </a:r>
            <a:r>
              <a:rPr lang="en-US" altLang="zh-CN">
                <a:solidFill>
                  <a:srgbClr val="000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 scrollSpeed;   </a:t>
            </a:r>
            <a:r>
              <a:rPr lang="en-US" altLang="zh-CN">
                <a:solidFill>
                  <a:srgbClr val="008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// </a:t>
            </a:r>
            <a:r>
              <a:rPr lang="zh-CN" altLang="en-US">
                <a:solidFill>
                  <a:srgbClr val="008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滚动速度</a:t>
            </a:r>
            <a:endParaRPr lang="zh-CN" altLang="en-US">
              <a:solidFill>
                <a:srgbClr val="000000"/>
              </a:solidFill>
              <a:highlight>
                <a:srgbClr val="FFFFFF"/>
              </a:highlight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r>
              <a:rPr lang="en-US" altLang="zh-CN">
                <a:solidFill>
                  <a:srgbClr val="000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    </a:t>
            </a:r>
            <a:r>
              <a:rPr lang="en-US" altLang="zh-CN">
                <a:solidFill>
                  <a:srgbClr val="0000FF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float</a:t>
            </a:r>
            <a:r>
              <a:rPr lang="en-US" altLang="zh-CN">
                <a:solidFill>
                  <a:srgbClr val="000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 gravity;     </a:t>
            </a:r>
            <a:r>
              <a:rPr lang="en-US" altLang="zh-CN">
                <a:solidFill>
                  <a:srgbClr val="008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//</a:t>
            </a:r>
            <a:r>
              <a:rPr lang="zh-CN" altLang="en-US">
                <a:solidFill>
                  <a:srgbClr val="008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小鸟重力加速度</a:t>
            </a:r>
          </a:p>
          <a:p>
            <a:r>
              <a:rPr lang="en-US" altLang="zh-CN">
                <a:solidFill>
                  <a:srgbClr val="0000FF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    float</a:t>
            </a:r>
            <a:r>
              <a:rPr lang="en-US" altLang="zh-CN">
                <a:solidFill>
                  <a:srgbClr val="000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 flapVy;      </a:t>
            </a:r>
            <a:r>
              <a:rPr lang="en-US" altLang="zh-CN">
                <a:solidFill>
                  <a:srgbClr val="008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// </a:t>
            </a:r>
            <a:r>
              <a:rPr lang="zh-CN" altLang="en-US">
                <a:solidFill>
                  <a:srgbClr val="008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翅膀拍打时的速度</a:t>
            </a:r>
            <a:endParaRPr lang="zh-CN" altLang="en-US">
              <a:solidFill>
                <a:srgbClr val="000000"/>
              </a:solidFill>
              <a:highlight>
                <a:srgbClr val="FFFFFF"/>
              </a:highlight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r>
              <a:rPr lang="en-US" altLang="zh-CN">
                <a:solidFill>
                  <a:srgbClr val="000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    </a:t>
            </a:r>
            <a:r>
              <a:rPr lang="en-US" altLang="zh-CN">
                <a:solidFill>
                  <a:srgbClr val="0000FF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int</a:t>
            </a:r>
            <a:r>
              <a:rPr lang="en-US" altLang="zh-CN">
                <a:solidFill>
                  <a:srgbClr val="000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 hpInit;        </a:t>
            </a:r>
            <a:r>
              <a:rPr lang="en-US" altLang="zh-CN">
                <a:solidFill>
                  <a:srgbClr val="008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// </a:t>
            </a:r>
            <a:r>
              <a:rPr lang="zh-CN" altLang="en-US">
                <a:solidFill>
                  <a:srgbClr val="008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初始生命值</a:t>
            </a:r>
            <a:endParaRPr lang="zh-CN" altLang="en-US">
              <a:solidFill>
                <a:srgbClr val="000000"/>
              </a:solidFill>
              <a:highlight>
                <a:srgbClr val="FFFFFF"/>
              </a:highlight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r>
              <a:rPr lang="en-US" altLang="zh-CN">
                <a:solidFill>
                  <a:srgbClr val="000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} </a:t>
            </a:r>
            <a:r>
              <a:rPr lang="en-US" altLang="zh-CN">
                <a:solidFill>
                  <a:srgbClr val="2B91AF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DiffParam</a:t>
            </a:r>
            <a:r>
              <a:rPr lang="en-US" altLang="zh-CN">
                <a:solidFill>
                  <a:srgbClr val="008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;//</a:t>
            </a:r>
            <a:r>
              <a:rPr lang="zh-CN" altLang="zh-CN">
                <a:solidFill>
                  <a:srgbClr val="008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不同难度下的参数设置</a:t>
            </a:r>
            <a:endParaRPr lang="zh-CN" altLang="en-US">
              <a:solidFill>
                <a:srgbClr val="000000"/>
              </a:solidFill>
              <a:highlight>
                <a:srgbClr val="FFFFFF"/>
              </a:highlight>
              <a:latin typeface="新宋体" panose="02010609030101010101" pitchFamily="49" charset="-122"/>
              <a:ea typeface="新宋体" panose="02010609030101010101" pitchFamily="49" charset="-122"/>
            </a:endParaRPr>
          </a:p>
        </p:txBody>
      </p:sp>
      <p:sp>
        <p:nvSpPr>
          <p:cNvPr id="9" name="文本框 52">
            <a:extLst>
              <a:ext uri="{FF2B5EF4-FFF2-40B4-BE49-F238E27FC236}">
                <a16:creationId xmlns:a16="http://schemas.microsoft.com/office/drawing/2014/main" id="{109B6832-B9E2-40BA-8BC9-4A81DF13C9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92459" y="820706"/>
            <a:ext cx="5673810" cy="499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ß"/>
              <a:defRPr sz="3200" b="1">
                <a:solidFill>
                  <a:schemeClr val="tx1"/>
                </a:solidFill>
                <a:latin typeface="Consolas" panose="020B0609020204030204" pitchFamily="49" charset="0"/>
              </a:defRPr>
            </a:lvl1pPr>
            <a:lvl2pPr marL="800100" indent="-3429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 b="1">
                <a:solidFill>
                  <a:srgbClr val="333399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2pPr>
            <a:lvl3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 b="1">
                <a:solidFill>
                  <a:srgbClr val="3333CC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3pPr>
            <a:lvl4pPr marL="1714500" indent="-3429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4pPr>
            <a:lvl5pPr marL="2057400" indent="-2286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9pPr>
          </a:lstStyle>
          <a:p>
            <a:pPr lvl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p"/>
            </a:pPr>
            <a:r>
              <a:rPr lang="zh-CN" altLang="en-US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数据结构设计</a:t>
            </a:r>
            <a:endParaRPr lang="en-US" altLang="zh-CN" sz="20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334C5C62-FE8F-44FF-B19B-98CEF091AE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8162966"/>
              </p:ext>
            </p:extLst>
          </p:nvPr>
        </p:nvGraphicFramePr>
        <p:xfrm>
          <a:off x="6312515" y="4770862"/>
          <a:ext cx="5675581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9987">
                  <a:extLst>
                    <a:ext uri="{9D8B030D-6E8A-4147-A177-3AD203B41FA5}">
                      <a16:colId xmlns:a16="http://schemas.microsoft.com/office/drawing/2014/main" val="1697488990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901502300"/>
                    </a:ext>
                  </a:extLst>
                </a:gridCol>
                <a:gridCol w="1046830">
                  <a:extLst>
                    <a:ext uri="{9D8B030D-6E8A-4147-A177-3AD203B41FA5}">
                      <a16:colId xmlns:a16="http://schemas.microsoft.com/office/drawing/2014/main" val="507064305"/>
                    </a:ext>
                  </a:extLst>
                </a:gridCol>
                <a:gridCol w="706296">
                  <a:extLst>
                    <a:ext uri="{9D8B030D-6E8A-4147-A177-3AD203B41FA5}">
                      <a16:colId xmlns:a16="http://schemas.microsoft.com/office/drawing/2014/main" val="3100884498"/>
                    </a:ext>
                  </a:extLst>
                </a:gridCol>
                <a:gridCol w="936472">
                  <a:extLst>
                    <a:ext uri="{9D8B030D-6E8A-4147-A177-3AD203B41FA5}">
                      <a16:colId xmlns:a16="http://schemas.microsoft.com/office/drawing/2014/main" val="614715253"/>
                    </a:ext>
                  </a:extLst>
                </a:gridCol>
                <a:gridCol w="804041">
                  <a:extLst>
                    <a:ext uri="{9D8B030D-6E8A-4147-A177-3AD203B41FA5}">
                      <a16:colId xmlns:a16="http://schemas.microsoft.com/office/drawing/2014/main" val="48011247"/>
                    </a:ext>
                  </a:extLst>
                </a:gridCol>
                <a:gridCol w="750435">
                  <a:extLst>
                    <a:ext uri="{9D8B030D-6E8A-4147-A177-3AD203B41FA5}">
                      <a16:colId xmlns:a16="http://schemas.microsoft.com/office/drawing/2014/main" val="207704066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>
                          <a:effectLst/>
                        </a:rPr>
                        <a:t>难度等级</a:t>
                      </a: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>
                          <a:effectLst/>
                        </a:rPr>
                        <a:t>难度标识</a:t>
                      </a: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>
                          <a:effectLst/>
                        </a:rPr>
                        <a:t>管道缝隙大小</a:t>
                      </a: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>
                          <a:effectLst/>
                        </a:rPr>
                        <a:t>管道滚动速度</a:t>
                      </a: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>
                          <a:effectLst/>
                        </a:rPr>
                        <a:t>小鸟重力加速度</a:t>
                      </a: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>
                          <a:effectLst/>
                        </a:rPr>
                        <a:t>翅膀拍打时的速度</a:t>
                      </a: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>
                          <a:effectLst/>
                        </a:rPr>
                        <a:t>初始生命值</a:t>
                      </a:r>
                    </a:p>
                  </a:txBody>
                  <a:tcPr marL="38100" marR="38100" marT="38100" marB="38100" anchor="ctr"/>
                </a:tc>
                <a:extLst>
                  <a:ext uri="{0D108BD9-81ED-4DB2-BD59-A6C34878D82A}">
                    <a16:rowId xmlns:a16="http://schemas.microsoft.com/office/drawing/2014/main" val="24635017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200">
                          <a:effectLst/>
                        </a:rPr>
                        <a:t>简单</a:t>
                      </a: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200">
                          <a:effectLst/>
                        </a:rPr>
                        <a:t>0</a:t>
                      </a: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>
                          <a:effectLst/>
                        </a:rPr>
                        <a:t>210px</a:t>
                      </a: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>
                          <a:effectLst/>
                        </a:rPr>
                        <a:t>2px / </a:t>
                      </a:r>
                      <a:r>
                        <a:rPr lang="zh-CN" altLang="en-US" sz="1200">
                          <a:effectLst/>
                        </a:rPr>
                        <a:t>帧</a:t>
                      </a: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>
                          <a:effectLst/>
                        </a:rPr>
                        <a:t>0.32f</a:t>
                      </a: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2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-7.0f</a:t>
                      </a: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200">
                          <a:effectLst/>
                        </a:rPr>
                        <a:t>4 </a:t>
                      </a:r>
                      <a:r>
                        <a:rPr lang="zh-CN" altLang="en-US" sz="1200">
                          <a:effectLst/>
                        </a:rPr>
                        <a:t>点</a:t>
                      </a:r>
                    </a:p>
                  </a:txBody>
                  <a:tcPr marL="38100" marR="38100" marT="38100" marB="38100" anchor="ctr"/>
                </a:tc>
                <a:extLst>
                  <a:ext uri="{0D108BD9-81ED-4DB2-BD59-A6C34878D82A}">
                    <a16:rowId xmlns:a16="http://schemas.microsoft.com/office/drawing/2014/main" val="1998342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200">
                          <a:effectLst/>
                        </a:rPr>
                        <a:t>普通</a:t>
                      </a: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200">
                          <a:effectLst/>
                        </a:rPr>
                        <a:t>1</a:t>
                      </a: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>
                          <a:effectLst/>
                        </a:rPr>
                        <a:t>160px</a:t>
                      </a: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>
                          <a:effectLst/>
                        </a:rPr>
                        <a:t>3px / </a:t>
                      </a:r>
                      <a:r>
                        <a:rPr lang="zh-CN" altLang="en-US" sz="1200">
                          <a:effectLst/>
                        </a:rPr>
                        <a:t>帧</a:t>
                      </a: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>
                          <a:effectLst/>
                        </a:rPr>
                        <a:t>0.35f</a:t>
                      </a: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2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-7.2f</a:t>
                      </a:r>
                      <a:endParaRPr lang="en-US" sz="120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200">
                          <a:effectLst/>
                        </a:rPr>
                        <a:t>3 </a:t>
                      </a:r>
                      <a:r>
                        <a:rPr lang="zh-CN" altLang="en-US" sz="1200">
                          <a:effectLst/>
                        </a:rPr>
                        <a:t>点</a:t>
                      </a:r>
                    </a:p>
                  </a:txBody>
                  <a:tcPr marL="38100" marR="38100" marT="38100" marB="38100" anchor="ctr"/>
                </a:tc>
                <a:extLst>
                  <a:ext uri="{0D108BD9-81ED-4DB2-BD59-A6C34878D82A}">
                    <a16:rowId xmlns:a16="http://schemas.microsoft.com/office/drawing/2014/main" val="6773184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200">
                          <a:effectLst/>
                        </a:rPr>
                        <a:t>困难</a:t>
                      </a: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200">
                          <a:effectLst/>
                        </a:rPr>
                        <a:t>2</a:t>
                      </a: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>
                          <a:effectLst/>
                        </a:rPr>
                        <a:t>135px</a:t>
                      </a: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>
                          <a:effectLst/>
                        </a:rPr>
                        <a:t>4px / </a:t>
                      </a:r>
                      <a:r>
                        <a:rPr lang="zh-CN" altLang="en-US" sz="1200">
                          <a:effectLst/>
                        </a:rPr>
                        <a:t>帧</a:t>
                      </a: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>
                          <a:effectLst/>
                        </a:rPr>
                        <a:t>0.38f</a:t>
                      </a: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>
                          <a:effectLst/>
                        </a:rPr>
                        <a:t>-7.4f</a:t>
                      </a: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200">
                          <a:effectLst/>
                        </a:rPr>
                        <a:t>2 </a:t>
                      </a:r>
                      <a:r>
                        <a:rPr lang="zh-CN" altLang="en-US" sz="1200">
                          <a:effectLst/>
                        </a:rPr>
                        <a:t>点</a:t>
                      </a:r>
                    </a:p>
                  </a:txBody>
                  <a:tcPr marL="38100" marR="38100" marT="38100" marB="38100" anchor="ctr"/>
                </a:tc>
                <a:extLst>
                  <a:ext uri="{0D108BD9-81ED-4DB2-BD59-A6C34878D82A}">
                    <a16:rowId xmlns:a16="http://schemas.microsoft.com/office/drawing/2014/main" val="2857097568"/>
                  </a:ext>
                </a:extLst>
              </a:tr>
            </a:tbl>
          </a:graphicData>
        </a:graphic>
      </p:graphicFrame>
      <p:sp>
        <p:nvSpPr>
          <p:cNvPr id="12" name="文本框 11">
            <a:extLst>
              <a:ext uri="{FF2B5EF4-FFF2-40B4-BE49-F238E27FC236}">
                <a16:creationId xmlns:a16="http://schemas.microsoft.com/office/drawing/2014/main" id="{72453EE3-D1A0-4FDA-A4DB-4FBD566A903F}"/>
              </a:ext>
            </a:extLst>
          </p:cNvPr>
          <p:cNvSpPr txBox="1"/>
          <p:nvPr/>
        </p:nvSpPr>
        <p:spPr>
          <a:xfrm>
            <a:off x="266324" y="5298481"/>
            <a:ext cx="609494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>
                <a:solidFill>
                  <a:srgbClr val="0000FF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typedef</a:t>
            </a:r>
            <a:r>
              <a:rPr lang="en-US" altLang="zh-CN">
                <a:solidFill>
                  <a:srgbClr val="000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 </a:t>
            </a:r>
            <a:r>
              <a:rPr lang="en-US" altLang="zh-CN">
                <a:solidFill>
                  <a:srgbClr val="0000FF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struct</a:t>
            </a:r>
            <a:r>
              <a:rPr lang="en-US" altLang="zh-CN">
                <a:solidFill>
                  <a:srgbClr val="000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 {</a:t>
            </a:r>
          </a:p>
          <a:p>
            <a:r>
              <a:rPr lang="zh-CN" altLang="en-US">
                <a:solidFill>
                  <a:srgbClr val="000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    </a:t>
            </a:r>
            <a:r>
              <a:rPr lang="en-US" altLang="zh-CN">
                <a:solidFill>
                  <a:srgbClr val="0000FF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int</a:t>
            </a:r>
            <a:r>
              <a:rPr lang="zh-CN" altLang="en-US">
                <a:solidFill>
                  <a:srgbClr val="000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 </a:t>
            </a:r>
            <a:r>
              <a:rPr lang="en-US" altLang="zh-CN">
                <a:solidFill>
                  <a:srgbClr val="000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x;     </a:t>
            </a:r>
            <a:r>
              <a:rPr lang="en-US" altLang="zh-CN">
                <a:solidFill>
                  <a:srgbClr val="008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// </a:t>
            </a:r>
            <a:r>
              <a:rPr lang="zh-CN" altLang="en-US">
                <a:solidFill>
                  <a:srgbClr val="008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管道的横坐标</a:t>
            </a:r>
            <a:endParaRPr lang="zh-CN" altLang="en-US">
              <a:solidFill>
                <a:srgbClr val="000000"/>
              </a:solidFill>
              <a:highlight>
                <a:srgbClr val="FFFFFF"/>
              </a:highlight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r>
              <a:rPr lang="zh-CN" altLang="en-US">
                <a:solidFill>
                  <a:srgbClr val="000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    </a:t>
            </a:r>
            <a:r>
              <a:rPr lang="en-US" altLang="zh-CN">
                <a:solidFill>
                  <a:srgbClr val="0000FF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int</a:t>
            </a:r>
            <a:r>
              <a:rPr lang="zh-CN" altLang="en-US">
                <a:solidFill>
                  <a:srgbClr val="000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 </a:t>
            </a:r>
            <a:r>
              <a:rPr lang="en-US" altLang="zh-CN">
                <a:solidFill>
                  <a:srgbClr val="000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gapY;  </a:t>
            </a:r>
            <a:r>
              <a:rPr lang="en-US" altLang="zh-CN">
                <a:solidFill>
                  <a:srgbClr val="008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// </a:t>
            </a:r>
            <a:r>
              <a:rPr lang="zh-CN" altLang="en-US">
                <a:solidFill>
                  <a:srgbClr val="008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管道缝隙上沿的纵坐标</a:t>
            </a:r>
            <a:endParaRPr lang="zh-CN" altLang="en-US">
              <a:solidFill>
                <a:srgbClr val="000000"/>
              </a:solidFill>
              <a:highlight>
                <a:srgbClr val="FFFFFF"/>
              </a:highlight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r>
              <a:rPr lang="en-US" altLang="zh-CN">
                <a:solidFill>
                  <a:srgbClr val="000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    </a:t>
            </a:r>
            <a:r>
              <a:rPr lang="en-US" altLang="zh-CN">
                <a:solidFill>
                  <a:srgbClr val="0000FF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int</a:t>
            </a:r>
            <a:r>
              <a:rPr lang="en-US" altLang="zh-CN">
                <a:solidFill>
                  <a:srgbClr val="000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 </a:t>
            </a:r>
            <a:r>
              <a:rPr lang="en-US" altLang="zh-CN">
                <a:solidFill>
                  <a:srgbClr val="C00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passed</a:t>
            </a:r>
            <a:r>
              <a:rPr lang="en-US" altLang="zh-CN">
                <a:solidFill>
                  <a:srgbClr val="000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; </a:t>
            </a:r>
            <a:r>
              <a:rPr lang="en-US" altLang="zh-CN">
                <a:solidFill>
                  <a:srgbClr val="008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//</a:t>
            </a:r>
            <a:r>
              <a:rPr lang="zh-CN" altLang="en-US">
                <a:solidFill>
                  <a:srgbClr val="008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新增，是否已通过该管道（用于计分）</a:t>
            </a:r>
            <a:endParaRPr lang="zh-CN" altLang="en-US">
              <a:solidFill>
                <a:srgbClr val="000000"/>
              </a:solidFill>
              <a:highlight>
                <a:srgbClr val="FFFFFF"/>
              </a:highlight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r>
              <a:rPr lang="en-US" altLang="zh-CN">
                <a:solidFill>
                  <a:srgbClr val="000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} </a:t>
            </a:r>
            <a:r>
              <a:rPr lang="en-US" altLang="zh-CN">
                <a:solidFill>
                  <a:srgbClr val="2B91AF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Pipe</a:t>
            </a:r>
            <a:r>
              <a:rPr lang="en-US" altLang="zh-CN">
                <a:solidFill>
                  <a:srgbClr val="000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;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316244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28639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video>
              <p:cMediaNode vol="80000">
                <p:cTn id="12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4" name="文本框 52">
            <a:extLst>
              <a:ext uri="{FF2B5EF4-FFF2-40B4-BE49-F238E27FC236}">
                <a16:creationId xmlns:a16="http://schemas.microsoft.com/office/drawing/2014/main" id="{9DA82089-C5DE-4EEF-9061-F9041F5237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4248" y="1029586"/>
            <a:ext cx="5964895" cy="22132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ß"/>
              <a:defRPr sz="3200" b="1">
                <a:solidFill>
                  <a:schemeClr val="tx1"/>
                </a:solidFill>
                <a:latin typeface="Consolas" panose="020B0609020204030204" pitchFamily="49" charset="0"/>
              </a:defRPr>
            </a:lvl1pPr>
            <a:lvl2pPr marL="800100" indent="-3429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 b="1">
                <a:solidFill>
                  <a:srgbClr val="333399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2pPr>
            <a:lvl3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 b="1">
                <a:solidFill>
                  <a:srgbClr val="3333CC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3pPr>
            <a:lvl4pPr marL="1714500" indent="-3429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4pPr>
            <a:lvl5pPr marL="2057400" indent="-2286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p"/>
              <a:tabLst/>
              <a:defRPr/>
            </a:pP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任务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4——</a:t>
            </a: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系统功能拓展</a:t>
            </a: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800100" marR="0" lvl="1" indent="-34290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p"/>
              <a:tabLst/>
              <a:defRPr/>
            </a:pP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任务目标（运行效果）</a:t>
            </a: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914400" marR="0" lvl="2" indent="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通过按钮交互进入开始、排行榜、退出等功能页；</a:t>
            </a:r>
            <a:endParaRPr kumimoji="0" lang="en-US" altLang="zh-CN" sz="1800" b="1" i="0" u="none" strike="noStrike" kern="1200" cap="none" spc="0" normalizeH="0" baseline="0" noProof="0">
              <a:ln>
                <a:noFill/>
              </a:ln>
              <a:solidFill>
                <a:srgbClr val="3333CC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914400" marR="0" lvl="2" indent="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将成绩写入本地文件形成分数排行榜。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1DF8E92B-827B-3B38-FC63-8B8DF643BB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33639"/>
            <a:ext cx="11615737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ß"/>
              <a:defRPr sz="3200" b="1">
                <a:solidFill>
                  <a:schemeClr val="tx1"/>
                </a:solidFill>
                <a:latin typeface="Consolas" panose="020B0609020204030204" pitchFamily="49" charset="0"/>
              </a:defRPr>
            </a:lvl1pPr>
            <a:lvl2pPr marL="742950" indent="-28575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 b="1">
                <a:solidFill>
                  <a:srgbClr val="333399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2pPr>
            <a:lvl3pPr marL="1143000" indent="-2286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 b="1">
                <a:solidFill>
                  <a:srgbClr val="3333CC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3pPr>
            <a:lvl4pPr marL="1600200" indent="-2286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4pPr>
            <a:lvl5pPr marL="2057400" indent="-2286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综合实践项目</a:t>
            </a:r>
            <a:r>
              <a:rPr kumimoji="1" lang="en-US" altLang="zh-CN" sz="32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——FlappyBird</a:t>
            </a:r>
            <a:r>
              <a:rPr kumimoji="1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闯关系统</a:t>
            </a:r>
            <a:endParaRPr kumimoji="1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4178632D-29DB-596B-388D-DB7E3E0C3BE0}"/>
              </a:ext>
            </a:extLst>
          </p:cNvPr>
          <p:cNvCxnSpPr>
            <a:cxnSpLocks/>
          </p:cNvCxnSpPr>
          <p:nvPr/>
        </p:nvCxnSpPr>
        <p:spPr>
          <a:xfrm>
            <a:off x="6149143" y="1291472"/>
            <a:ext cx="0" cy="4846416"/>
          </a:xfrm>
          <a:prstGeom prst="line">
            <a:avLst/>
          </a:prstGeom>
          <a:ln w="28575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bird4.mp4">
            <a:hlinkClick r:id="" action="ppaction://media"/>
            <a:extLst>
              <a:ext uri="{FF2B5EF4-FFF2-40B4-BE49-F238E27FC236}">
                <a16:creationId xmlns:a16="http://schemas.microsoft.com/office/drawing/2014/main" id="{04777888-788F-45D0-9778-501670D5C5E9}"/>
              </a:ext>
            </a:extLst>
          </p:cNvPr>
          <p:cNvPicPr>
            <a:picLocks noChangeAspect="1" noChangeArrowheads="1"/>
          </p:cNvPicPr>
          <p:nvPr>
            <a:videoFile r:link="rId3"/>
            <p:extLst>
              <p:ext uri="{DAA4B4D4-6D71-4841-9C94-3DE7FCFB9230}">
                <p14:media xmlns:p14="http://schemas.microsoft.com/office/powerpoint/2010/main" r:link="rId2"/>
              </p:ext>
            </p:ext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0919" y="3512565"/>
            <a:ext cx="3436209" cy="25779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文本框 52">
            <a:extLst>
              <a:ext uri="{FF2B5EF4-FFF2-40B4-BE49-F238E27FC236}">
                <a16:creationId xmlns:a16="http://schemas.microsoft.com/office/drawing/2014/main" id="{109B6832-B9E2-40BA-8BC9-4A81DF13C9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92459" y="820706"/>
            <a:ext cx="5673810" cy="499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ß"/>
              <a:defRPr sz="3200" b="1">
                <a:solidFill>
                  <a:schemeClr val="tx1"/>
                </a:solidFill>
                <a:latin typeface="Consolas" panose="020B0609020204030204" pitchFamily="49" charset="0"/>
              </a:defRPr>
            </a:lvl1pPr>
            <a:lvl2pPr marL="800100" indent="-3429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 b="1">
                <a:solidFill>
                  <a:srgbClr val="333399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2pPr>
            <a:lvl3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 b="1">
                <a:solidFill>
                  <a:srgbClr val="3333CC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3pPr>
            <a:lvl4pPr marL="1714500" indent="-3429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4pPr>
            <a:lvl5pPr marL="2057400" indent="-2286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9pPr>
          </a:lstStyle>
          <a:p>
            <a:pPr marL="800100" marR="0" lvl="1" indent="-34290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p"/>
              <a:tabLst/>
              <a:defRPr/>
            </a:pP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数据结构设计</a:t>
            </a: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E416886B-DC4C-4C5C-BFC5-EC498BD6E268}"/>
              </a:ext>
            </a:extLst>
          </p:cNvPr>
          <p:cNvSpPr txBox="1"/>
          <p:nvPr/>
        </p:nvSpPr>
        <p:spPr>
          <a:xfrm>
            <a:off x="6320396" y="1320330"/>
            <a:ext cx="6094948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altLang="zh-CN">
              <a:solidFill>
                <a:srgbClr val="808080"/>
              </a:solidFill>
              <a:highlight>
                <a:srgbClr val="FFFFFF"/>
              </a:highlight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r>
              <a:rPr lang="en-US" altLang="zh-CN" sz="1800">
                <a:solidFill>
                  <a:srgbClr val="80808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#define</a:t>
            </a:r>
            <a:r>
              <a:rPr lang="en-US" altLang="zh-CN" sz="1800">
                <a:solidFill>
                  <a:srgbClr val="000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 </a:t>
            </a:r>
            <a:r>
              <a:rPr lang="en-US" altLang="zh-CN" sz="1800">
                <a:solidFill>
                  <a:srgbClr val="6F008A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RANK_MAX</a:t>
            </a:r>
            <a:r>
              <a:rPr lang="en-US" altLang="zh-CN" sz="1800">
                <a:solidFill>
                  <a:srgbClr val="000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 10</a:t>
            </a:r>
          </a:p>
          <a:p>
            <a:r>
              <a:rPr lang="en-US" altLang="zh-CN" sz="1800">
                <a:solidFill>
                  <a:srgbClr val="0000FF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typedef</a:t>
            </a:r>
            <a:r>
              <a:rPr lang="en-US" altLang="zh-CN" sz="1800">
                <a:solidFill>
                  <a:srgbClr val="000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 </a:t>
            </a:r>
            <a:r>
              <a:rPr lang="en-US" altLang="zh-CN" sz="1800">
                <a:solidFill>
                  <a:srgbClr val="0000FF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struct</a:t>
            </a:r>
            <a:r>
              <a:rPr lang="en-US" altLang="zh-CN" sz="1800">
                <a:solidFill>
                  <a:srgbClr val="000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 {</a:t>
            </a:r>
          </a:p>
          <a:p>
            <a:r>
              <a:rPr lang="en-US" altLang="zh-CN" sz="1800">
                <a:solidFill>
                  <a:srgbClr val="000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    </a:t>
            </a:r>
            <a:r>
              <a:rPr lang="en-US" altLang="zh-CN" sz="1800">
                <a:solidFill>
                  <a:srgbClr val="2B91AF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TCHAR</a:t>
            </a:r>
            <a:r>
              <a:rPr lang="en-US" altLang="zh-CN" sz="1800">
                <a:solidFill>
                  <a:srgbClr val="000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 name[16];    </a:t>
            </a:r>
            <a:r>
              <a:rPr lang="en-US" altLang="zh-CN" sz="1800">
                <a:solidFill>
                  <a:srgbClr val="008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// </a:t>
            </a:r>
            <a:r>
              <a:rPr lang="zh-CN" altLang="en-US" sz="1800">
                <a:solidFill>
                  <a:srgbClr val="008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玩家姓名</a:t>
            </a:r>
            <a:endParaRPr lang="zh-CN" altLang="en-US" sz="1800">
              <a:solidFill>
                <a:srgbClr val="000000"/>
              </a:solidFill>
              <a:highlight>
                <a:srgbClr val="FFFFFF"/>
              </a:highlight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r>
              <a:rPr lang="en-US" altLang="zh-CN" sz="1800">
                <a:solidFill>
                  <a:srgbClr val="000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    </a:t>
            </a:r>
            <a:r>
              <a:rPr lang="en-US" altLang="zh-CN" sz="1800">
                <a:solidFill>
                  <a:srgbClr val="0000FF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int</a:t>
            </a:r>
            <a:r>
              <a:rPr lang="en-US" altLang="zh-CN" sz="1800">
                <a:solidFill>
                  <a:srgbClr val="000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 score;         </a:t>
            </a:r>
            <a:r>
              <a:rPr lang="en-US" altLang="zh-CN" sz="1800">
                <a:solidFill>
                  <a:srgbClr val="008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// </a:t>
            </a:r>
            <a:r>
              <a:rPr lang="zh-CN" altLang="en-US" sz="1800">
                <a:solidFill>
                  <a:srgbClr val="008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玩家得分</a:t>
            </a:r>
            <a:endParaRPr lang="en-US" altLang="zh-CN" sz="1800">
              <a:solidFill>
                <a:srgbClr val="008000"/>
              </a:solidFill>
              <a:highlight>
                <a:srgbClr val="FFFFFF"/>
              </a:highlight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r>
              <a:rPr lang="en-US" altLang="zh-CN">
                <a:solidFill>
                  <a:srgbClr val="008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    //</a:t>
            </a:r>
            <a:r>
              <a:rPr lang="zh-CN" altLang="en-US">
                <a:solidFill>
                  <a:srgbClr val="008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也可以扩展游戏时间等其他域</a:t>
            </a:r>
            <a:endParaRPr lang="zh-CN" altLang="en-US" sz="1800">
              <a:solidFill>
                <a:srgbClr val="000000"/>
              </a:solidFill>
              <a:highlight>
                <a:srgbClr val="FFFFFF"/>
              </a:highlight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r>
              <a:rPr lang="en-US" altLang="zh-CN" sz="1800">
                <a:solidFill>
                  <a:srgbClr val="000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} </a:t>
            </a:r>
            <a:r>
              <a:rPr lang="en-US" altLang="zh-CN" sz="1800">
                <a:solidFill>
                  <a:srgbClr val="2B91AF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RankItem</a:t>
            </a:r>
            <a:r>
              <a:rPr lang="en-US" altLang="zh-CN" sz="1800">
                <a:solidFill>
                  <a:srgbClr val="000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;//</a:t>
            </a:r>
            <a:r>
              <a:rPr lang="zh-CN" altLang="en-US" sz="1800">
                <a:solidFill>
                  <a:srgbClr val="008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排行榜 </a:t>
            </a:r>
            <a:endParaRPr lang="en-US" altLang="zh-CN" sz="1800">
              <a:solidFill>
                <a:srgbClr val="000000"/>
              </a:solidFill>
              <a:highlight>
                <a:srgbClr val="FFFFFF"/>
              </a:highlight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endParaRPr lang="zh-CN" altLang="en-US" sz="1800">
              <a:solidFill>
                <a:srgbClr val="000000"/>
              </a:solidFill>
              <a:highlight>
                <a:srgbClr val="FFFFFF"/>
              </a:highlight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r>
              <a:rPr lang="en-US" altLang="zh-CN" sz="1800">
                <a:solidFill>
                  <a:srgbClr val="0000FF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static</a:t>
            </a:r>
            <a:r>
              <a:rPr lang="en-US" altLang="zh-CN" sz="1800">
                <a:solidFill>
                  <a:srgbClr val="000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 </a:t>
            </a:r>
            <a:r>
              <a:rPr lang="en-US" altLang="zh-CN" sz="1800">
                <a:solidFill>
                  <a:srgbClr val="2B91AF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RankItem</a:t>
            </a:r>
            <a:r>
              <a:rPr lang="en-US" altLang="zh-CN" sz="1800">
                <a:solidFill>
                  <a:srgbClr val="000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 rank[</a:t>
            </a:r>
            <a:r>
              <a:rPr lang="en-US" altLang="zh-CN" sz="1800">
                <a:solidFill>
                  <a:srgbClr val="6F008A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RANK_MAX</a:t>
            </a:r>
            <a:r>
              <a:rPr lang="en-US" altLang="zh-CN" sz="1800">
                <a:solidFill>
                  <a:srgbClr val="000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]; </a:t>
            </a:r>
            <a:r>
              <a:rPr lang="en-US" altLang="zh-CN" sz="1800">
                <a:solidFill>
                  <a:srgbClr val="008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// </a:t>
            </a:r>
            <a:r>
              <a:rPr lang="zh-CN" altLang="en-US" sz="1800">
                <a:solidFill>
                  <a:srgbClr val="008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排行榜数组</a:t>
            </a:r>
            <a:endParaRPr lang="en-US" altLang="zh-CN" sz="1800">
              <a:solidFill>
                <a:srgbClr val="008000"/>
              </a:solidFill>
              <a:highlight>
                <a:srgbClr val="FFFFFF"/>
              </a:highlight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endParaRPr lang="en-US" altLang="zh-CN">
              <a:solidFill>
                <a:srgbClr val="008000"/>
              </a:solidFill>
              <a:highlight>
                <a:srgbClr val="FFFFFF"/>
              </a:highlight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r>
              <a:rPr lang="en-US" altLang="zh-CN" sz="1800">
                <a:solidFill>
                  <a:srgbClr val="0000FF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typedef</a:t>
            </a:r>
            <a:r>
              <a:rPr lang="en-US" altLang="zh-CN" sz="1800">
                <a:solidFill>
                  <a:srgbClr val="000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 </a:t>
            </a:r>
            <a:r>
              <a:rPr lang="en-US" altLang="zh-CN" sz="1800">
                <a:solidFill>
                  <a:srgbClr val="0000FF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struct</a:t>
            </a:r>
            <a:r>
              <a:rPr lang="en-US" altLang="zh-CN" sz="1800">
                <a:solidFill>
                  <a:srgbClr val="000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 {</a:t>
            </a:r>
          </a:p>
          <a:p>
            <a:r>
              <a:rPr lang="en-US" altLang="zh-CN" sz="1800">
                <a:solidFill>
                  <a:srgbClr val="000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    </a:t>
            </a:r>
            <a:r>
              <a:rPr lang="en-US" altLang="zh-CN" sz="1800">
                <a:solidFill>
                  <a:srgbClr val="0000FF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int</a:t>
            </a:r>
            <a:r>
              <a:rPr lang="en-US" altLang="zh-CN" sz="1800">
                <a:solidFill>
                  <a:srgbClr val="000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 x, y, w, h;</a:t>
            </a:r>
          </a:p>
          <a:p>
            <a:r>
              <a:rPr lang="en-US" altLang="zh-CN" sz="1800">
                <a:solidFill>
                  <a:srgbClr val="000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    </a:t>
            </a:r>
            <a:r>
              <a:rPr lang="en-US" altLang="zh-CN" sz="1800">
                <a:solidFill>
                  <a:srgbClr val="2B91AF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TCHAR</a:t>
            </a:r>
            <a:r>
              <a:rPr lang="en-US" altLang="zh-CN" sz="1800">
                <a:solidFill>
                  <a:srgbClr val="000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 text[32];</a:t>
            </a:r>
          </a:p>
          <a:p>
            <a:r>
              <a:rPr lang="en-US" altLang="zh-CN" sz="1800">
                <a:solidFill>
                  <a:srgbClr val="000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} </a:t>
            </a:r>
            <a:r>
              <a:rPr lang="en-US" altLang="zh-CN" sz="1800">
                <a:solidFill>
                  <a:srgbClr val="2B91AF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Button</a:t>
            </a:r>
            <a:r>
              <a:rPr lang="en-US" altLang="zh-CN" sz="1800">
                <a:solidFill>
                  <a:srgbClr val="000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;</a:t>
            </a:r>
            <a:r>
              <a:rPr lang="en-US" altLang="zh-CN" sz="1800">
                <a:solidFill>
                  <a:srgbClr val="008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 //</a:t>
            </a:r>
            <a:r>
              <a:rPr lang="zh-CN" altLang="en-US" sz="1800">
                <a:solidFill>
                  <a:srgbClr val="008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按钮</a:t>
            </a:r>
            <a:endParaRPr lang="en-US" altLang="zh-CN" sz="1800">
              <a:solidFill>
                <a:srgbClr val="008000"/>
              </a:solidFill>
              <a:highlight>
                <a:srgbClr val="FFFFFF"/>
              </a:highlight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endParaRPr lang="en-US" altLang="zh-CN" sz="1800">
              <a:solidFill>
                <a:srgbClr val="000000"/>
              </a:solidFill>
              <a:highlight>
                <a:srgbClr val="FFFFFF"/>
              </a:highlight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endParaRPr lang="zh-CN" alt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183968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28639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video>
              <p:cMediaNode vol="80000">
                <p:cTn id="12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4" name="文本框 52">
            <a:extLst>
              <a:ext uri="{FF2B5EF4-FFF2-40B4-BE49-F238E27FC236}">
                <a16:creationId xmlns:a16="http://schemas.microsoft.com/office/drawing/2014/main" id="{9DA82089-C5DE-4EEF-9061-F9041F5237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4248" y="1029586"/>
            <a:ext cx="5964895" cy="499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ß"/>
              <a:defRPr sz="3200" b="1">
                <a:solidFill>
                  <a:schemeClr val="tx1"/>
                </a:solidFill>
                <a:latin typeface="Consolas" panose="020B0609020204030204" pitchFamily="49" charset="0"/>
              </a:defRPr>
            </a:lvl1pPr>
            <a:lvl2pPr marL="800100" indent="-3429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 b="1">
                <a:solidFill>
                  <a:srgbClr val="333399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2pPr>
            <a:lvl3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 b="1">
                <a:solidFill>
                  <a:srgbClr val="3333CC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3pPr>
            <a:lvl4pPr marL="1714500" indent="-3429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4pPr>
            <a:lvl5pPr marL="2057400" indent="-2286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p"/>
              <a:tabLst/>
              <a:defRPr/>
            </a:pP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任务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4——</a:t>
            </a: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系统功能拓展</a:t>
            </a: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1DF8E92B-827B-3B38-FC63-8B8DF643BB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33639"/>
            <a:ext cx="11615737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ß"/>
              <a:defRPr sz="3200" b="1">
                <a:solidFill>
                  <a:schemeClr val="tx1"/>
                </a:solidFill>
                <a:latin typeface="Consolas" panose="020B0609020204030204" pitchFamily="49" charset="0"/>
              </a:defRPr>
            </a:lvl1pPr>
            <a:lvl2pPr marL="742950" indent="-28575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 b="1">
                <a:solidFill>
                  <a:srgbClr val="333399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2pPr>
            <a:lvl3pPr marL="1143000" indent="-2286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 b="1">
                <a:solidFill>
                  <a:srgbClr val="3333CC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3pPr>
            <a:lvl4pPr marL="1600200" indent="-2286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4pPr>
            <a:lvl5pPr marL="2057400" indent="-2286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综合实践项目</a:t>
            </a:r>
            <a:r>
              <a:rPr kumimoji="1" lang="en-US" altLang="zh-CN" sz="32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——FlappyBird</a:t>
            </a:r>
            <a:r>
              <a:rPr kumimoji="1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闯关系统</a:t>
            </a:r>
            <a:endParaRPr kumimoji="1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4178632D-29DB-596B-388D-DB7E3E0C3BE0}"/>
              </a:ext>
            </a:extLst>
          </p:cNvPr>
          <p:cNvCxnSpPr>
            <a:cxnSpLocks/>
          </p:cNvCxnSpPr>
          <p:nvPr/>
        </p:nvCxnSpPr>
        <p:spPr>
          <a:xfrm>
            <a:off x="6149143" y="1291472"/>
            <a:ext cx="0" cy="4846416"/>
          </a:xfrm>
          <a:prstGeom prst="line">
            <a:avLst/>
          </a:prstGeom>
          <a:ln w="28575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bird4.mp4">
            <a:hlinkClick r:id="" action="ppaction://media"/>
            <a:extLst>
              <a:ext uri="{FF2B5EF4-FFF2-40B4-BE49-F238E27FC236}">
                <a16:creationId xmlns:a16="http://schemas.microsoft.com/office/drawing/2014/main" id="{04777888-788F-45D0-9778-501670D5C5E9}"/>
              </a:ext>
            </a:extLst>
          </p:cNvPr>
          <p:cNvPicPr>
            <a:picLocks noChangeAspect="1" noChangeArrowheads="1"/>
          </p:cNvPicPr>
          <p:nvPr>
            <a:videoFile r:link="rId3"/>
            <p:extLst>
              <p:ext uri="{DAA4B4D4-6D71-4841-9C94-3DE7FCFB9230}">
                <p14:media xmlns:p14="http://schemas.microsoft.com/office/powerpoint/2010/main" r:link="rId2"/>
              </p:ext>
            </p:ext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5779" y="1808384"/>
            <a:ext cx="5081832" cy="38125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文本框 52">
            <a:extLst>
              <a:ext uri="{FF2B5EF4-FFF2-40B4-BE49-F238E27FC236}">
                <a16:creationId xmlns:a16="http://schemas.microsoft.com/office/drawing/2014/main" id="{F465A267-AE8F-4F01-A850-28AE51542B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3519" y="1029155"/>
            <a:ext cx="6478481" cy="50755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ß"/>
              <a:defRPr sz="3200" b="1">
                <a:solidFill>
                  <a:schemeClr val="tx1"/>
                </a:solidFill>
                <a:latin typeface="Consolas" panose="020B0609020204030204" pitchFamily="49" charset="0"/>
              </a:defRPr>
            </a:lvl1pPr>
            <a:lvl2pPr marL="800100" indent="-3429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 b="1">
                <a:solidFill>
                  <a:srgbClr val="333399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2pPr>
            <a:lvl3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 b="1">
                <a:solidFill>
                  <a:srgbClr val="3333CC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3pPr>
            <a:lvl4pPr marL="1714500" indent="-3429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4pPr>
            <a:lvl5pPr marL="2057400" indent="-2286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9pPr>
          </a:lstStyle>
          <a:p>
            <a:pPr marL="800100" marR="0" lvl="1" indent="-34290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p"/>
              <a:tabLst/>
              <a:defRPr/>
            </a:pP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核心算法思路</a:t>
            </a: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zh-CN" altLang="en-US" sz="200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碰撞扣血与游戏结束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914400" marR="0" lvl="2" indent="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</a:rPr>
              <a:t>碰撞检测</a:t>
            </a:r>
            <a:r>
              <a:rPr lang="zh-CN" altLang="en-US" sz="1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：沿用原有矩形相交检测逻辑；</a:t>
            </a:r>
          </a:p>
          <a:p>
            <a:pPr marL="914400" marR="0" lvl="2" indent="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</a:rPr>
              <a:t>扣血触发</a:t>
            </a:r>
            <a:r>
              <a:rPr lang="zh-CN" altLang="en-US" sz="1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：当检测到碰撞时，执行 “扣血操作”</a:t>
            </a:r>
            <a:r>
              <a:rPr lang="en-US" altLang="zh-CN" sz="1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 </a:t>
            </a:r>
            <a:r>
              <a:rPr lang="zh-CN" altLang="en-US" sz="1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将当前生命值减 </a:t>
            </a:r>
            <a:r>
              <a:rPr lang="en-US" altLang="zh-CN" sz="1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</a:p>
          <a:p>
            <a:pPr marL="914400" marR="0" lvl="2" indent="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</a:rPr>
              <a:t>游戏结束判定</a:t>
            </a:r>
            <a:r>
              <a:rPr lang="zh-CN" altLang="en-US" sz="1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：每次扣血后检查当前生命值，若生命值≤</a:t>
            </a:r>
            <a:r>
              <a:rPr lang="en-US" altLang="zh-CN" sz="1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1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，则判定游戏结束，切换到 “游戏结束” 状态；若生命值 </a:t>
            </a:r>
            <a:r>
              <a:rPr lang="en-US" altLang="zh-CN" sz="1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 0</a:t>
            </a:r>
            <a:r>
              <a:rPr lang="zh-CN" altLang="en-US" sz="1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，则游戏继续运行；</a:t>
            </a:r>
          </a:p>
          <a:p>
            <a:pPr marL="914400" marR="0" lvl="2" indent="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</a:rPr>
              <a:t>血条同步</a:t>
            </a:r>
            <a:r>
              <a:rPr lang="zh-CN" altLang="en-US" sz="1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：扣血操作后，实时更新血条的显示状态（如血条长度随剩余血量比例缩短），让玩家直观看到生命值变化。</a:t>
            </a:r>
          </a:p>
          <a:p>
            <a:pPr marL="914400" marR="0" lvl="2" indent="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endParaRPr lang="en-US" altLang="zh-CN" sz="18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marR="0" lvl="2" indent="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endParaRPr kumimoji="0" lang="en-US" altLang="zh-CN" sz="1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623652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28639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video>
              <p:cMediaNode vol="80000">
                <p:cTn id="12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4" name="文本框 52">
            <a:extLst>
              <a:ext uri="{FF2B5EF4-FFF2-40B4-BE49-F238E27FC236}">
                <a16:creationId xmlns:a16="http://schemas.microsoft.com/office/drawing/2014/main" id="{9DA82089-C5DE-4EEF-9061-F9041F5237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4248" y="1029586"/>
            <a:ext cx="5964895" cy="499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ß"/>
              <a:defRPr sz="3200" b="1">
                <a:solidFill>
                  <a:schemeClr val="tx1"/>
                </a:solidFill>
                <a:latin typeface="Consolas" panose="020B0609020204030204" pitchFamily="49" charset="0"/>
              </a:defRPr>
            </a:lvl1pPr>
            <a:lvl2pPr marL="800100" indent="-3429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 b="1">
                <a:solidFill>
                  <a:srgbClr val="333399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2pPr>
            <a:lvl3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 b="1">
                <a:solidFill>
                  <a:srgbClr val="3333CC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3pPr>
            <a:lvl4pPr marL="1714500" indent="-3429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4pPr>
            <a:lvl5pPr marL="2057400" indent="-2286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p"/>
              <a:tabLst/>
              <a:defRPr/>
            </a:pP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任务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4——</a:t>
            </a: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系统功能拓展</a:t>
            </a: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1DF8E92B-827B-3B38-FC63-8B8DF643BB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33639"/>
            <a:ext cx="11615737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ß"/>
              <a:defRPr sz="3200" b="1">
                <a:solidFill>
                  <a:schemeClr val="tx1"/>
                </a:solidFill>
                <a:latin typeface="Consolas" panose="020B0609020204030204" pitchFamily="49" charset="0"/>
              </a:defRPr>
            </a:lvl1pPr>
            <a:lvl2pPr marL="742950" indent="-28575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 b="1">
                <a:solidFill>
                  <a:srgbClr val="333399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2pPr>
            <a:lvl3pPr marL="1143000" indent="-2286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 b="1">
                <a:solidFill>
                  <a:srgbClr val="3333CC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3pPr>
            <a:lvl4pPr marL="1600200" indent="-2286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4pPr>
            <a:lvl5pPr marL="2057400" indent="-2286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综合实践项目</a:t>
            </a:r>
            <a:r>
              <a:rPr kumimoji="1" lang="en-US" altLang="zh-CN" sz="32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——FlappyBird</a:t>
            </a:r>
            <a:r>
              <a:rPr kumimoji="1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闯关系统</a:t>
            </a:r>
            <a:endParaRPr kumimoji="1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4178632D-29DB-596B-388D-DB7E3E0C3BE0}"/>
              </a:ext>
            </a:extLst>
          </p:cNvPr>
          <p:cNvCxnSpPr>
            <a:cxnSpLocks/>
          </p:cNvCxnSpPr>
          <p:nvPr/>
        </p:nvCxnSpPr>
        <p:spPr>
          <a:xfrm>
            <a:off x="6149143" y="1291472"/>
            <a:ext cx="0" cy="4846416"/>
          </a:xfrm>
          <a:prstGeom prst="line">
            <a:avLst/>
          </a:prstGeom>
          <a:ln w="28575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bird4.mp4">
            <a:hlinkClick r:id="" action="ppaction://media"/>
            <a:extLst>
              <a:ext uri="{FF2B5EF4-FFF2-40B4-BE49-F238E27FC236}">
                <a16:creationId xmlns:a16="http://schemas.microsoft.com/office/drawing/2014/main" id="{04777888-788F-45D0-9778-501670D5C5E9}"/>
              </a:ext>
            </a:extLst>
          </p:cNvPr>
          <p:cNvPicPr>
            <a:picLocks noChangeAspect="1" noChangeArrowheads="1"/>
          </p:cNvPicPr>
          <p:nvPr>
            <a:videoFile r:link="rId3"/>
            <p:extLst>
              <p:ext uri="{DAA4B4D4-6D71-4841-9C94-3DE7FCFB9230}">
                <p14:media xmlns:p14="http://schemas.microsoft.com/office/powerpoint/2010/main" r:link="rId2"/>
              </p:ext>
            </p:ext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5779" y="1808384"/>
            <a:ext cx="5081832" cy="38125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文本框 52">
            <a:extLst>
              <a:ext uri="{FF2B5EF4-FFF2-40B4-BE49-F238E27FC236}">
                <a16:creationId xmlns:a16="http://schemas.microsoft.com/office/drawing/2014/main" id="{F465A267-AE8F-4F01-A850-28AE51542B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3519" y="1029155"/>
            <a:ext cx="6478481" cy="42445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ß"/>
              <a:defRPr sz="3200" b="1">
                <a:solidFill>
                  <a:schemeClr val="tx1"/>
                </a:solidFill>
                <a:latin typeface="Consolas" panose="020B0609020204030204" pitchFamily="49" charset="0"/>
              </a:defRPr>
            </a:lvl1pPr>
            <a:lvl2pPr marL="800100" indent="-3429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 b="1">
                <a:solidFill>
                  <a:srgbClr val="333399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2pPr>
            <a:lvl3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 b="1">
                <a:solidFill>
                  <a:srgbClr val="3333CC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3pPr>
            <a:lvl4pPr marL="1714500" indent="-3429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4pPr>
            <a:lvl5pPr marL="2057400" indent="-2286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9pPr>
          </a:lstStyle>
          <a:p>
            <a:pPr marL="800100" marR="0" lvl="1" indent="-34290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p"/>
              <a:tabLst/>
              <a:defRPr/>
            </a:pP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核心算法思路</a:t>
            </a: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计分与回合数更新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914400" marR="0" lvl="2" indent="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计分规则：</a:t>
            </a: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以 “通过管道” 为计分核心，当小鸟的横坐标完全超过某一组管道的右侧边缘时，判定为 “通过该管道”，分数加 </a:t>
            </a: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；</a:t>
            </a:r>
          </a:p>
          <a:p>
            <a:pPr marL="914400" marR="0" lvl="2" indent="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回合数更新：</a:t>
            </a:r>
            <a:r>
              <a:rPr lang="zh-CN" altLang="en-US" sz="1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当游戏结束后，开始新一轮游戏时，回合数加</a:t>
            </a:r>
            <a:r>
              <a:rPr lang="en-US" altLang="zh-CN" sz="1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</a:p>
          <a:p>
            <a:pPr marL="914400" marR="0" lvl="2" indent="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实时渲染：</a:t>
            </a: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在游戏界面的固定位置（如</a:t>
            </a:r>
            <a:r>
              <a:rPr lang="zh-CN" altLang="en-US" sz="1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左</a:t>
            </a: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上角）持续显示当前分数和回合数，确保玩家实时看到成绩。</a:t>
            </a:r>
          </a:p>
          <a:p>
            <a:pPr marL="914400" marR="0" lvl="2" indent="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endParaRPr kumimoji="0" lang="en-US" altLang="zh-CN" sz="1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914400" marR="0" lvl="2" indent="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endParaRPr kumimoji="0" lang="en-US" altLang="zh-CN" sz="1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345760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28639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video>
              <p:cMediaNode vol="80000">
                <p:cTn id="12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4" name="文本框 52">
            <a:extLst>
              <a:ext uri="{FF2B5EF4-FFF2-40B4-BE49-F238E27FC236}">
                <a16:creationId xmlns:a16="http://schemas.microsoft.com/office/drawing/2014/main" id="{9DA82089-C5DE-4EEF-9061-F9041F5237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4248" y="1029586"/>
            <a:ext cx="5964895" cy="499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ß"/>
              <a:defRPr sz="3200" b="1">
                <a:solidFill>
                  <a:schemeClr val="tx1"/>
                </a:solidFill>
                <a:latin typeface="Consolas" panose="020B0609020204030204" pitchFamily="49" charset="0"/>
              </a:defRPr>
            </a:lvl1pPr>
            <a:lvl2pPr marL="800100" indent="-3429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 b="1">
                <a:solidFill>
                  <a:srgbClr val="333399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2pPr>
            <a:lvl3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 b="1">
                <a:solidFill>
                  <a:srgbClr val="3333CC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3pPr>
            <a:lvl4pPr marL="1714500" indent="-3429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4pPr>
            <a:lvl5pPr marL="2057400" indent="-2286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p"/>
              <a:tabLst/>
              <a:defRPr/>
            </a:pP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任务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4——</a:t>
            </a: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系统功能拓展</a:t>
            </a: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1DF8E92B-827B-3B38-FC63-8B8DF643BB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33639"/>
            <a:ext cx="11615737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ß"/>
              <a:defRPr sz="3200" b="1">
                <a:solidFill>
                  <a:schemeClr val="tx1"/>
                </a:solidFill>
                <a:latin typeface="Consolas" panose="020B0609020204030204" pitchFamily="49" charset="0"/>
              </a:defRPr>
            </a:lvl1pPr>
            <a:lvl2pPr marL="742950" indent="-28575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 b="1">
                <a:solidFill>
                  <a:srgbClr val="333399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2pPr>
            <a:lvl3pPr marL="1143000" indent="-2286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 b="1">
                <a:solidFill>
                  <a:srgbClr val="3333CC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3pPr>
            <a:lvl4pPr marL="1600200" indent="-2286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4pPr>
            <a:lvl5pPr marL="2057400" indent="-2286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综合实践项目</a:t>
            </a:r>
            <a:r>
              <a:rPr kumimoji="1" lang="en-US" altLang="zh-CN" sz="32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——FlappyBird</a:t>
            </a:r>
            <a:r>
              <a:rPr kumimoji="1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闯关系统</a:t>
            </a:r>
            <a:endParaRPr kumimoji="1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4178632D-29DB-596B-388D-DB7E3E0C3BE0}"/>
              </a:ext>
            </a:extLst>
          </p:cNvPr>
          <p:cNvCxnSpPr>
            <a:cxnSpLocks/>
          </p:cNvCxnSpPr>
          <p:nvPr/>
        </p:nvCxnSpPr>
        <p:spPr>
          <a:xfrm>
            <a:off x="6149143" y="1291472"/>
            <a:ext cx="0" cy="4846416"/>
          </a:xfrm>
          <a:prstGeom prst="line">
            <a:avLst/>
          </a:prstGeom>
          <a:ln w="28575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2">
            <a:extLst>
              <a:ext uri="{FF2B5EF4-FFF2-40B4-BE49-F238E27FC236}">
                <a16:creationId xmlns:a16="http://schemas.microsoft.com/office/drawing/2014/main" id="{F465A267-AE8F-4F01-A850-28AE51542B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3519" y="1029155"/>
            <a:ext cx="6478481" cy="50755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ß"/>
              <a:defRPr sz="3200" b="1">
                <a:solidFill>
                  <a:schemeClr val="tx1"/>
                </a:solidFill>
                <a:latin typeface="Consolas" panose="020B0609020204030204" pitchFamily="49" charset="0"/>
              </a:defRPr>
            </a:lvl1pPr>
            <a:lvl2pPr marL="800100" indent="-3429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 b="1">
                <a:solidFill>
                  <a:srgbClr val="333399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2pPr>
            <a:lvl3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 b="1">
                <a:solidFill>
                  <a:srgbClr val="3333CC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3pPr>
            <a:lvl4pPr marL="1714500" indent="-3429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4pPr>
            <a:lvl5pPr marL="2057400" indent="-2286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9pPr>
          </a:lstStyle>
          <a:p>
            <a:pPr marL="800100" marR="0" lvl="1" indent="-34290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p"/>
              <a:tabLst/>
              <a:defRPr/>
            </a:pP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核心算法思路</a:t>
            </a: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排行榜读写与排序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2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lang="zh-CN" altLang="zh-CN" sz="1800">
                <a:latin typeface="微软雅黑" panose="020B0503020204020204" pitchFamily="34" charset="-122"/>
                <a:ea typeface="微软雅黑" panose="020B0503020204020204" pitchFamily="34" charset="-122"/>
              </a:rPr>
              <a:t>加载</a:t>
            </a:r>
            <a:r>
              <a:rPr lang="zh-CN" altLang="zh-CN" sz="1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：游戏启动时从本地文件读取历史排名数据，若文件不存在则初始化默认数据；</a:t>
            </a:r>
          </a:p>
          <a:p>
            <a:pPr lvl="2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lang="zh-CN" altLang="zh-CN" sz="1800">
                <a:latin typeface="微软雅黑" panose="020B0503020204020204" pitchFamily="34" charset="-122"/>
                <a:ea typeface="微软雅黑" panose="020B0503020204020204" pitchFamily="34" charset="-122"/>
              </a:rPr>
              <a:t>保存</a:t>
            </a:r>
            <a:r>
              <a:rPr lang="zh-CN" altLang="zh-CN" sz="1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：当产生新成绩时，将更新后的排名数据写入本地文件，实现成绩的持久化，避免游戏关闭后数据丢失；</a:t>
            </a:r>
          </a:p>
          <a:p>
            <a:pPr lvl="2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lang="zh-CN" altLang="zh-CN" sz="1800">
                <a:latin typeface="微软雅黑" panose="020B0503020204020204" pitchFamily="34" charset="-122"/>
                <a:ea typeface="微软雅黑" panose="020B0503020204020204" pitchFamily="34" charset="-122"/>
              </a:rPr>
              <a:t>排名插入规则</a:t>
            </a:r>
            <a:r>
              <a:rPr lang="zh-CN" altLang="zh-CN" sz="1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：采用</a:t>
            </a:r>
            <a:r>
              <a:rPr lang="en-US" altLang="zh-CN" sz="1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“</a:t>
            </a:r>
            <a:r>
              <a:rPr lang="zh-CN" altLang="zh-CN" sz="1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有序插入法</a:t>
            </a:r>
            <a:r>
              <a:rPr lang="en-US" altLang="zh-CN" sz="1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zh-CN" altLang="zh-CN" sz="1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，遍历现有排名，找到新成绩应插入的位置，将后续成绩向后顺延（超出容量则淘汰最后一名），保证排行榜始终按分数从高到低排序；</a:t>
            </a:r>
          </a:p>
          <a:p>
            <a:pPr lvl="2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lang="zh-CN" altLang="zh-CN" sz="1800">
                <a:latin typeface="微软雅黑" panose="020B0503020204020204" pitchFamily="34" charset="-122"/>
                <a:ea typeface="微软雅黑" panose="020B0503020204020204" pitchFamily="34" charset="-122"/>
              </a:rPr>
              <a:t>界面展示</a:t>
            </a:r>
            <a:r>
              <a:rPr lang="zh-CN" altLang="zh-CN" sz="1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：按固定格式遍历排名数据并绘制到界面，同时提供交互按钮（如返回菜单。</a:t>
            </a:r>
            <a:endParaRPr kumimoji="0" lang="en-US" altLang="zh-CN" sz="1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60C9F386-119B-4BA3-B5E1-AA1B985BB0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6205" y="1603654"/>
            <a:ext cx="3737172" cy="2767824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5A6E5958-1C3C-421C-8FEC-5CA4CA144044}"/>
              </a:ext>
            </a:extLst>
          </p:cNvPr>
          <p:cNvSpPr txBox="1"/>
          <p:nvPr/>
        </p:nvSpPr>
        <p:spPr>
          <a:xfrm>
            <a:off x="632197" y="4290553"/>
            <a:ext cx="5410661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altLang="zh-CN">
              <a:solidFill>
                <a:srgbClr val="808080"/>
              </a:solidFill>
              <a:highlight>
                <a:srgbClr val="FFFFFF"/>
              </a:highlight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r>
              <a:rPr lang="en-US" altLang="zh-CN" sz="1800">
                <a:solidFill>
                  <a:srgbClr val="80808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#define</a:t>
            </a:r>
            <a:r>
              <a:rPr lang="en-US" altLang="zh-CN" sz="1800">
                <a:solidFill>
                  <a:srgbClr val="000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 </a:t>
            </a:r>
            <a:r>
              <a:rPr lang="en-US" altLang="zh-CN" sz="1800">
                <a:solidFill>
                  <a:srgbClr val="6F008A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RANK_MAX</a:t>
            </a:r>
            <a:r>
              <a:rPr lang="en-US" altLang="zh-CN" sz="1800">
                <a:solidFill>
                  <a:srgbClr val="000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 10</a:t>
            </a:r>
          </a:p>
          <a:p>
            <a:r>
              <a:rPr lang="en-US" altLang="zh-CN" sz="1800">
                <a:solidFill>
                  <a:srgbClr val="0000FF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typedef</a:t>
            </a:r>
            <a:r>
              <a:rPr lang="en-US" altLang="zh-CN" sz="1800">
                <a:solidFill>
                  <a:srgbClr val="000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 </a:t>
            </a:r>
            <a:r>
              <a:rPr lang="en-US" altLang="zh-CN" sz="1800">
                <a:solidFill>
                  <a:srgbClr val="0000FF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struct</a:t>
            </a:r>
            <a:r>
              <a:rPr lang="en-US" altLang="zh-CN" sz="1800">
                <a:solidFill>
                  <a:srgbClr val="000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 {</a:t>
            </a:r>
          </a:p>
          <a:p>
            <a:r>
              <a:rPr lang="en-US" altLang="zh-CN" sz="1800">
                <a:solidFill>
                  <a:srgbClr val="000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    </a:t>
            </a:r>
            <a:r>
              <a:rPr lang="en-US" altLang="zh-CN" sz="1800">
                <a:solidFill>
                  <a:srgbClr val="2B91AF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TCHAR</a:t>
            </a:r>
            <a:r>
              <a:rPr lang="en-US" altLang="zh-CN" sz="1800">
                <a:solidFill>
                  <a:srgbClr val="000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 name[16];    </a:t>
            </a:r>
            <a:r>
              <a:rPr lang="en-US" altLang="zh-CN" sz="1800">
                <a:solidFill>
                  <a:srgbClr val="008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// </a:t>
            </a:r>
            <a:r>
              <a:rPr lang="zh-CN" altLang="en-US" sz="1800">
                <a:solidFill>
                  <a:srgbClr val="008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玩家姓名</a:t>
            </a:r>
            <a:endParaRPr lang="zh-CN" altLang="en-US" sz="1800">
              <a:solidFill>
                <a:srgbClr val="000000"/>
              </a:solidFill>
              <a:highlight>
                <a:srgbClr val="FFFFFF"/>
              </a:highlight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r>
              <a:rPr lang="en-US" altLang="zh-CN" sz="1800">
                <a:solidFill>
                  <a:srgbClr val="000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    </a:t>
            </a:r>
            <a:r>
              <a:rPr lang="en-US" altLang="zh-CN" sz="1800">
                <a:solidFill>
                  <a:srgbClr val="0000FF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int</a:t>
            </a:r>
            <a:r>
              <a:rPr lang="en-US" altLang="zh-CN" sz="1800">
                <a:solidFill>
                  <a:srgbClr val="000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 score;         </a:t>
            </a:r>
            <a:r>
              <a:rPr lang="en-US" altLang="zh-CN" sz="1800">
                <a:solidFill>
                  <a:srgbClr val="008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// </a:t>
            </a:r>
            <a:r>
              <a:rPr lang="zh-CN" altLang="en-US" sz="1800">
                <a:solidFill>
                  <a:srgbClr val="008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玩家得分</a:t>
            </a:r>
            <a:endParaRPr lang="en-US" altLang="zh-CN" sz="1800">
              <a:solidFill>
                <a:srgbClr val="008000"/>
              </a:solidFill>
              <a:highlight>
                <a:srgbClr val="FFFFFF"/>
              </a:highlight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r>
              <a:rPr lang="en-US" altLang="zh-CN">
                <a:solidFill>
                  <a:srgbClr val="008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    //</a:t>
            </a:r>
            <a:r>
              <a:rPr lang="zh-CN" altLang="en-US">
                <a:solidFill>
                  <a:srgbClr val="008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也可以扩展游戏时间等其他域</a:t>
            </a:r>
            <a:endParaRPr lang="zh-CN" altLang="en-US" sz="1800">
              <a:solidFill>
                <a:srgbClr val="000000"/>
              </a:solidFill>
              <a:highlight>
                <a:srgbClr val="FFFFFF"/>
              </a:highlight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r>
              <a:rPr lang="en-US" altLang="zh-CN" sz="1800">
                <a:solidFill>
                  <a:srgbClr val="000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} </a:t>
            </a:r>
            <a:r>
              <a:rPr lang="en-US" altLang="zh-CN" sz="1800">
                <a:solidFill>
                  <a:srgbClr val="2B91AF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RankItem</a:t>
            </a:r>
            <a:r>
              <a:rPr lang="en-US" altLang="zh-CN" sz="1800">
                <a:solidFill>
                  <a:srgbClr val="000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;//</a:t>
            </a:r>
            <a:r>
              <a:rPr lang="zh-CN" altLang="en-US" sz="1800">
                <a:solidFill>
                  <a:srgbClr val="008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排行榜 </a:t>
            </a:r>
            <a:endParaRPr lang="en-US" altLang="zh-CN" sz="1800">
              <a:solidFill>
                <a:srgbClr val="000000"/>
              </a:solidFill>
              <a:highlight>
                <a:srgbClr val="FFFFFF"/>
              </a:highlight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r>
              <a:rPr lang="en-US" altLang="zh-CN" sz="1800">
                <a:solidFill>
                  <a:srgbClr val="0000FF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static</a:t>
            </a:r>
            <a:r>
              <a:rPr lang="en-US" altLang="zh-CN" sz="1800">
                <a:solidFill>
                  <a:srgbClr val="000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 </a:t>
            </a:r>
            <a:r>
              <a:rPr lang="en-US" altLang="zh-CN" sz="1800">
                <a:solidFill>
                  <a:srgbClr val="2B91AF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RankItem</a:t>
            </a:r>
            <a:r>
              <a:rPr lang="en-US" altLang="zh-CN" sz="1800">
                <a:solidFill>
                  <a:srgbClr val="000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 rank[</a:t>
            </a:r>
            <a:r>
              <a:rPr lang="en-US" altLang="zh-CN" sz="1800">
                <a:solidFill>
                  <a:srgbClr val="6F008A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RANK_MAX</a:t>
            </a:r>
            <a:r>
              <a:rPr lang="en-US" altLang="zh-CN" sz="1800">
                <a:solidFill>
                  <a:srgbClr val="000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]; </a:t>
            </a:r>
            <a:r>
              <a:rPr lang="en-US" altLang="zh-CN" sz="1800">
                <a:solidFill>
                  <a:srgbClr val="008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// </a:t>
            </a:r>
            <a:r>
              <a:rPr lang="zh-CN" altLang="en-US" sz="1800">
                <a:solidFill>
                  <a:srgbClr val="008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排行榜数组</a:t>
            </a:r>
            <a:endParaRPr lang="zh-CN" alt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8192523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4" name="文本框 52">
            <a:extLst>
              <a:ext uri="{FF2B5EF4-FFF2-40B4-BE49-F238E27FC236}">
                <a16:creationId xmlns:a16="http://schemas.microsoft.com/office/drawing/2014/main" id="{9DA82089-C5DE-4EEF-9061-F9041F5237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4248" y="1029586"/>
            <a:ext cx="5964895" cy="499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ß"/>
              <a:defRPr sz="3200" b="1">
                <a:solidFill>
                  <a:schemeClr val="tx1"/>
                </a:solidFill>
                <a:latin typeface="Consolas" panose="020B0609020204030204" pitchFamily="49" charset="0"/>
              </a:defRPr>
            </a:lvl1pPr>
            <a:lvl2pPr marL="800100" indent="-3429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 b="1">
                <a:solidFill>
                  <a:srgbClr val="333399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2pPr>
            <a:lvl3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 b="1">
                <a:solidFill>
                  <a:srgbClr val="3333CC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3pPr>
            <a:lvl4pPr marL="1714500" indent="-3429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4pPr>
            <a:lvl5pPr marL="2057400" indent="-2286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p"/>
              <a:tabLst/>
              <a:defRPr/>
            </a:pP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任务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4——</a:t>
            </a: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系统功能拓展</a:t>
            </a: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1DF8E92B-827B-3B38-FC63-8B8DF643BB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33639"/>
            <a:ext cx="11615737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ß"/>
              <a:defRPr sz="3200" b="1">
                <a:solidFill>
                  <a:schemeClr val="tx1"/>
                </a:solidFill>
                <a:latin typeface="Consolas" panose="020B0609020204030204" pitchFamily="49" charset="0"/>
              </a:defRPr>
            </a:lvl1pPr>
            <a:lvl2pPr marL="742950" indent="-28575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 b="1">
                <a:solidFill>
                  <a:srgbClr val="333399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2pPr>
            <a:lvl3pPr marL="1143000" indent="-2286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 b="1">
                <a:solidFill>
                  <a:srgbClr val="3333CC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3pPr>
            <a:lvl4pPr marL="1600200" indent="-2286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4pPr>
            <a:lvl5pPr marL="2057400" indent="-2286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综合实践项目</a:t>
            </a:r>
            <a:r>
              <a:rPr kumimoji="1" lang="en-US" altLang="zh-CN" sz="32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——FlappyBird</a:t>
            </a:r>
            <a:r>
              <a:rPr kumimoji="1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闯关系统</a:t>
            </a:r>
            <a:endParaRPr kumimoji="1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" name="文本框 52">
            <a:extLst>
              <a:ext uri="{FF2B5EF4-FFF2-40B4-BE49-F238E27FC236}">
                <a16:creationId xmlns:a16="http://schemas.microsoft.com/office/drawing/2014/main" id="{2933E6BE-7981-4190-B6E9-F59A03F9BF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267943" y="1529210"/>
            <a:ext cx="12520903" cy="50755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ß"/>
              <a:defRPr sz="3200" b="1">
                <a:solidFill>
                  <a:schemeClr val="tx1"/>
                </a:solidFill>
                <a:latin typeface="Consolas" panose="020B0609020204030204" pitchFamily="49" charset="0"/>
              </a:defRPr>
            </a:lvl1pPr>
            <a:lvl2pPr marL="800100" indent="-3429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 b="1">
                <a:solidFill>
                  <a:srgbClr val="333399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2pPr>
            <a:lvl3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 b="1">
                <a:solidFill>
                  <a:srgbClr val="3333CC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3pPr>
            <a:lvl4pPr marL="1714500" indent="-3429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4pPr>
            <a:lvl5pPr marL="2057400" indent="-2286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9pPr>
          </a:lstStyle>
          <a:p>
            <a:pPr marL="800100" marR="0" lvl="1" indent="-34290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p"/>
              <a:tabLst/>
              <a:defRPr/>
            </a:pP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实现流程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914400" marR="0" lvl="2" indent="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初始化阶段：</a:t>
            </a:r>
          </a:p>
          <a:p>
            <a:pPr marL="914400" marR="0" lvl="2" indent="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完成随机数种子设置，初始化小鸟、管道、背景偏移等游戏数据变量，创建并居中图形窗口，开启批量绘制模式，初始化游戏状态为主菜单，启动背景音乐；</a:t>
            </a:r>
          </a:p>
          <a:p>
            <a:pPr marL="914400" marR="0" lvl="2" indent="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主循环：</a:t>
            </a:r>
          </a:p>
          <a:p>
            <a:pPr marL="914400" marR="0" lvl="2" indent="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while</a:t>
            </a: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(1){</a:t>
            </a:r>
          </a:p>
          <a:p>
            <a:pPr marL="914400" marR="0" lvl="2" indent="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输入处理：每帧检测键盘（</a:t>
            </a: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ESC / </a:t>
            </a: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空格 </a:t>
            </a: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 P/M </a:t>
            </a: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键）和鼠标输入，标记按键边缘状态与鼠标点击位置，</a:t>
            </a: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M </a:t>
            </a: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键触发静音切换，</a:t>
            </a: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ESC </a:t>
            </a: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键全局切回主菜单；</a:t>
            </a:r>
          </a:p>
          <a:p>
            <a:pPr marL="914400" marR="0" lvl="2" indent="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状态更新：根据当前游戏状态执行对应逻辑（菜单交互、难度选择、小鸟物理运动 </a:t>
            </a: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 </a:t>
            </a: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管道滚动 </a:t>
            </a: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 </a:t>
            </a: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碰撞扣血 </a:t>
            </a: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 </a:t>
            </a: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计分、排行榜读写等），仅 </a:t>
            </a: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GS_RUNNING </a:t>
            </a: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状态更新核心游戏逻辑；</a:t>
            </a:r>
          </a:p>
          <a:p>
            <a:pPr marL="914400" marR="0" lvl="2" indent="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画面渲染：每帧渲染当前状态对应的画面（菜单 </a:t>
            </a: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 </a:t>
            </a: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游戏场景 </a:t>
            </a: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 </a:t>
            </a: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暂停 </a:t>
            </a: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 </a:t>
            </a: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结束 </a:t>
            </a: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 </a:t>
            </a: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排行榜），保证视觉反馈即时；</a:t>
            </a: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}</a:t>
            </a:r>
          </a:p>
          <a:p>
            <a:pPr marL="914400" marR="0" lvl="2" indent="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退出阶段：检测到退出指令时终止循环，结束批量绘制，关闭图形窗口并释放资源。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6936717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4" name="文本框 52">
            <a:extLst>
              <a:ext uri="{FF2B5EF4-FFF2-40B4-BE49-F238E27FC236}">
                <a16:creationId xmlns:a16="http://schemas.microsoft.com/office/drawing/2014/main" id="{9DA82089-C5DE-4EEF-9061-F9041F5237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4248" y="1029586"/>
            <a:ext cx="5964895" cy="51217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ß"/>
              <a:defRPr sz="3200" b="1">
                <a:solidFill>
                  <a:schemeClr val="tx1"/>
                </a:solidFill>
                <a:latin typeface="Consolas" panose="020B0609020204030204" pitchFamily="49" charset="0"/>
              </a:defRPr>
            </a:lvl1pPr>
            <a:lvl2pPr marL="800100" indent="-3429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 b="1">
                <a:solidFill>
                  <a:srgbClr val="333399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2pPr>
            <a:lvl3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 b="1">
                <a:solidFill>
                  <a:srgbClr val="3333CC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3pPr>
            <a:lvl4pPr marL="1714500" indent="-3429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4pPr>
            <a:lvl5pPr marL="2057400" indent="-2286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p"/>
              <a:tabLst/>
              <a:defRPr/>
            </a:pP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任务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5——</a:t>
            </a: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强化学习驱动的智能避障决策算法</a:t>
            </a: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800100" marR="0" lvl="1" indent="-34290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p"/>
              <a:tabLst/>
              <a:defRPr/>
            </a:pP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任务目标（运行效果）</a:t>
            </a: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914400" marR="0" lvl="2" indent="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编写一个基于 </a:t>
            </a: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Q-learning</a:t>
            </a: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 </a:t>
            </a: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FlappyBird </a:t>
            </a: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智能避障程序：在保持“背景滚动、管道移动、碰撞检测、计分”等游戏环境不变的前提下，将玩家按键控制替换为智能体决策，使小鸟能在不同管道缝隙位置的环境中自主学习“跳跃</a:t>
            </a: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</a:t>
            </a: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不动作”两种动作策略；要求定义并离散化状态（小鸟位置、速度、与最近管道的相对位置），设计奖励（过管 </a:t>
            </a: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+1</a:t>
            </a: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、碰撞 </a:t>
            </a: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-1</a:t>
            </a: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），初始化并维护 </a:t>
            </a: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Q </a:t>
            </a: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表，支持训练</a:t>
            </a: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—</a:t>
            </a: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测试</a:t>
            </a: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—</a:t>
            </a: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演示的模式切换，并能保存</a:t>
            </a: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</a:t>
            </a: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加载训练得到的 </a:t>
            </a: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Q </a:t>
            </a: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表用于稳定演示。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1DF8E92B-827B-3B38-FC63-8B8DF643BB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33639"/>
            <a:ext cx="11615737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ß"/>
              <a:defRPr sz="3200" b="1">
                <a:solidFill>
                  <a:schemeClr val="tx1"/>
                </a:solidFill>
                <a:latin typeface="Consolas" panose="020B0609020204030204" pitchFamily="49" charset="0"/>
              </a:defRPr>
            </a:lvl1pPr>
            <a:lvl2pPr marL="742950" indent="-28575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 b="1">
                <a:solidFill>
                  <a:srgbClr val="333399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2pPr>
            <a:lvl3pPr marL="1143000" indent="-2286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 b="1">
                <a:solidFill>
                  <a:srgbClr val="3333CC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3pPr>
            <a:lvl4pPr marL="1600200" indent="-2286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4pPr>
            <a:lvl5pPr marL="2057400" indent="-2286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综合实践项目</a:t>
            </a:r>
            <a:r>
              <a:rPr kumimoji="1" lang="en-US" altLang="zh-CN" sz="32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——FlappyBird</a:t>
            </a:r>
            <a:r>
              <a:rPr kumimoji="1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闯关系统</a:t>
            </a:r>
            <a:endParaRPr kumimoji="1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4178632D-29DB-596B-388D-DB7E3E0C3BE0}"/>
              </a:ext>
            </a:extLst>
          </p:cNvPr>
          <p:cNvCxnSpPr>
            <a:cxnSpLocks/>
          </p:cNvCxnSpPr>
          <p:nvPr/>
        </p:nvCxnSpPr>
        <p:spPr>
          <a:xfrm>
            <a:off x="6149143" y="1291472"/>
            <a:ext cx="0" cy="4846416"/>
          </a:xfrm>
          <a:prstGeom prst="line">
            <a:avLst/>
          </a:prstGeom>
          <a:ln w="28575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bird5.mp4">
            <a:hlinkClick r:id="" action="ppaction://media"/>
            <a:extLst>
              <a:ext uri="{FF2B5EF4-FFF2-40B4-BE49-F238E27FC236}">
                <a16:creationId xmlns:a16="http://schemas.microsoft.com/office/drawing/2014/main" id="{2302474E-7325-4FF4-85BA-21DECC1AB475}"/>
              </a:ext>
            </a:extLst>
          </p:cNvPr>
          <p:cNvPicPr>
            <a:picLocks noChangeAspect="1" noChangeArrowheads="1"/>
          </p:cNvPicPr>
          <p:nvPr>
            <a:videoFile r:link="rId3"/>
            <p:extLst>
              <p:ext uri="{DAA4B4D4-6D71-4841-9C94-3DE7FCFB9230}">
                <p14:media xmlns:p14="http://schemas.microsoft.com/office/powerpoint/2010/main" r:link="rId2"/>
              </p:ext>
            </p:ext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30791" y="1928822"/>
            <a:ext cx="4967052" cy="37258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8231461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7909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video>
              <p:cMediaNode vol="80000">
                <p:cTn id="12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4" name="文本框 52">
            <a:extLst>
              <a:ext uri="{FF2B5EF4-FFF2-40B4-BE49-F238E27FC236}">
                <a16:creationId xmlns:a16="http://schemas.microsoft.com/office/drawing/2014/main" id="{9DA82089-C5DE-4EEF-9061-F9041F5237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4248" y="1029586"/>
            <a:ext cx="5964895" cy="499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ß"/>
              <a:defRPr sz="3200" b="1">
                <a:solidFill>
                  <a:schemeClr val="tx1"/>
                </a:solidFill>
                <a:latin typeface="Consolas" panose="020B0609020204030204" pitchFamily="49" charset="0"/>
              </a:defRPr>
            </a:lvl1pPr>
            <a:lvl2pPr marL="800100" indent="-3429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 b="1">
                <a:solidFill>
                  <a:srgbClr val="333399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2pPr>
            <a:lvl3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 b="1">
                <a:solidFill>
                  <a:srgbClr val="3333CC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3pPr>
            <a:lvl4pPr marL="1714500" indent="-3429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4pPr>
            <a:lvl5pPr marL="2057400" indent="-2286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p"/>
              <a:tabLst/>
              <a:defRPr/>
            </a:pP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任务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5——</a:t>
            </a: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强化学习驱动的智能避障决策算法</a:t>
            </a: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1DF8E92B-827B-3B38-FC63-8B8DF643BB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33639"/>
            <a:ext cx="11615737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ß"/>
              <a:defRPr sz="3200" b="1">
                <a:solidFill>
                  <a:schemeClr val="tx1"/>
                </a:solidFill>
                <a:latin typeface="Consolas" panose="020B0609020204030204" pitchFamily="49" charset="0"/>
              </a:defRPr>
            </a:lvl1pPr>
            <a:lvl2pPr marL="742950" indent="-28575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 b="1">
                <a:solidFill>
                  <a:srgbClr val="333399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2pPr>
            <a:lvl3pPr marL="1143000" indent="-2286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 b="1">
                <a:solidFill>
                  <a:srgbClr val="3333CC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3pPr>
            <a:lvl4pPr marL="1600200" indent="-2286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4pPr>
            <a:lvl5pPr marL="2057400" indent="-2286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综合实践项目</a:t>
            </a:r>
            <a:r>
              <a:rPr kumimoji="1" lang="en-US" altLang="zh-CN" sz="32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——FlappyBird</a:t>
            </a:r>
            <a:r>
              <a:rPr kumimoji="1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闯关系统</a:t>
            </a:r>
            <a:endParaRPr kumimoji="1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7" name="Picture 19">
            <a:extLst>
              <a:ext uri="{FF2B5EF4-FFF2-40B4-BE49-F238E27FC236}">
                <a16:creationId xmlns:a16="http://schemas.microsoft.com/office/drawing/2014/main" id="{7B6C8747-3F8A-4A7B-A155-F958445F97C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77000" y="1677909"/>
            <a:ext cx="304800" cy="304800"/>
          </a:xfrm>
          <a:prstGeom prst="rect">
            <a:avLst/>
          </a:prstGeom>
        </p:spPr>
      </p:pic>
      <p:sp>
        <p:nvSpPr>
          <p:cNvPr id="8" name="AutoShape 20">
            <a:extLst>
              <a:ext uri="{FF2B5EF4-FFF2-40B4-BE49-F238E27FC236}">
                <a16:creationId xmlns:a16="http://schemas.microsoft.com/office/drawing/2014/main" id="{7324AD34-136E-40E4-9C05-DC5EC5E9CE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0" y="1652509"/>
            <a:ext cx="457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5000"/>
              </a:lnSpc>
            </a:pPr>
            <a:r>
              <a:rPr lang="en-US" altLang="zh-CN" sz="1500" b="1"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pitchFamily="34" charset="-122"/>
                <a:sym typeface="Noto Sans SC" panose="020B0200000000000000" pitchFamily="34" charset="-122"/>
              </a:rPr>
              <a:t>Q-Learning </a:t>
            </a:r>
            <a:r>
              <a:rPr lang="zh-CN" altLang="en-US" sz="1500" b="1"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pitchFamily="34" charset="-122"/>
                <a:sym typeface="Noto Sans SC" panose="020B0200000000000000" pitchFamily="34" charset="-122"/>
              </a:rPr>
              <a:t>强化学习</a:t>
            </a:r>
            <a:endParaRPr lang="zh-CN" altLang="en-US" sz="1100">
              <a:latin typeface="微软雅黑" panose="020B0503020204020204" pitchFamily="34" charset="-122"/>
              <a:ea typeface="微软雅黑" panose="020B0503020204020204" pitchFamily="34" charset="-122"/>
              <a:cs typeface="Noto Sans SC" panose="020B0200000000000000" pitchFamily="34" charset="-122"/>
            </a:endParaRPr>
          </a:p>
          <a:p>
            <a:pPr>
              <a:lnSpc>
                <a:spcPct val="125000"/>
              </a:lnSpc>
            </a:pPr>
            <a:r>
              <a:rPr lang="zh-CN" altLang="en-US" sz="1300"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pitchFamily="34" charset="-122"/>
                <a:sym typeface="Noto Sans SC" panose="020B0200000000000000" pitchFamily="34" charset="-122"/>
              </a:rPr>
              <a:t>引入强化学习核心算法，让智能体通过环境反馈学习最优策略。状态离散化→动作选择→环境交互→奖励计算→</a:t>
            </a:r>
            <a:r>
              <a:rPr lang="en-US" altLang="zh-CN" sz="1300"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pitchFamily="34" charset="-122"/>
                <a:sym typeface="Noto Sans SC" panose="020B0200000000000000" pitchFamily="34" charset="-122"/>
              </a:rPr>
              <a:t>Q </a:t>
            </a:r>
            <a:r>
              <a:rPr lang="zh-CN" altLang="en-US" sz="1300"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pitchFamily="34" charset="-122"/>
                <a:sym typeface="Noto Sans SC" panose="020B0200000000000000" pitchFamily="34" charset="-122"/>
              </a:rPr>
              <a:t>表更新</a:t>
            </a:r>
          </a:p>
        </p:txBody>
      </p:sp>
      <p:pic>
        <p:nvPicPr>
          <p:cNvPr id="9" name="Picture 21">
            <a:extLst>
              <a:ext uri="{FF2B5EF4-FFF2-40B4-BE49-F238E27FC236}">
                <a16:creationId xmlns:a16="http://schemas.microsoft.com/office/drawing/2014/main" id="{BA2D50D8-CE82-4E66-BE61-0B7A38833C1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77000" y="2485947"/>
            <a:ext cx="304800" cy="304800"/>
          </a:xfrm>
          <a:prstGeom prst="rect">
            <a:avLst/>
          </a:prstGeom>
        </p:spPr>
      </p:pic>
      <p:sp>
        <p:nvSpPr>
          <p:cNvPr id="10" name="AutoShape 22">
            <a:extLst>
              <a:ext uri="{FF2B5EF4-FFF2-40B4-BE49-F238E27FC236}">
                <a16:creationId xmlns:a16="http://schemas.microsoft.com/office/drawing/2014/main" id="{F158A5C2-4E12-4F85-A04B-F2B8358A14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0" y="2460547"/>
            <a:ext cx="4445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5000"/>
              </a:lnSpc>
            </a:pPr>
            <a:r>
              <a:rPr lang="zh-CN" altLang="en-US" sz="1500" b="1"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pitchFamily="34" charset="-122"/>
                <a:sym typeface="Noto Sans SC" panose="020B0200000000000000" pitchFamily="34" charset="-122"/>
              </a:rPr>
              <a:t>状态与动作空间设计</a:t>
            </a:r>
            <a:endParaRPr lang="zh-CN" altLang="en-US" sz="1100">
              <a:latin typeface="微软雅黑" panose="020B0503020204020204" pitchFamily="34" charset="-122"/>
              <a:ea typeface="微软雅黑" panose="020B0503020204020204" pitchFamily="34" charset="-122"/>
              <a:cs typeface="Noto Sans SC" panose="020B0200000000000000" pitchFamily="34" charset="-122"/>
            </a:endParaRPr>
          </a:p>
          <a:p>
            <a:pPr>
              <a:lnSpc>
                <a:spcPct val="125000"/>
              </a:lnSpc>
            </a:pPr>
            <a:r>
              <a:rPr lang="zh-CN" altLang="en-US" sz="1300"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pitchFamily="34" charset="-122"/>
                <a:sym typeface="Noto Sans SC" panose="020B0200000000000000" pitchFamily="34" charset="-122"/>
              </a:rPr>
              <a:t>定义智能体感知（如位置、速度）与行为（拍翅</a:t>
            </a:r>
            <a:r>
              <a:rPr lang="en-US" altLang="zh-CN" sz="1300"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pitchFamily="34" charset="-122"/>
                <a:sym typeface="Noto Sans SC" panose="020B0200000000000000" pitchFamily="34" charset="-122"/>
              </a:rPr>
              <a:t>/</a:t>
            </a:r>
            <a:r>
              <a:rPr lang="zh-CN" altLang="en-US" sz="1300"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pitchFamily="34" charset="-122"/>
                <a:sym typeface="Noto Sans SC" panose="020B0200000000000000" pitchFamily="34" charset="-122"/>
              </a:rPr>
              <a:t>不拍翅）的参数空间。</a:t>
            </a:r>
          </a:p>
        </p:txBody>
      </p:sp>
      <p:pic>
        <p:nvPicPr>
          <p:cNvPr id="11" name="Picture 23">
            <a:extLst>
              <a:ext uri="{FF2B5EF4-FFF2-40B4-BE49-F238E27FC236}">
                <a16:creationId xmlns:a16="http://schemas.microsoft.com/office/drawing/2014/main" id="{892A49BE-3F24-4738-BFD0-81D836E0682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83350" y="5164059"/>
            <a:ext cx="304800" cy="304800"/>
          </a:xfrm>
          <a:prstGeom prst="rect">
            <a:avLst/>
          </a:prstGeom>
        </p:spPr>
      </p:pic>
      <p:sp>
        <p:nvSpPr>
          <p:cNvPr id="12" name="AutoShape 24">
            <a:extLst>
              <a:ext uri="{FF2B5EF4-FFF2-40B4-BE49-F238E27FC236}">
                <a16:creationId xmlns:a16="http://schemas.microsoft.com/office/drawing/2014/main" id="{43BDF061-D346-4333-A3B8-106C2F113F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64350" y="5138659"/>
            <a:ext cx="4445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5000"/>
              </a:lnSpc>
            </a:pPr>
            <a:r>
              <a:rPr lang="zh-CN" altLang="en-US" sz="1500" b="1"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pitchFamily="34" charset="-122"/>
                <a:sym typeface="Noto Sans SC" panose="020B0200000000000000" pitchFamily="34" charset="-122"/>
              </a:rPr>
              <a:t>训练环境搭建与调优</a:t>
            </a:r>
            <a:endParaRPr lang="zh-CN" altLang="en-US" sz="1100">
              <a:latin typeface="微软雅黑" panose="020B0503020204020204" pitchFamily="34" charset="-122"/>
              <a:ea typeface="微软雅黑" panose="020B0503020204020204" pitchFamily="34" charset="-122"/>
              <a:cs typeface="Noto Sans SC" panose="020B0200000000000000" pitchFamily="34" charset="-122"/>
            </a:endParaRPr>
          </a:p>
          <a:p>
            <a:pPr>
              <a:lnSpc>
                <a:spcPct val="125000"/>
              </a:lnSpc>
            </a:pPr>
            <a:r>
              <a:rPr lang="zh-CN" altLang="en-US" sz="1300">
                <a:latin typeface="微软雅黑" panose="020B0503020204020204" pitchFamily="34" charset="-122"/>
                <a:ea typeface="微软雅黑" panose="020B0503020204020204" pitchFamily="34" charset="-122"/>
                <a:sym typeface="Noto Sans SC" panose="020B0200000000000000" pitchFamily="34" charset="-122"/>
              </a:rPr>
              <a:t>构建自动化训练环境，通过参数调优让小鸟自主掌握避障技巧</a:t>
            </a:r>
            <a:r>
              <a:rPr lang="zh-CN" altLang="en-US" sz="130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pitchFamily="34" charset="-122"/>
                <a:sym typeface="Noto Sans SC" panose="020B0200000000000000" pitchFamily="34" charset="-122"/>
              </a:rPr>
              <a:t>。</a:t>
            </a:r>
          </a:p>
        </p:txBody>
      </p:sp>
      <p:sp>
        <p:nvSpPr>
          <p:cNvPr id="13" name="AutoShape 20">
            <a:extLst>
              <a:ext uri="{FF2B5EF4-FFF2-40B4-BE49-F238E27FC236}">
                <a16:creationId xmlns:a16="http://schemas.microsoft.com/office/drawing/2014/main" id="{411066D8-3450-4B6C-BF25-69352F9481BF}"/>
              </a:ext>
            </a:extLst>
          </p:cNvPr>
          <p:cNvSpPr/>
          <p:nvPr/>
        </p:nvSpPr>
        <p:spPr>
          <a:xfrm>
            <a:off x="630238" y="1508047"/>
            <a:ext cx="5207000" cy="4826000"/>
          </a:xfrm>
          <a:prstGeom prst="roundRect">
            <a:avLst>
              <a:gd name="adj" fmla="val 2631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00000">
                <a:alpha val="5000"/>
              </a:srgbClr>
            </a:outerShdw>
          </a:effectLst>
        </p:spPr>
        <p:txBody>
          <a:bodyPr lIns="63500" tIns="63500" rIns="63500" bIns="6350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22">
            <a:extLst>
              <a:ext uri="{FF2B5EF4-FFF2-40B4-BE49-F238E27FC236}">
                <a16:creationId xmlns:a16="http://schemas.microsoft.com/office/drawing/2014/main" id="{137521CD-029C-4DFE-9072-9F3E96F58BDB}"/>
              </a:ext>
            </a:extLst>
          </p:cNvPr>
          <p:cNvSpPr/>
          <p:nvPr/>
        </p:nvSpPr>
        <p:spPr>
          <a:xfrm>
            <a:off x="1050925" y="4135359"/>
            <a:ext cx="4699000" cy="23749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lIns="0" tIns="0" rIns="0" bIns="0" anchor="ctr"/>
          <a:lstStyle/>
          <a:p>
            <a:pPr>
              <a:lnSpc>
                <a:spcPct val="125000"/>
              </a:lnSpc>
              <a:defRPr/>
            </a:pPr>
            <a:r>
              <a:rPr lang="zh-CN" altLang="en-US" sz="1400" b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Noto Sans SC"/>
              </a:rPr>
              <a:t>能力目标</a:t>
            </a:r>
            <a:endParaRPr lang="en-US" altLang="zh-CN" sz="1400" b="1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Noto Sans SC"/>
            </a:endParaRPr>
          </a:p>
          <a:p>
            <a:pPr marL="342900" indent="-342900">
              <a:lnSpc>
                <a:spcPct val="130000"/>
              </a:lnSpc>
              <a:buFontTx/>
              <a:buAutoNum type="arabicPeriod"/>
              <a:defRPr/>
            </a:pPr>
            <a:r>
              <a:rPr lang="zh-CN" altLang="en-US" sz="1400" b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能够将</a:t>
            </a:r>
            <a:r>
              <a:rPr lang="en-US" altLang="zh-CN" sz="1400" b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Q</a:t>
            </a:r>
            <a:r>
              <a:rPr lang="zh-CN" altLang="en-US" sz="1400" b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学习算法应用到</a:t>
            </a:r>
            <a:r>
              <a:rPr lang="en-US" altLang="zh-CN" sz="1400" b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Flappy Bird</a:t>
            </a:r>
            <a:r>
              <a:rPr lang="zh-CN" altLang="en-US" sz="1400" b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游戏中，通过训练来提高小鸟的避障能力</a:t>
            </a:r>
          </a:p>
          <a:p>
            <a:pPr marL="342900" indent="-342900">
              <a:lnSpc>
                <a:spcPct val="130000"/>
              </a:lnSpc>
              <a:buFontTx/>
              <a:buAutoNum type="arabicPeriod"/>
              <a:defRPr/>
            </a:pPr>
            <a:r>
              <a:rPr lang="zh-CN" altLang="en-US" sz="1400" b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提升代码调试效率与程序性能优化的工程能力</a:t>
            </a:r>
            <a:endParaRPr lang="en-US" altLang="zh-CN" sz="1400" b="1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6" name="bird5.mp4">
            <a:hlinkClick r:id="" action="ppaction://media"/>
            <a:extLst>
              <a:ext uri="{FF2B5EF4-FFF2-40B4-BE49-F238E27FC236}">
                <a16:creationId xmlns:a16="http://schemas.microsoft.com/office/drawing/2014/main" id="{E1023098-0980-44E1-9153-0FADF6D15C04}"/>
              </a:ext>
            </a:extLst>
          </p:cNvPr>
          <p:cNvPicPr>
            <a:picLocks noChangeAspect="1" noChangeArrowheads="1"/>
          </p:cNvPicPr>
          <p:nvPr>
            <a:videoFile r:link="rId3"/>
            <p:extLst>
              <p:ext uri="{DAA4B4D4-6D71-4841-9C94-3DE7FCFB9230}">
                <p14:media xmlns:p14="http://schemas.microsoft.com/office/powerpoint/2010/main" r:link="rId2"/>
              </p:ext>
            </p:extLst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0108" y="1613006"/>
            <a:ext cx="3891668" cy="29192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" name="Picture 21">
            <a:extLst>
              <a:ext uri="{FF2B5EF4-FFF2-40B4-BE49-F238E27FC236}">
                <a16:creationId xmlns:a16="http://schemas.microsoft.com/office/drawing/2014/main" id="{72C35C63-7460-46AA-9006-43E7E9256F3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51600" y="3293984"/>
            <a:ext cx="304800" cy="304800"/>
          </a:xfrm>
          <a:prstGeom prst="rect">
            <a:avLst/>
          </a:prstGeom>
        </p:spPr>
      </p:pic>
      <p:sp>
        <p:nvSpPr>
          <p:cNvPr id="18" name="AutoShape 22">
            <a:extLst>
              <a:ext uri="{FF2B5EF4-FFF2-40B4-BE49-F238E27FC236}">
                <a16:creationId xmlns:a16="http://schemas.microsoft.com/office/drawing/2014/main" id="{9103A94F-6389-4BAC-9936-E2D3B4C446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32600" y="3268584"/>
            <a:ext cx="4445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5000"/>
              </a:lnSpc>
            </a:pPr>
            <a:r>
              <a:rPr lang="zh-CN" altLang="en-US" sz="1500" b="1"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pitchFamily="34" charset="-122"/>
                <a:sym typeface="Noto Sans SC" panose="020B0200000000000000" pitchFamily="34" charset="-122"/>
              </a:rPr>
              <a:t>强化学习核心结构</a:t>
            </a:r>
            <a:r>
              <a:rPr lang="en-US" altLang="zh-CN" sz="1500" b="1"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pitchFamily="34" charset="-122"/>
                <a:sym typeface="Noto Sans SC" panose="020B0200000000000000" pitchFamily="34" charset="-122"/>
              </a:rPr>
              <a:t>Q</a:t>
            </a:r>
            <a:r>
              <a:rPr lang="zh-CN" altLang="en-US" sz="1500" b="1"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pitchFamily="34" charset="-122"/>
                <a:sym typeface="Noto Sans SC" panose="020B0200000000000000" pitchFamily="34" charset="-122"/>
              </a:rPr>
              <a:t>表</a:t>
            </a:r>
            <a:endParaRPr lang="en-US" altLang="zh-CN" sz="1500" b="1">
              <a:latin typeface="微软雅黑" panose="020B0503020204020204" pitchFamily="34" charset="-122"/>
              <a:ea typeface="微软雅黑" panose="020B0503020204020204" pitchFamily="34" charset="-122"/>
              <a:cs typeface="Noto Sans SC" panose="020B0200000000000000" pitchFamily="34" charset="-122"/>
              <a:sym typeface="Noto Sans SC" panose="020B0200000000000000" pitchFamily="34" charset="-122"/>
            </a:endParaRPr>
          </a:p>
          <a:p>
            <a:pPr>
              <a:lnSpc>
                <a:spcPct val="125000"/>
              </a:lnSpc>
            </a:pPr>
            <a:r>
              <a:rPr lang="zh-CN" altLang="en-US" sz="1300"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pitchFamily="34" charset="-122"/>
                <a:sym typeface="Noto Sans SC" panose="020B0200000000000000" pitchFamily="34" charset="-122"/>
              </a:rPr>
              <a:t>多维数组存储每个状态下不同动作的</a:t>
            </a:r>
            <a:r>
              <a:rPr lang="en-US" altLang="zh-CN" sz="1300"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pitchFamily="34" charset="-122"/>
                <a:sym typeface="Noto Sans SC" panose="020B0200000000000000" pitchFamily="34" charset="-122"/>
              </a:rPr>
              <a:t>Q</a:t>
            </a:r>
            <a:r>
              <a:rPr lang="zh-CN" altLang="en-US" sz="1300"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pitchFamily="34" charset="-122"/>
                <a:sym typeface="Noto Sans SC" panose="020B0200000000000000" pitchFamily="34" charset="-122"/>
              </a:rPr>
              <a:t>值，用于指引小鸟的行为选择。</a:t>
            </a:r>
          </a:p>
        </p:txBody>
      </p:sp>
      <p:pic>
        <p:nvPicPr>
          <p:cNvPr id="19" name="Picture 19">
            <a:extLst>
              <a:ext uri="{FF2B5EF4-FFF2-40B4-BE49-F238E27FC236}">
                <a16:creationId xmlns:a16="http://schemas.microsoft.com/office/drawing/2014/main" id="{0D919BDE-DCFF-465C-9DF0-4FD1C407355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42075" y="4227434"/>
            <a:ext cx="304800" cy="304800"/>
          </a:xfrm>
          <a:prstGeom prst="rect">
            <a:avLst/>
          </a:prstGeom>
        </p:spPr>
      </p:pic>
      <p:sp>
        <p:nvSpPr>
          <p:cNvPr id="20" name="AutoShape 20">
            <a:extLst>
              <a:ext uri="{FF2B5EF4-FFF2-40B4-BE49-F238E27FC236}">
                <a16:creationId xmlns:a16="http://schemas.microsoft.com/office/drawing/2014/main" id="{A29A531A-75E8-471D-BBFB-4A72D81E28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23075" y="4202034"/>
            <a:ext cx="457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5000"/>
              </a:lnSpc>
            </a:pPr>
            <a:r>
              <a:rPr lang="zh-CN" altLang="en-US" sz="1500" b="1"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pitchFamily="34" charset="-122"/>
                <a:sym typeface="Noto Sans SC" panose="020B0200000000000000" pitchFamily="34" charset="-122"/>
              </a:rPr>
              <a:t>奖励函数设计</a:t>
            </a:r>
            <a:endParaRPr lang="en-US" altLang="zh-CN" sz="1500" b="1">
              <a:latin typeface="微软雅黑" panose="020B0503020204020204" pitchFamily="34" charset="-122"/>
              <a:ea typeface="微软雅黑" panose="020B0503020204020204" pitchFamily="34" charset="-122"/>
              <a:cs typeface="Noto Sans SC" panose="020B0200000000000000" pitchFamily="34" charset="-122"/>
              <a:sym typeface="Noto Sans SC" panose="020B0200000000000000" pitchFamily="34" charset="-122"/>
            </a:endParaRPr>
          </a:p>
          <a:p>
            <a:pPr>
              <a:lnSpc>
                <a:spcPct val="125000"/>
              </a:lnSpc>
            </a:pPr>
            <a:r>
              <a:rPr lang="zh-CN" altLang="en-US" sz="1300"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pitchFamily="34" charset="-122"/>
                <a:sym typeface="Noto Sans SC" panose="020B0200000000000000" pitchFamily="34" charset="-122"/>
              </a:rPr>
              <a:t>每个状态</a:t>
            </a:r>
            <a:r>
              <a:rPr lang="en-US" altLang="zh-CN" sz="1300"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pitchFamily="34" charset="-122"/>
                <a:sym typeface="Noto Sans SC" panose="020B0200000000000000" pitchFamily="34" charset="-122"/>
              </a:rPr>
              <a:t>-</a:t>
            </a:r>
            <a:r>
              <a:rPr lang="zh-CN" altLang="en-US" sz="1300"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pitchFamily="34" charset="-122"/>
                <a:sym typeface="Noto Sans SC" panose="020B0200000000000000" pitchFamily="34" charset="-122"/>
              </a:rPr>
              <a:t>动作对的奖励可以根据小鸟避开管道、成功飞行等因素设定，正奖励可以促进小鸟避开障碍，负奖励则惩罚碰撞失败的行为。</a:t>
            </a:r>
          </a:p>
        </p:txBody>
      </p:sp>
      <p:pic>
        <p:nvPicPr>
          <p:cNvPr id="21" name="Picture 23">
            <a:extLst>
              <a:ext uri="{FF2B5EF4-FFF2-40B4-BE49-F238E27FC236}">
                <a16:creationId xmlns:a16="http://schemas.microsoft.com/office/drawing/2014/main" id="{B9FE35F1-073F-41E9-9257-07AE8ACC918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77000" y="5926059"/>
            <a:ext cx="304800" cy="304800"/>
          </a:xfrm>
          <a:prstGeom prst="rect">
            <a:avLst/>
          </a:prstGeom>
        </p:spPr>
      </p:pic>
      <p:sp>
        <p:nvSpPr>
          <p:cNvPr id="22" name="AutoShape 24">
            <a:extLst>
              <a:ext uri="{FF2B5EF4-FFF2-40B4-BE49-F238E27FC236}">
                <a16:creationId xmlns:a16="http://schemas.microsoft.com/office/drawing/2014/main" id="{9F404647-AE9F-4A75-873F-AB118E3554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0" y="5900659"/>
            <a:ext cx="4445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5000"/>
              </a:lnSpc>
            </a:pPr>
            <a:r>
              <a:rPr lang="zh-CN" altLang="en-US" sz="1500" b="1">
                <a:latin typeface="微软雅黑" panose="020B0503020204020204" pitchFamily="34" charset="-122"/>
                <a:ea typeface="微软雅黑" panose="020B0503020204020204" pitchFamily="34" charset="-122"/>
                <a:sym typeface="Noto Sans SC" panose="020B0200000000000000" pitchFamily="34" charset="-122"/>
              </a:rPr>
              <a:t>模式切换</a:t>
            </a:r>
            <a:endParaRPr lang="zh-CN" altLang="en-US" sz="11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5000"/>
              </a:lnSpc>
            </a:pPr>
            <a:r>
              <a:rPr lang="zh-CN" altLang="en-US" sz="1300"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pitchFamily="34" charset="-122"/>
                <a:sym typeface="Noto Sans SC" panose="020B0200000000000000" pitchFamily="34" charset="-122"/>
              </a:rPr>
              <a:t>通过按键 </a:t>
            </a:r>
            <a:r>
              <a:rPr lang="en-US" altLang="zh-CN" sz="1300"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pitchFamily="34" charset="-122"/>
                <a:sym typeface="Noto Sans SC" panose="020B0200000000000000" pitchFamily="34" charset="-122"/>
              </a:rPr>
              <a:t>/ </a:t>
            </a:r>
            <a:r>
              <a:rPr lang="zh-CN" altLang="en-US" sz="1300"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pitchFamily="34" charset="-122"/>
                <a:sym typeface="Noto Sans SC" panose="020B0200000000000000" pitchFamily="34" charset="-122"/>
              </a:rPr>
              <a:t>自动条件触发，支持训练模式、测试模式和演示模式</a:t>
            </a:r>
            <a:r>
              <a:rPr lang="en-US" altLang="zh-CN" sz="1300"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pitchFamily="34" charset="-122"/>
                <a:sym typeface="Noto Sans SC" panose="020B0200000000000000" pitchFamily="34" charset="-122"/>
              </a:rPr>
              <a:t>3 </a:t>
            </a:r>
            <a:r>
              <a:rPr lang="zh-CN" altLang="en-US" sz="1300"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pitchFamily="34" charset="-122"/>
                <a:sym typeface="Noto Sans SC" panose="020B0200000000000000" pitchFamily="34" charset="-122"/>
              </a:rPr>
              <a:t>种模式无缝切换。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5171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7909" fill="hold"/>
                                        <p:tgtEl>
                                          <p:spTgt spid="1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1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  <p:video>
              <p:cMediaNode vol="80000">
                <p:cTn id="12" fill="hold" display="0">
                  <p:stCondLst>
                    <p:cond delay="indefinite"/>
                  </p:stCondLst>
                </p:cTn>
                <p:tgtEl>
                  <p:spTgt spid="16"/>
                </p:tgtEl>
              </p:cMediaNode>
            </p:video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DF8E92B-827B-3B38-FC63-8B8DF643BB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33639"/>
            <a:ext cx="11615737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ß"/>
              <a:defRPr sz="3200" b="1">
                <a:solidFill>
                  <a:schemeClr val="tx1"/>
                </a:solidFill>
                <a:latin typeface="Consolas" panose="020B0609020204030204" pitchFamily="49" charset="0"/>
              </a:defRPr>
            </a:lvl1pPr>
            <a:lvl2pPr marL="742950" indent="-28575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 b="1">
                <a:solidFill>
                  <a:srgbClr val="333399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2pPr>
            <a:lvl3pPr marL="1143000" indent="-2286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 b="1">
                <a:solidFill>
                  <a:srgbClr val="3333CC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3pPr>
            <a:lvl4pPr marL="1600200" indent="-2286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4pPr>
            <a:lvl5pPr marL="2057400" indent="-2286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综合实践项目</a:t>
            </a:r>
            <a:r>
              <a:rPr kumimoji="1" lang="en-US" altLang="zh-CN" sz="32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——FlappyBird</a:t>
            </a:r>
            <a:r>
              <a:rPr kumimoji="1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闯关系统</a:t>
            </a:r>
            <a:endParaRPr kumimoji="1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文本框 52">
            <a:extLst>
              <a:ext uri="{FF2B5EF4-FFF2-40B4-BE49-F238E27FC236}">
                <a16:creationId xmlns:a16="http://schemas.microsoft.com/office/drawing/2014/main" id="{DE1DB8A1-FEA9-47E1-B048-2EDD91FEE7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4248" y="1029586"/>
            <a:ext cx="5964895" cy="38752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ß"/>
              <a:defRPr sz="3200" b="1">
                <a:solidFill>
                  <a:schemeClr val="tx1"/>
                </a:solidFill>
                <a:latin typeface="Consolas" panose="020B0609020204030204" pitchFamily="49" charset="0"/>
              </a:defRPr>
            </a:lvl1pPr>
            <a:lvl2pPr marL="800100" indent="-3429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 b="1">
                <a:solidFill>
                  <a:srgbClr val="333399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2pPr>
            <a:lvl3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 b="1">
                <a:solidFill>
                  <a:srgbClr val="3333CC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3pPr>
            <a:lvl4pPr marL="1714500" indent="-3429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4pPr>
            <a:lvl5pPr marL="2057400" indent="-2286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p"/>
              <a:tabLst/>
              <a:defRPr/>
            </a:pP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任务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5——</a:t>
            </a: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强化学习驱动的智能避障决策算法</a:t>
            </a: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800100" marR="0" lvl="1" indent="-34290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p"/>
              <a:tabLst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Q-learning</a:t>
            </a:r>
          </a:p>
          <a:p>
            <a:pPr marL="914400" marR="0" lvl="2" indent="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是一种无模型的强化学习算法，将特定状态下采取特定动作的“质量”（</a:t>
            </a: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Q</a:t>
            </a: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值）分解为当前动作可获得的即时奖励与未来可能获得的总价值之和。</a:t>
            </a:r>
            <a:endParaRPr kumimoji="0" lang="en-US" altLang="zh-CN" sz="1800" b="1" i="0" u="none" strike="noStrike" kern="1200" cap="none" spc="0" normalizeH="0" baseline="0" noProof="0">
              <a:ln>
                <a:noFill/>
              </a:ln>
              <a:solidFill>
                <a:srgbClr val="3333CC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914400" marR="0" lvl="2" indent="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通过不断试错和经验积累，</a:t>
            </a: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Q</a:t>
            </a: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学习迭代更新对</a:t>
            </a: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Q</a:t>
            </a: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值的估计，使其逐步逼近真实的最优值，从而让智能体学会在未知环境中找到最优策略。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11" name="bird5.mp4">
            <a:hlinkClick r:id="" action="ppaction://media"/>
            <a:extLst>
              <a:ext uri="{FF2B5EF4-FFF2-40B4-BE49-F238E27FC236}">
                <a16:creationId xmlns:a16="http://schemas.microsoft.com/office/drawing/2014/main" id="{29EFDE08-AB03-4D19-97E8-4573F3BF07BF}"/>
              </a:ext>
            </a:extLst>
          </p:cNvPr>
          <p:cNvPicPr>
            <a:picLocks noChangeAspect="1" noChangeArrowheads="1"/>
          </p:cNvPicPr>
          <p:nvPr>
            <a:videoFile r:link="rId3"/>
            <p:extLst>
              <p:ext uri="{DAA4B4D4-6D71-4841-9C94-3DE7FCFB9230}">
                <p14:media xmlns:p14="http://schemas.microsoft.com/office/powerpoint/2010/main" r:link="rId2"/>
              </p:ext>
            </p:ext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37097" y="1566051"/>
            <a:ext cx="4967052" cy="37258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8880892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7909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video>
              <p:cMediaNode vol="80000">
                <p:cTn id="12" fill="hold" display="0">
                  <p:stCondLst>
                    <p:cond delay="indefinite"/>
                  </p:stCondLst>
                </p:cTn>
                <p:tgtEl>
                  <p:spTgt spid="11"/>
                </p:tgtEl>
              </p:cMediaNode>
            </p:video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DF8E92B-827B-3B38-FC63-8B8DF643BB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33639"/>
            <a:ext cx="11615737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ß"/>
              <a:defRPr sz="3200" b="1">
                <a:solidFill>
                  <a:schemeClr val="tx1"/>
                </a:solidFill>
                <a:latin typeface="Consolas" panose="020B0609020204030204" pitchFamily="49" charset="0"/>
              </a:defRPr>
            </a:lvl1pPr>
            <a:lvl2pPr marL="742950" indent="-28575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 b="1">
                <a:solidFill>
                  <a:srgbClr val="333399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2pPr>
            <a:lvl3pPr marL="1143000" indent="-2286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 b="1">
                <a:solidFill>
                  <a:srgbClr val="3333CC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3pPr>
            <a:lvl4pPr marL="1600200" indent="-2286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4pPr>
            <a:lvl5pPr marL="2057400" indent="-2286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综合实践项目</a:t>
            </a:r>
            <a:r>
              <a:rPr kumimoji="1" lang="en-US" altLang="zh-CN" sz="32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——FlappyBird</a:t>
            </a:r>
            <a:r>
              <a:rPr kumimoji="1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闯关系统</a:t>
            </a:r>
            <a:endParaRPr kumimoji="1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文本框 52">
            <a:extLst>
              <a:ext uri="{FF2B5EF4-FFF2-40B4-BE49-F238E27FC236}">
                <a16:creationId xmlns:a16="http://schemas.microsoft.com/office/drawing/2014/main" id="{DE1DB8A1-FEA9-47E1-B048-2EDD91FEE7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4248" y="1029586"/>
            <a:ext cx="5964895" cy="9612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ß"/>
              <a:defRPr sz="3200" b="1">
                <a:solidFill>
                  <a:schemeClr val="tx1"/>
                </a:solidFill>
                <a:latin typeface="Consolas" panose="020B0609020204030204" pitchFamily="49" charset="0"/>
              </a:defRPr>
            </a:lvl1pPr>
            <a:lvl2pPr marL="800100" indent="-3429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 b="1">
                <a:solidFill>
                  <a:srgbClr val="333399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2pPr>
            <a:lvl3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 b="1">
                <a:solidFill>
                  <a:srgbClr val="3333CC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3pPr>
            <a:lvl4pPr marL="1714500" indent="-3429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4pPr>
            <a:lvl5pPr marL="2057400" indent="-2286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p"/>
              <a:tabLst/>
              <a:defRPr/>
            </a:pP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任务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5——</a:t>
            </a: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强化学习驱动的智能避障决策算法</a:t>
            </a: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800100" marR="0" lvl="1" indent="-34290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p"/>
              <a:tabLst/>
              <a:defRPr/>
            </a:pP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表格型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Q-learning</a:t>
            </a:r>
          </a:p>
        </p:txBody>
      </p:sp>
      <p:graphicFrame>
        <p:nvGraphicFramePr>
          <p:cNvPr id="3" name="表格 3">
            <a:extLst>
              <a:ext uri="{FF2B5EF4-FFF2-40B4-BE49-F238E27FC236}">
                <a16:creationId xmlns:a16="http://schemas.microsoft.com/office/drawing/2014/main" id="{5CC0AF83-082F-4D42-847C-61A9659BDB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6832076"/>
              </p:ext>
            </p:extLst>
          </p:nvPr>
        </p:nvGraphicFramePr>
        <p:xfrm>
          <a:off x="3942779" y="1687948"/>
          <a:ext cx="8128000" cy="4856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7774">
                  <a:extLst>
                    <a:ext uri="{9D8B030D-6E8A-4147-A177-3AD203B41FA5}">
                      <a16:colId xmlns:a16="http://schemas.microsoft.com/office/drawing/2014/main" val="1880058654"/>
                    </a:ext>
                  </a:extLst>
                </a:gridCol>
                <a:gridCol w="939625">
                  <a:extLst>
                    <a:ext uri="{9D8B030D-6E8A-4147-A177-3AD203B41FA5}">
                      <a16:colId xmlns:a16="http://schemas.microsoft.com/office/drawing/2014/main" val="1949234504"/>
                    </a:ext>
                  </a:extLst>
                </a:gridCol>
                <a:gridCol w="2213479">
                  <a:extLst>
                    <a:ext uri="{9D8B030D-6E8A-4147-A177-3AD203B41FA5}">
                      <a16:colId xmlns:a16="http://schemas.microsoft.com/office/drawing/2014/main" val="2030036292"/>
                    </a:ext>
                  </a:extLst>
                </a:gridCol>
                <a:gridCol w="4087122">
                  <a:extLst>
                    <a:ext uri="{9D8B030D-6E8A-4147-A177-3AD203B41FA5}">
                      <a16:colId xmlns:a16="http://schemas.microsoft.com/office/drawing/2014/main" val="138384424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>
                          <a:solidFill>
                            <a:schemeClr val="bg1"/>
                          </a:solidFill>
                          <a:effectLst/>
                          <a:latin typeface="ui-sans-serif"/>
                        </a:rPr>
                        <a:t>英文术语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>
                          <a:solidFill>
                            <a:schemeClr val="bg1"/>
                          </a:solidFill>
                          <a:effectLst/>
                          <a:latin typeface="ui-sans-serif"/>
                        </a:rPr>
                        <a:t>中文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>
                          <a:solidFill>
                            <a:schemeClr val="bg1"/>
                          </a:solidFill>
                          <a:effectLst/>
                          <a:latin typeface="ui-sans-serif"/>
                        </a:rPr>
                        <a:t>通用核心定义与说明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chemeClr val="bg1"/>
                          </a:solidFill>
                          <a:effectLst/>
                          <a:latin typeface="ui-sans-serif"/>
                        </a:rPr>
                        <a:t>Flappy Bird </a:t>
                      </a:r>
                      <a:r>
                        <a:rPr lang="zh-CN" altLang="en-US" sz="1000" b="1">
                          <a:solidFill>
                            <a:schemeClr val="bg1"/>
                          </a:solidFill>
                          <a:effectLst/>
                          <a:latin typeface="ui-sans-serif"/>
                        </a:rPr>
                        <a:t>对应实现与场景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594344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ui-sans-serif"/>
                        </a:rPr>
                        <a:t>Agent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000" b="1">
                          <a:solidFill>
                            <a:srgbClr val="000000"/>
                          </a:solidFill>
                          <a:effectLst/>
                          <a:latin typeface="ui-sans-serif"/>
                        </a:rPr>
                        <a:t>智能体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000" b="1">
                          <a:solidFill>
                            <a:srgbClr val="000000"/>
                          </a:solidFill>
                          <a:effectLst/>
                          <a:latin typeface="ui-sans-serif"/>
                        </a:rPr>
                        <a:t>会学习做决策的角色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000" b="1">
                          <a:solidFill>
                            <a:srgbClr val="000000"/>
                          </a:solidFill>
                          <a:effectLst/>
                          <a:latin typeface="ui-sans-serif"/>
                        </a:rPr>
                        <a:t>小鸟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322902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ui-sans-serif"/>
                        </a:rPr>
                        <a:t>Environment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000" b="1">
                          <a:solidFill>
                            <a:srgbClr val="000000"/>
                          </a:solidFill>
                          <a:effectLst/>
                          <a:latin typeface="ui-sans-serif"/>
                        </a:rPr>
                        <a:t>环境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000" b="1">
                          <a:solidFill>
                            <a:srgbClr val="000000"/>
                          </a:solidFill>
                          <a:effectLst/>
                          <a:latin typeface="ui-sans-serif"/>
                        </a:rPr>
                        <a:t>智能体所处的外部系统，会接收智能体的动作，并反馈对应的奖励与新的状态，是智能体的学习对象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000" b="1">
                          <a:solidFill>
                            <a:srgbClr val="000000"/>
                          </a:solidFill>
                          <a:effectLst/>
                          <a:latin typeface="ui-sans-serif"/>
                        </a:rPr>
                        <a:t>就是整个游戏世界，包括小鸟的位置、速度、水管的位置和间隙。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075213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ui-sans-serif"/>
                        </a:rPr>
                        <a:t>State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000" b="1">
                          <a:solidFill>
                            <a:srgbClr val="000000"/>
                          </a:solidFill>
                          <a:effectLst/>
                          <a:latin typeface="ui-sans-serif"/>
                        </a:rPr>
                        <a:t>状态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000" b="1">
                          <a:solidFill>
                            <a:srgbClr val="000000"/>
                          </a:solidFill>
                          <a:effectLst/>
                          <a:latin typeface="ui-sans-serif"/>
                        </a:rPr>
                        <a:t>对环境当前情况的完整描述，是智能体做动作决策的核心依据，通常用 </a:t>
                      </a:r>
                      <a:r>
                        <a:rPr lang="en-US" altLang="zh-CN" sz="1000" b="1">
                          <a:solidFill>
                            <a:srgbClr val="000000"/>
                          </a:solidFill>
                          <a:effectLst/>
                          <a:latin typeface="ui-sans-serif"/>
                        </a:rPr>
                        <a:t>S </a:t>
                      </a:r>
                      <a:r>
                        <a:rPr lang="zh-CN" altLang="en-US" sz="1000" b="1">
                          <a:solidFill>
                            <a:srgbClr val="000000"/>
                          </a:solidFill>
                          <a:effectLst/>
                          <a:latin typeface="ui-sans-serif"/>
                        </a:rPr>
                        <a:t>表示，</a:t>
                      </a:r>
                      <a:r>
                        <a:rPr lang="en-US" altLang="zh-CN" sz="1000" b="1">
                          <a:solidFill>
                            <a:srgbClr val="000000"/>
                          </a:solidFill>
                          <a:effectLst/>
                          <a:latin typeface="ui-sans-serif"/>
                        </a:rPr>
                        <a:t>S' </a:t>
                      </a:r>
                      <a:r>
                        <a:rPr lang="zh-CN" altLang="en-US" sz="1000" b="1">
                          <a:solidFill>
                            <a:srgbClr val="000000"/>
                          </a:solidFill>
                          <a:effectLst/>
                          <a:latin typeface="ui-sans-serif"/>
                        </a:rPr>
                        <a:t>表示下一状态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000" b="1">
                          <a:solidFill>
                            <a:srgbClr val="000000"/>
                          </a:solidFill>
                          <a:effectLst/>
                          <a:latin typeface="ui-sans-serif"/>
                        </a:rPr>
                        <a:t>指游戏当前帧的核心可观测特征，常规实现中会离散化为有限状态，对应 </a:t>
                      </a:r>
                      <a:r>
                        <a:rPr lang="en-US" altLang="zh-CN" sz="1000" b="1">
                          <a:solidFill>
                            <a:srgbClr val="000000"/>
                          </a:solidFill>
                          <a:effectLst/>
                          <a:latin typeface="ui-sans-serif"/>
                        </a:rPr>
                        <a:t>Q </a:t>
                      </a:r>
                      <a:r>
                        <a:rPr lang="zh-CN" altLang="en-US" sz="1000" b="1">
                          <a:solidFill>
                            <a:srgbClr val="000000"/>
                          </a:solidFill>
                          <a:effectLst/>
                          <a:latin typeface="ui-sans-serif"/>
                        </a:rPr>
                        <a:t>表的行，核心特征包括：</a:t>
                      </a:r>
                    </a:p>
                    <a:p>
                      <a:pPr algn="l"/>
                      <a:r>
                        <a:rPr lang="en-US" altLang="zh-CN" sz="1000" b="1">
                          <a:solidFill>
                            <a:srgbClr val="000000"/>
                          </a:solidFill>
                          <a:effectLst/>
                          <a:latin typeface="ui-sans-serif"/>
                        </a:rPr>
                        <a:t>1. </a:t>
                      </a:r>
                      <a:r>
                        <a:rPr lang="zh-CN" altLang="en-US" sz="1000" b="1">
                          <a:solidFill>
                            <a:srgbClr val="000000"/>
                          </a:solidFill>
                          <a:effectLst/>
                          <a:latin typeface="ui-sans-serif"/>
                        </a:rPr>
                        <a:t>小鸟的垂直位置（与地面 </a:t>
                      </a:r>
                      <a:r>
                        <a:rPr lang="en-US" altLang="zh-CN" sz="1000" b="1">
                          <a:solidFill>
                            <a:srgbClr val="000000"/>
                          </a:solidFill>
                          <a:effectLst/>
                          <a:latin typeface="ui-sans-serif"/>
                        </a:rPr>
                        <a:t>/ </a:t>
                      </a:r>
                      <a:r>
                        <a:rPr lang="zh-CN" altLang="en-US" sz="1000" b="1">
                          <a:solidFill>
                            <a:srgbClr val="000000"/>
                          </a:solidFill>
                          <a:effectLst/>
                          <a:latin typeface="ui-sans-serif"/>
                        </a:rPr>
                        <a:t>天花板的距离）</a:t>
                      </a:r>
                    </a:p>
                    <a:p>
                      <a:pPr algn="l"/>
                      <a:r>
                        <a:rPr lang="en-US" altLang="zh-CN" sz="1000" b="1">
                          <a:solidFill>
                            <a:srgbClr val="000000"/>
                          </a:solidFill>
                          <a:effectLst/>
                          <a:latin typeface="ui-sans-serif"/>
                        </a:rPr>
                        <a:t>2. </a:t>
                      </a:r>
                      <a:r>
                        <a:rPr lang="zh-CN" altLang="en-US" sz="1000" b="1">
                          <a:solidFill>
                            <a:srgbClr val="000000"/>
                          </a:solidFill>
                          <a:effectLst/>
                          <a:latin typeface="ui-sans-serif"/>
                        </a:rPr>
                        <a:t>小鸟的垂直运动速度</a:t>
                      </a:r>
                    </a:p>
                    <a:p>
                      <a:pPr algn="l"/>
                      <a:r>
                        <a:rPr lang="en-US" altLang="zh-CN" sz="1000" b="1">
                          <a:solidFill>
                            <a:srgbClr val="000000"/>
                          </a:solidFill>
                          <a:effectLst/>
                          <a:latin typeface="ui-sans-serif"/>
                        </a:rPr>
                        <a:t>3. </a:t>
                      </a:r>
                      <a:r>
                        <a:rPr lang="zh-CN" altLang="en-US" sz="1000" b="1">
                          <a:solidFill>
                            <a:srgbClr val="000000"/>
                          </a:solidFill>
                          <a:effectLst/>
                          <a:latin typeface="ui-sans-serif"/>
                        </a:rPr>
                        <a:t>与最近管道水平距离</a:t>
                      </a:r>
                    </a:p>
                    <a:p>
                      <a:pPr algn="l"/>
                      <a:r>
                        <a:rPr lang="en-US" altLang="zh-CN" sz="1000" b="1">
                          <a:solidFill>
                            <a:srgbClr val="000000"/>
                          </a:solidFill>
                          <a:effectLst/>
                          <a:latin typeface="ui-sans-serif"/>
                        </a:rPr>
                        <a:t>4.</a:t>
                      </a:r>
                      <a:r>
                        <a:rPr lang="zh-CN" altLang="en-US" sz="1000" b="1">
                          <a:solidFill>
                            <a:srgbClr val="000000"/>
                          </a:solidFill>
                          <a:effectLst/>
                          <a:latin typeface="ui-sans-serif"/>
                        </a:rPr>
                        <a:t>与管道间隙中心垂直距离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17251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ui-sans-serif"/>
                        </a:rPr>
                        <a:t>Action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000" b="1">
                          <a:solidFill>
                            <a:srgbClr val="000000"/>
                          </a:solidFill>
                          <a:effectLst/>
                          <a:latin typeface="ui-sans-serif"/>
                        </a:rPr>
                        <a:t>动作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000" b="1">
                          <a:solidFill>
                            <a:srgbClr val="000000"/>
                          </a:solidFill>
                          <a:effectLst/>
                          <a:latin typeface="ui-sans-serif"/>
                        </a:rPr>
                        <a:t>智能体在当前状态下可执行的操作，是智能体与环境交互的核心载体，通常用 </a:t>
                      </a:r>
                      <a:r>
                        <a:rPr lang="en-US" altLang="zh-CN" sz="1000" b="1">
                          <a:solidFill>
                            <a:srgbClr val="000000"/>
                          </a:solidFill>
                          <a:effectLst/>
                          <a:latin typeface="ui-sans-serif"/>
                        </a:rPr>
                        <a:t>A </a:t>
                      </a:r>
                      <a:r>
                        <a:rPr lang="zh-CN" altLang="en-US" sz="1000" b="1">
                          <a:solidFill>
                            <a:srgbClr val="000000"/>
                          </a:solidFill>
                          <a:effectLst/>
                          <a:latin typeface="ui-sans-serif"/>
                        </a:rPr>
                        <a:t>表示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000" b="1">
                          <a:solidFill>
                            <a:srgbClr val="000000"/>
                          </a:solidFill>
                          <a:effectLst/>
                          <a:latin typeface="ui-sans-serif"/>
                        </a:rPr>
                        <a:t>指小鸟在游戏中可执行的离散操作，仅包含 </a:t>
                      </a:r>
                      <a:r>
                        <a:rPr lang="en-US" altLang="zh-CN" sz="1000" b="1">
                          <a:solidFill>
                            <a:srgbClr val="000000"/>
                          </a:solidFill>
                          <a:effectLst/>
                          <a:latin typeface="ui-sans-serif"/>
                        </a:rPr>
                        <a:t>2 </a:t>
                      </a:r>
                      <a:r>
                        <a:rPr lang="zh-CN" altLang="en-US" sz="1000" b="1">
                          <a:solidFill>
                            <a:srgbClr val="000000"/>
                          </a:solidFill>
                          <a:effectLst/>
                          <a:latin typeface="ui-sans-serif"/>
                        </a:rPr>
                        <a:t>个互斥选项，对应 </a:t>
                      </a:r>
                      <a:r>
                        <a:rPr lang="en-US" altLang="zh-CN" sz="1000" b="1">
                          <a:solidFill>
                            <a:srgbClr val="000000"/>
                          </a:solidFill>
                          <a:effectLst/>
                          <a:latin typeface="ui-sans-serif"/>
                        </a:rPr>
                        <a:t>Q </a:t>
                      </a:r>
                      <a:r>
                        <a:rPr lang="zh-CN" altLang="en-US" sz="1000" b="1">
                          <a:solidFill>
                            <a:srgbClr val="000000"/>
                          </a:solidFill>
                          <a:effectLst/>
                          <a:latin typeface="ui-sans-serif"/>
                        </a:rPr>
                        <a:t>表的列：</a:t>
                      </a:r>
                    </a:p>
                    <a:p>
                      <a:pPr algn="l"/>
                      <a:r>
                        <a:rPr lang="en-US" altLang="zh-CN" sz="1000" b="1">
                          <a:solidFill>
                            <a:srgbClr val="000000"/>
                          </a:solidFill>
                          <a:effectLst/>
                          <a:latin typeface="ui-sans-serif"/>
                        </a:rPr>
                        <a:t>1. </a:t>
                      </a:r>
                      <a:r>
                        <a:rPr lang="zh-CN" altLang="en-US" sz="1000" b="1">
                          <a:solidFill>
                            <a:srgbClr val="000000"/>
                          </a:solidFill>
                          <a:effectLst/>
                          <a:latin typeface="ui-sans-serif"/>
                        </a:rPr>
                        <a:t>动作 </a:t>
                      </a:r>
                      <a:r>
                        <a:rPr lang="en-US" altLang="zh-CN" sz="1000" b="1">
                          <a:solidFill>
                            <a:srgbClr val="000000"/>
                          </a:solidFill>
                          <a:effectLst/>
                          <a:latin typeface="ui-sans-serif"/>
                        </a:rPr>
                        <a:t>0</a:t>
                      </a:r>
                      <a:r>
                        <a:rPr lang="zh-CN" altLang="en-US" sz="1000" b="1">
                          <a:solidFill>
                            <a:srgbClr val="000000"/>
                          </a:solidFill>
                          <a:effectLst/>
                          <a:latin typeface="ui-sans-serif"/>
                        </a:rPr>
                        <a:t>：不动作，小鸟仅受重力影响自然下落</a:t>
                      </a:r>
                    </a:p>
                    <a:p>
                      <a:pPr algn="l"/>
                      <a:r>
                        <a:rPr lang="en-US" altLang="zh-CN" sz="1000" b="1">
                          <a:solidFill>
                            <a:srgbClr val="000000"/>
                          </a:solidFill>
                          <a:effectLst/>
                          <a:latin typeface="ui-sans-serif"/>
                        </a:rPr>
                        <a:t>2. </a:t>
                      </a:r>
                      <a:r>
                        <a:rPr lang="zh-CN" altLang="en-US" sz="1000" b="1">
                          <a:solidFill>
                            <a:srgbClr val="000000"/>
                          </a:solidFill>
                          <a:effectLst/>
                          <a:latin typeface="ui-sans-serif"/>
                        </a:rPr>
                        <a:t>动作 </a:t>
                      </a:r>
                      <a:r>
                        <a:rPr lang="en-US" altLang="zh-CN" sz="1000" b="1">
                          <a:solidFill>
                            <a:srgbClr val="000000"/>
                          </a:solidFill>
                          <a:effectLst/>
                          <a:latin typeface="ui-sans-serif"/>
                        </a:rPr>
                        <a:t>1</a:t>
                      </a:r>
                      <a:r>
                        <a:rPr lang="zh-CN" altLang="en-US" sz="1000" b="1">
                          <a:solidFill>
                            <a:srgbClr val="000000"/>
                          </a:solidFill>
                          <a:effectLst/>
                          <a:latin typeface="ui-sans-serif"/>
                        </a:rPr>
                        <a:t>：跳跃，小鸟获得瞬时向上的加速度，抵消重力向上飞行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455226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ui-sans-serif"/>
                        </a:rPr>
                        <a:t>Reward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000" b="1">
                          <a:solidFill>
                            <a:srgbClr val="000000"/>
                          </a:solidFill>
                          <a:effectLst/>
                          <a:latin typeface="ui-sans-serif"/>
                        </a:rPr>
                        <a:t>奖励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000" b="1">
                          <a:solidFill>
                            <a:srgbClr val="000000"/>
                          </a:solidFill>
                          <a:effectLst/>
                          <a:latin typeface="ui-sans-serif"/>
                        </a:rPr>
                        <a:t>环境对智能体执行动作的单步反馈信号，是智能体学习的核心目标，通常用 </a:t>
                      </a:r>
                      <a:r>
                        <a:rPr lang="en-US" altLang="zh-CN" sz="1000" b="1">
                          <a:solidFill>
                            <a:srgbClr val="000000"/>
                          </a:solidFill>
                          <a:effectLst/>
                          <a:latin typeface="ui-sans-serif"/>
                        </a:rPr>
                        <a:t>R </a:t>
                      </a:r>
                      <a:r>
                        <a:rPr lang="zh-CN" altLang="en-US" sz="1000" b="1">
                          <a:solidFill>
                            <a:srgbClr val="000000"/>
                          </a:solidFill>
                          <a:effectLst/>
                          <a:latin typeface="ui-sans-serif"/>
                        </a:rPr>
                        <a:t>表示，正奖励代表正向激励，负奖励代表惩罚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000" b="1">
                          <a:solidFill>
                            <a:srgbClr val="000000"/>
                          </a:solidFill>
                          <a:effectLst/>
                          <a:latin typeface="ui-sans-serif"/>
                        </a:rPr>
                        <a:t>指游戏对小鸟每一步动作的反馈信号，是 </a:t>
                      </a:r>
                      <a:r>
                        <a:rPr lang="en-US" altLang="zh-CN" sz="1000" b="1">
                          <a:solidFill>
                            <a:srgbClr val="000000"/>
                          </a:solidFill>
                          <a:effectLst/>
                          <a:latin typeface="ui-sans-serif"/>
                        </a:rPr>
                        <a:t>AI </a:t>
                      </a:r>
                      <a:r>
                        <a:rPr lang="zh-CN" altLang="en-US" sz="1000" b="1">
                          <a:solidFill>
                            <a:srgbClr val="000000"/>
                          </a:solidFill>
                          <a:effectLst/>
                          <a:latin typeface="ui-sans-serif"/>
                        </a:rPr>
                        <a:t>学习的核心目标，常规奖励设计为：</a:t>
                      </a:r>
                    </a:p>
                    <a:p>
                      <a:pPr algn="l"/>
                      <a:r>
                        <a:rPr lang="en-US" altLang="zh-CN" sz="1000" b="1">
                          <a:solidFill>
                            <a:srgbClr val="000000"/>
                          </a:solidFill>
                          <a:effectLst/>
                          <a:latin typeface="ui-sans-serif"/>
                        </a:rPr>
                        <a:t>1. </a:t>
                      </a:r>
                      <a:r>
                        <a:rPr lang="zh-CN" altLang="en-US" sz="1000" b="1">
                          <a:solidFill>
                            <a:srgbClr val="000000"/>
                          </a:solidFill>
                          <a:effectLst/>
                          <a:latin typeface="ui-sans-serif"/>
                        </a:rPr>
                        <a:t>正奖励：成功穿过 </a:t>
                      </a:r>
                      <a:r>
                        <a:rPr lang="en-US" altLang="zh-CN" sz="1000" b="1">
                          <a:solidFill>
                            <a:srgbClr val="000000"/>
                          </a:solidFill>
                          <a:effectLst/>
                          <a:latin typeface="ui-sans-serif"/>
                        </a:rPr>
                        <a:t>1 </a:t>
                      </a:r>
                      <a:r>
                        <a:rPr lang="zh-CN" altLang="en-US" sz="1000" b="1">
                          <a:solidFill>
                            <a:srgbClr val="000000"/>
                          </a:solidFill>
                          <a:effectLst/>
                          <a:latin typeface="ui-sans-serif"/>
                        </a:rPr>
                        <a:t>组管道，</a:t>
                      </a:r>
                      <a:r>
                        <a:rPr lang="en-US" altLang="zh-CN" sz="1000" b="1">
                          <a:solidFill>
                            <a:srgbClr val="000000"/>
                          </a:solidFill>
                          <a:effectLst/>
                          <a:latin typeface="ui-sans-serif"/>
                        </a:rPr>
                        <a:t>+1</a:t>
                      </a:r>
                      <a:r>
                        <a:rPr lang="zh-CN" altLang="en-US" sz="1000" b="1">
                          <a:solidFill>
                            <a:srgbClr val="000000"/>
                          </a:solidFill>
                          <a:effectLst/>
                          <a:latin typeface="ui-sans-serif"/>
                        </a:rPr>
                        <a:t>分；靠近管道缝隙中心 </a:t>
                      </a:r>
                      <a:r>
                        <a:rPr lang="en-US" altLang="zh-CN" sz="1000" b="1">
                          <a:solidFill>
                            <a:srgbClr val="000000"/>
                          </a:solidFill>
                          <a:effectLst/>
                          <a:latin typeface="ui-sans-serif"/>
                        </a:rPr>
                        <a:t>+0.02*(1 - </a:t>
                      </a:r>
                      <a:r>
                        <a:rPr lang="zh-CN" altLang="en-US" sz="1000" b="1">
                          <a:solidFill>
                            <a:srgbClr val="000000"/>
                          </a:solidFill>
                          <a:effectLst/>
                          <a:latin typeface="ui-sans-serif"/>
                        </a:rPr>
                        <a:t>归一化距离</a:t>
                      </a:r>
                      <a:r>
                        <a:rPr lang="en-US" altLang="zh-CN" sz="1000" b="1">
                          <a:solidFill>
                            <a:srgbClr val="000000"/>
                          </a:solidFill>
                          <a:effectLst/>
                          <a:latin typeface="ui-sans-serif"/>
                        </a:rPr>
                        <a:t>)</a:t>
                      </a:r>
                      <a:endParaRPr lang="zh-CN" altLang="en-US" sz="1000" b="1">
                        <a:solidFill>
                          <a:srgbClr val="000000"/>
                        </a:solidFill>
                        <a:effectLst/>
                        <a:latin typeface="ui-sans-serif"/>
                      </a:endParaRPr>
                    </a:p>
                    <a:p>
                      <a:pPr algn="l"/>
                      <a:r>
                        <a:rPr lang="en-US" altLang="zh-CN" sz="1000" b="1">
                          <a:solidFill>
                            <a:srgbClr val="000000"/>
                          </a:solidFill>
                          <a:effectLst/>
                          <a:latin typeface="ui-sans-serif"/>
                        </a:rPr>
                        <a:t>2. </a:t>
                      </a:r>
                      <a:r>
                        <a:rPr lang="zh-CN" altLang="en-US" sz="1000" b="1">
                          <a:solidFill>
                            <a:srgbClr val="000000"/>
                          </a:solidFill>
                          <a:effectLst/>
                          <a:latin typeface="ui-sans-serif"/>
                        </a:rPr>
                        <a:t>负奖励：小鸟撞到管道、地面、天花板导致游戏结束，给予 </a:t>
                      </a:r>
                      <a:r>
                        <a:rPr lang="en-US" altLang="zh-CN" sz="1000" b="1">
                          <a:solidFill>
                            <a:srgbClr val="000000"/>
                          </a:solidFill>
                          <a:effectLst/>
                          <a:latin typeface="ui-sans-serif"/>
                        </a:rPr>
                        <a:t>– 1</a:t>
                      </a:r>
                      <a:r>
                        <a:rPr lang="zh-CN" altLang="en-US" sz="1000" b="1">
                          <a:solidFill>
                            <a:srgbClr val="000000"/>
                          </a:solidFill>
                          <a:effectLst/>
                          <a:latin typeface="ui-sans-serif"/>
                        </a:rPr>
                        <a:t>分</a:t>
                      </a:r>
                      <a:r>
                        <a:rPr lang="en-US" altLang="zh-CN" sz="1000" b="1">
                          <a:solidFill>
                            <a:srgbClr val="000000"/>
                          </a:solidFill>
                          <a:effectLst/>
                          <a:latin typeface="ui-sans-serif"/>
                        </a:rPr>
                        <a:t> </a:t>
                      </a:r>
                      <a:r>
                        <a:rPr lang="zh-CN" altLang="en-US" sz="1000" b="1">
                          <a:solidFill>
                            <a:srgbClr val="000000"/>
                          </a:solidFill>
                          <a:effectLst/>
                          <a:latin typeface="ui-sans-serif"/>
                        </a:rPr>
                        <a:t>的死亡惩罚，同时终止当前训练回合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191872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ui-sans-serif"/>
                        </a:rPr>
                        <a:t>Q-Table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ui-sans-serif"/>
                        </a:rPr>
                        <a:t>Q </a:t>
                      </a:r>
                      <a:r>
                        <a:rPr lang="zh-CN" altLang="en-US" sz="1000" b="1">
                          <a:solidFill>
                            <a:srgbClr val="000000"/>
                          </a:solidFill>
                          <a:effectLst/>
                          <a:latin typeface="ui-sans-serif"/>
                        </a:rPr>
                        <a:t>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000" b="1">
                          <a:solidFill>
                            <a:srgbClr val="000000"/>
                          </a:solidFill>
                          <a:effectLst/>
                          <a:latin typeface="ui-sans-serif"/>
                        </a:rPr>
                        <a:t>智能体的核心 “大脑” 是 </a:t>
                      </a:r>
                      <a:r>
                        <a:rPr lang="en-US" altLang="zh-CN" sz="1000" b="1">
                          <a:solidFill>
                            <a:srgbClr val="000000"/>
                          </a:solidFill>
                          <a:effectLst/>
                          <a:latin typeface="ui-sans-serif"/>
                        </a:rPr>
                        <a:t>Q </a:t>
                      </a:r>
                      <a:r>
                        <a:rPr lang="zh-CN" altLang="en-US" sz="1000" b="1">
                          <a:solidFill>
                            <a:srgbClr val="000000"/>
                          </a:solidFill>
                          <a:effectLst/>
                          <a:latin typeface="ui-sans-serif"/>
                        </a:rPr>
                        <a:t>表。是一个二维矩阵，行对应状态，列对应动作，每个元素代表对应状态 </a:t>
                      </a:r>
                      <a:r>
                        <a:rPr lang="en-US" altLang="zh-CN" sz="1000" b="1">
                          <a:solidFill>
                            <a:srgbClr val="000000"/>
                          </a:solidFill>
                          <a:effectLst/>
                          <a:latin typeface="ui-sans-serif"/>
                        </a:rPr>
                        <a:t>- </a:t>
                      </a:r>
                      <a:r>
                        <a:rPr lang="zh-CN" altLang="en-US" sz="1000" b="1">
                          <a:solidFill>
                            <a:srgbClr val="000000"/>
                          </a:solidFill>
                          <a:effectLst/>
                          <a:latin typeface="ui-sans-serif"/>
                        </a:rPr>
                        <a:t>动作对的长期价值估计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000" b="1">
                          <a:solidFill>
                            <a:srgbClr val="000000"/>
                          </a:solidFill>
                          <a:effectLst/>
                          <a:latin typeface="ui-sans-serif"/>
                        </a:rPr>
                        <a:t>指 </a:t>
                      </a:r>
                      <a:r>
                        <a:rPr lang="en-US" altLang="zh-CN" sz="1000" b="1">
                          <a:solidFill>
                            <a:srgbClr val="000000"/>
                          </a:solidFill>
                          <a:effectLst/>
                          <a:latin typeface="ui-sans-serif"/>
                        </a:rPr>
                        <a:t>Flappy Bird AI </a:t>
                      </a:r>
                      <a:r>
                        <a:rPr lang="zh-CN" altLang="en-US" sz="1000" b="1">
                          <a:solidFill>
                            <a:srgbClr val="000000"/>
                          </a:solidFill>
                          <a:effectLst/>
                          <a:latin typeface="ui-sans-serif"/>
                        </a:rPr>
                        <a:t>的核心决策表，是一个二维矩阵：</a:t>
                      </a:r>
                    </a:p>
                    <a:p>
                      <a:pPr algn="l"/>
                      <a:r>
                        <a:rPr lang="en-US" altLang="zh-CN" sz="1000" b="1">
                          <a:solidFill>
                            <a:srgbClr val="000000"/>
                          </a:solidFill>
                          <a:effectLst/>
                          <a:latin typeface="ui-sans-serif"/>
                        </a:rPr>
                        <a:t>- </a:t>
                      </a:r>
                      <a:r>
                        <a:rPr lang="zh-CN" altLang="en-US" sz="1000" b="1">
                          <a:solidFill>
                            <a:srgbClr val="000000"/>
                          </a:solidFill>
                          <a:effectLst/>
                          <a:latin typeface="ui-sans-serif"/>
                        </a:rPr>
                        <a:t>行：所有离散化后的游戏状态</a:t>
                      </a:r>
                    </a:p>
                    <a:p>
                      <a:pPr algn="l"/>
                      <a:r>
                        <a:rPr lang="en-US" altLang="zh-CN" sz="1000" b="1">
                          <a:solidFill>
                            <a:srgbClr val="000000"/>
                          </a:solidFill>
                          <a:effectLst/>
                          <a:latin typeface="ui-sans-serif"/>
                        </a:rPr>
                        <a:t>- </a:t>
                      </a:r>
                      <a:r>
                        <a:rPr lang="zh-CN" altLang="en-US" sz="1000" b="1">
                          <a:solidFill>
                            <a:srgbClr val="000000"/>
                          </a:solidFill>
                          <a:effectLst/>
                          <a:latin typeface="ui-sans-serif"/>
                        </a:rPr>
                        <a:t>列：</a:t>
                      </a:r>
                      <a:r>
                        <a:rPr lang="en-US" altLang="zh-CN" sz="1000" b="1">
                          <a:solidFill>
                            <a:srgbClr val="000000"/>
                          </a:solidFill>
                          <a:effectLst/>
                          <a:latin typeface="ui-sans-serif"/>
                        </a:rPr>
                        <a:t>2 </a:t>
                      </a:r>
                      <a:r>
                        <a:rPr lang="zh-CN" altLang="en-US" sz="1000" b="1">
                          <a:solidFill>
                            <a:srgbClr val="000000"/>
                          </a:solidFill>
                          <a:effectLst/>
                          <a:latin typeface="ui-sans-serif"/>
                        </a:rPr>
                        <a:t>个可执行动作（不动作 </a:t>
                      </a:r>
                      <a:r>
                        <a:rPr lang="en-US" altLang="zh-CN" sz="1000" b="1">
                          <a:solidFill>
                            <a:srgbClr val="000000"/>
                          </a:solidFill>
                          <a:effectLst/>
                          <a:latin typeface="ui-sans-serif"/>
                        </a:rPr>
                        <a:t>/</a:t>
                      </a:r>
                      <a:r>
                        <a:rPr lang="zh-CN" altLang="en-US" sz="1000" b="1">
                          <a:solidFill>
                            <a:srgbClr val="000000"/>
                          </a:solidFill>
                          <a:effectLst/>
                          <a:latin typeface="ui-sans-serif"/>
                        </a:rPr>
                        <a:t>上升）</a:t>
                      </a:r>
                    </a:p>
                    <a:p>
                      <a:pPr algn="l"/>
                      <a:r>
                        <a:rPr lang="en-US" altLang="zh-CN" sz="1000" b="1">
                          <a:solidFill>
                            <a:srgbClr val="000000"/>
                          </a:solidFill>
                          <a:effectLst/>
                          <a:latin typeface="ui-sans-serif"/>
                        </a:rPr>
                        <a:t>- </a:t>
                      </a:r>
                      <a:r>
                        <a:rPr lang="zh-CN" altLang="en-US" sz="1000" b="1">
                          <a:solidFill>
                            <a:srgbClr val="000000"/>
                          </a:solidFill>
                          <a:effectLst/>
                          <a:latin typeface="ui-sans-serif"/>
                        </a:rPr>
                        <a:t>单元格值：对应状态下执行对应动作的</a:t>
                      </a:r>
                      <a:r>
                        <a:rPr lang="zh-CN" altLang="en-US" sz="1000" b="1">
                          <a:solidFill>
                            <a:srgbClr val="C00000"/>
                          </a:solidFill>
                          <a:effectLst/>
                          <a:latin typeface="ui-sans-serif"/>
                        </a:rPr>
                        <a:t>长期价值</a:t>
                      </a:r>
                      <a:r>
                        <a:rPr lang="zh-CN" altLang="en-US" sz="1000" b="1">
                          <a:solidFill>
                            <a:srgbClr val="000000"/>
                          </a:solidFill>
                          <a:effectLst/>
                          <a:latin typeface="ui-sans-serif"/>
                        </a:rPr>
                        <a:t>估计，</a:t>
                      </a:r>
                      <a:r>
                        <a:rPr lang="en-US" altLang="zh-CN" sz="1000" b="1">
                          <a:solidFill>
                            <a:srgbClr val="000000"/>
                          </a:solidFill>
                          <a:effectLst/>
                          <a:latin typeface="ui-sans-serif"/>
                        </a:rPr>
                        <a:t> </a:t>
                      </a:r>
                      <a:r>
                        <a:rPr lang="zh-CN" altLang="en-US" sz="1000" b="1">
                          <a:solidFill>
                            <a:srgbClr val="000000"/>
                          </a:solidFill>
                          <a:effectLst/>
                          <a:latin typeface="ui-sans-serif"/>
                        </a:rPr>
                        <a:t>通过查询该表，选择当前状态下价值最高的动作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52061928"/>
                  </a:ext>
                </a:extLst>
              </a:tr>
            </a:tbl>
          </a:graphicData>
        </a:graphic>
      </p:graphicFrame>
      <p:pic>
        <p:nvPicPr>
          <p:cNvPr id="12" name="bird5.mp4">
            <a:hlinkClick r:id="" action="ppaction://media"/>
            <a:extLst>
              <a:ext uri="{FF2B5EF4-FFF2-40B4-BE49-F238E27FC236}">
                <a16:creationId xmlns:a16="http://schemas.microsoft.com/office/drawing/2014/main" id="{0B15355F-1006-4523-9E8A-8BB44EBA312D}"/>
              </a:ext>
            </a:extLst>
          </p:cNvPr>
          <p:cNvPicPr>
            <a:picLocks noChangeAspect="1" noChangeArrowheads="1"/>
          </p:cNvPicPr>
          <p:nvPr>
            <a:videoFile r:link="rId3"/>
            <p:extLst>
              <p:ext uri="{DAA4B4D4-6D71-4841-9C94-3DE7FCFB9230}">
                <p14:media xmlns:p14="http://schemas.microsoft.com/office/powerpoint/2010/main" r:link="rId2"/>
              </p:ext>
            </p:ext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221" y="2067898"/>
            <a:ext cx="3586864" cy="2690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9E0D2350-39E0-42F7-BD39-3F6B564B5919}"/>
              </a:ext>
            </a:extLst>
          </p:cNvPr>
          <p:cNvSpPr txBox="1"/>
          <p:nvPr/>
        </p:nvSpPr>
        <p:spPr>
          <a:xfrm>
            <a:off x="7744" y="4790102"/>
            <a:ext cx="3700341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i="0">
                <a:solidFill>
                  <a:srgbClr val="191B1F"/>
                </a:solidFill>
                <a:effectLst/>
                <a:latin typeface="-apple-system"/>
              </a:rPr>
              <a:t>理想状态下，在完成训练后，我们会获得一张完美的</a:t>
            </a:r>
            <a:r>
              <a:rPr lang="en-US" altLang="zh-CN" b="1" i="0">
                <a:solidFill>
                  <a:srgbClr val="191B1F"/>
                </a:solidFill>
                <a:effectLst/>
                <a:latin typeface="-apple-system"/>
              </a:rPr>
              <a:t>Q</a:t>
            </a:r>
            <a:r>
              <a:rPr lang="zh-CN" altLang="en-US" b="0" i="0">
                <a:solidFill>
                  <a:srgbClr val="191B1F"/>
                </a:solidFill>
                <a:effectLst/>
                <a:latin typeface="-apple-system"/>
              </a:rPr>
              <a:t>表格。我们希望只要小鸟根据当前位置查找到对应的行，选择</a:t>
            </a:r>
            <a:r>
              <a:rPr lang="zh-CN" altLang="en-US" b="1" i="0">
                <a:solidFill>
                  <a:srgbClr val="191B1F"/>
                </a:solidFill>
                <a:effectLst/>
                <a:latin typeface="-apple-system"/>
              </a:rPr>
              <a:t>效用值较大</a:t>
            </a:r>
            <a:r>
              <a:rPr lang="zh-CN" altLang="en-US" b="0" i="0">
                <a:solidFill>
                  <a:srgbClr val="191B1F"/>
                </a:solidFill>
                <a:effectLst/>
                <a:latin typeface="-apple-system"/>
              </a:rPr>
              <a:t>的动作作为当前帧的动作，就可以无限地存活。</a:t>
            </a:r>
            <a:endParaRPr lang="zh-CN" alt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2943122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7909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  <p:video>
              <p:cMediaNode vol="80000">
                <p:cTn id="12" fill="hold" display="0">
                  <p:stCondLst>
                    <p:cond delay="indefinite"/>
                  </p:stCondLst>
                </p:cTn>
                <p:tgtEl>
                  <p:spTgt spid="12"/>
                </p:tgtEl>
              </p:cMediaNode>
            </p:video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>
            <a:extLst>
              <a:ext uri="{FF2B5EF4-FFF2-40B4-BE49-F238E27FC236}">
                <a16:creationId xmlns:a16="http://schemas.microsoft.com/office/drawing/2014/main" id="{D439C34C-8A07-4906-9392-3555149431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33639"/>
            <a:ext cx="11615737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ß"/>
              <a:defRPr sz="3200" b="1">
                <a:solidFill>
                  <a:schemeClr val="tx1"/>
                </a:solidFill>
                <a:latin typeface="Consolas" panose="020B0609020204030204" pitchFamily="49" charset="0"/>
              </a:defRPr>
            </a:lvl1pPr>
            <a:lvl2pPr marL="742950" indent="-28575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 b="1">
                <a:solidFill>
                  <a:srgbClr val="333399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2pPr>
            <a:lvl3pPr marL="1143000" indent="-2286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 b="1">
                <a:solidFill>
                  <a:srgbClr val="3333CC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3pPr>
            <a:lvl4pPr marL="1600200" indent="-2286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4pPr>
            <a:lvl5pPr marL="2057400" indent="-2286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综合实践项目</a:t>
            </a:r>
            <a:r>
              <a:rPr kumimoji="1" lang="en-US" altLang="zh-CN" sz="32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——FlappyBird</a:t>
            </a:r>
            <a:r>
              <a:rPr kumimoji="1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闯关系统</a:t>
            </a:r>
            <a:endParaRPr kumimoji="1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文本框 52">
            <a:extLst>
              <a:ext uri="{FF2B5EF4-FFF2-40B4-BE49-F238E27FC236}">
                <a16:creationId xmlns:a16="http://schemas.microsoft.com/office/drawing/2014/main" id="{CA1398CE-542C-45B6-A7F8-870AE98BDB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4248" y="1029586"/>
            <a:ext cx="5964895" cy="9612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ß"/>
              <a:defRPr sz="3200" b="1">
                <a:solidFill>
                  <a:schemeClr val="tx1"/>
                </a:solidFill>
                <a:latin typeface="Consolas" panose="020B0609020204030204" pitchFamily="49" charset="0"/>
              </a:defRPr>
            </a:lvl1pPr>
            <a:lvl2pPr marL="800100" indent="-3429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 b="1">
                <a:solidFill>
                  <a:srgbClr val="333399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2pPr>
            <a:lvl3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 b="1">
                <a:solidFill>
                  <a:srgbClr val="3333CC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3pPr>
            <a:lvl4pPr marL="1714500" indent="-3429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4pPr>
            <a:lvl5pPr marL="2057400" indent="-2286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p"/>
              <a:tabLst/>
              <a:defRPr/>
            </a:pP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任务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5——</a:t>
            </a: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强化学习驱动的智能避障决策算法</a:t>
            </a: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800100" marR="0" lvl="1" indent="-34290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p"/>
              <a:tabLst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Q-learning</a:t>
            </a: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的迭代求解过程</a:t>
            </a: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62CB8F42-7CF0-4674-835F-8B45CEBCDF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4934590"/>
              </p:ext>
            </p:extLst>
          </p:nvPr>
        </p:nvGraphicFramePr>
        <p:xfrm>
          <a:off x="966973" y="3279072"/>
          <a:ext cx="1511300" cy="1346835"/>
        </p:xfrm>
        <a:graphic>
          <a:graphicData uri="http://schemas.openxmlformats.org/drawingml/2006/table">
            <a:tbl>
              <a:tblPr firstRow="1" firstCol="1" bandRow="1"/>
              <a:tblGrid>
                <a:gridCol w="419100">
                  <a:extLst>
                    <a:ext uri="{9D8B030D-6E8A-4147-A177-3AD203B41FA5}">
                      <a16:colId xmlns:a16="http://schemas.microsoft.com/office/drawing/2014/main" val="1412733399"/>
                    </a:ext>
                  </a:extLst>
                </a:gridCol>
                <a:gridCol w="546100">
                  <a:extLst>
                    <a:ext uri="{9D8B030D-6E8A-4147-A177-3AD203B41FA5}">
                      <a16:colId xmlns:a16="http://schemas.microsoft.com/office/drawing/2014/main" val="197492750"/>
                    </a:ext>
                  </a:extLst>
                </a:gridCol>
                <a:gridCol w="546100">
                  <a:extLst>
                    <a:ext uri="{9D8B030D-6E8A-4147-A177-3AD203B41FA5}">
                      <a16:colId xmlns:a16="http://schemas.microsoft.com/office/drawing/2014/main" val="131459547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a1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zh-CN" sz="105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不动作</a:t>
                      </a: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a2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zh-CN" altLang="en-US" sz="105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跳跃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55113462"/>
                  </a:ext>
                </a:extLst>
              </a:tr>
              <a:tr h="80010">
                <a:tc>
                  <a:txBody>
                    <a:bodyPr/>
                    <a:lstStyle/>
                    <a:p>
                      <a:pPr algn="just"/>
                      <a:r>
                        <a:rPr lang="en-US" sz="105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S1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05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05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49348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/>
                      <a:r>
                        <a:rPr lang="en-US" sz="105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S2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05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05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37653538"/>
                  </a:ext>
                </a:extLst>
              </a:tr>
              <a:tr h="80010">
                <a:tc>
                  <a:txBody>
                    <a:bodyPr/>
                    <a:lstStyle/>
                    <a:p>
                      <a:pPr algn="just"/>
                      <a:r>
                        <a:rPr lang="en-US" sz="105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S3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05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05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12486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/>
                      <a:r>
                        <a:rPr lang="en-US" sz="105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S4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05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05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68486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/>
                      <a:r>
                        <a:rPr lang="en-US" sz="105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S5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05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05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00017386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55680142"/>
                  </a:ext>
                </a:extLst>
              </a:tr>
            </a:tbl>
          </a:graphicData>
        </a:graphic>
      </p:graphicFrame>
      <p:sp>
        <p:nvSpPr>
          <p:cNvPr id="8" name="箭头: 右 7">
            <a:extLst>
              <a:ext uri="{FF2B5EF4-FFF2-40B4-BE49-F238E27FC236}">
                <a16:creationId xmlns:a16="http://schemas.microsoft.com/office/drawing/2014/main" id="{4B44D420-0066-4FAC-8388-DF109F7ACD20}"/>
              </a:ext>
            </a:extLst>
          </p:cNvPr>
          <p:cNvSpPr/>
          <p:nvPr/>
        </p:nvSpPr>
        <p:spPr>
          <a:xfrm>
            <a:off x="2831487" y="3771115"/>
            <a:ext cx="1027912" cy="34053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0D8B3B4-98E8-4F5D-9891-9480D1D205C1}"/>
              </a:ext>
            </a:extLst>
          </p:cNvPr>
          <p:cNvSpPr txBox="1"/>
          <p:nvPr/>
        </p:nvSpPr>
        <p:spPr>
          <a:xfrm>
            <a:off x="887082" y="2540408"/>
            <a:ext cx="2865111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/>
              <a:t>构建并初始化状态</a:t>
            </a:r>
            <a:r>
              <a:rPr lang="en-US" altLang="zh-CN" sz="1400" b="1"/>
              <a:t>-</a:t>
            </a:r>
            <a:r>
              <a:rPr lang="zh-CN" altLang="en-US" sz="1400" b="1"/>
              <a:t>动作价值表（</a:t>
            </a:r>
            <a:r>
              <a:rPr lang="en-US" altLang="zh-CN" sz="1400" b="1">
                <a:solidFill>
                  <a:srgbClr val="C00000"/>
                </a:solidFill>
              </a:rPr>
              <a:t>Q</a:t>
            </a:r>
            <a:r>
              <a:rPr lang="zh-CN" altLang="en-US" sz="1400" b="1">
                <a:solidFill>
                  <a:srgbClr val="C00000"/>
                </a:solidFill>
              </a:rPr>
              <a:t>表</a:t>
            </a:r>
            <a:r>
              <a:rPr lang="zh-CN" altLang="en-US" sz="1400" b="1"/>
              <a:t>）为全</a:t>
            </a:r>
            <a:r>
              <a:rPr lang="en-US" altLang="zh-CN" sz="1400" b="1"/>
              <a:t>0</a:t>
            </a:r>
            <a:r>
              <a:rPr lang="zh-CN" altLang="en-US" sz="1400" b="1"/>
              <a:t>，状态维度为 </a:t>
            </a:r>
            <a:r>
              <a:rPr lang="en-US" altLang="zh-CN" sz="1400" b="1"/>
              <a:t>[24×21×20×21]</a:t>
            </a:r>
            <a:r>
              <a:rPr lang="zh-CN" altLang="en-US" sz="1400" b="1"/>
              <a:t>，动作维度为</a:t>
            </a:r>
            <a:r>
              <a:rPr lang="en-US" altLang="zh-CN" sz="1400" b="1"/>
              <a:t>2</a:t>
            </a:r>
            <a:endParaRPr lang="zh-CN" altLang="en-US" sz="1400" b="1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6EC40219-E43F-4DE3-96A3-39DFC3C03E54}"/>
              </a:ext>
            </a:extLst>
          </p:cNvPr>
          <p:cNvSpPr txBox="1"/>
          <p:nvPr/>
        </p:nvSpPr>
        <p:spPr>
          <a:xfrm>
            <a:off x="6714534" y="1905217"/>
            <a:ext cx="480690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/>
              <a:t>智能体采用 </a:t>
            </a:r>
            <a:r>
              <a:rPr lang="en-US" altLang="zh-CN" sz="1400" b="1"/>
              <a:t>ε- </a:t>
            </a:r>
            <a:r>
              <a:rPr lang="zh-CN" altLang="en-US" sz="1400" b="1"/>
              <a:t>贪心策略，从当前状态中选择待执行的动作 </a:t>
            </a:r>
            <a:r>
              <a:rPr lang="zh-CN" altLang="en-US" sz="1400" b="1">
                <a:solidFill>
                  <a:srgbClr val="C00000"/>
                </a:solidFill>
              </a:rPr>
              <a:t>不动作</a:t>
            </a:r>
            <a:r>
              <a:rPr lang="en-US" altLang="zh-CN" sz="1400" b="1">
                <a:solidFill>
                  <a:srgbClr val="C00000"/>
                </a:solidFill>
              </a:rPr>
              <a:t>/</a:t>
            </a:r>
            <a:r>
              <a:rPr lang="zh-CN" altLang="en-US" sz="1400" b="1">
                <a:solidFill>
                  <a:srgbClr val="C00000"/>
                </a:solidFill>
              </a:rPr>
              <a:t>跳跃</a:t>
            </a:r>
            <a:r>
              <a:rPr lang="zh-CN" altLang="en-US" sz="1400" b="1"/>
              <a:t>。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EA3EFB2D-C4B8-4A84-891E-0ED360824D16}"/>
              </a:ext>
            </a:extLst>
          </p:cNvPr>
          <p:cNvSpPr txBox="1"/>
          <p:nvPr/>
        </p:nvSpPr>
        <p:spPr>
          <a:xfrm>
            <a:off x="887082" y="2149264"/>
            <a:ext cx="195489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>
                <a:solidFill>
                  <a:srgbClr val="0000FF"/>
                </a:solidFill>
              </a:rPr>
              <a:t>步骤 </a:t>
            </a:r>
            <a:r>
              <a:rPr lang="en-US" altLang="zh-CN" sz="1400" b="1">
                <a:solidFill>
                  <a:srgbClr val="0000FF"/>
                </a:solidFill>
              </a:rPr>
              <a:t>1</a:t>
            </a:r>
            <a:r>
              <a:rPr lang="zh-CN" altLang="en-US" sz="1400" b="1">
                <a:solidFill>
                  <a:srgbClr val="0000FF"/>
                </a:solidFill>
              </a:rPr>
              <a:t>：初始化阶段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8DFF3364-7106-4E08-A57C-D651C8F47F1F}"/>
              </a:ext>
            </a:extLst>
          </p:cNvPr>
          <p:cNvSpPr txBox="1"/>
          <p:nvPr/>
        </p:nvSpPr>
        <p:spPr>
          <a:xfrm>
            <a:off x="6714534" y="1560239"/>
            <a:ext cx="199906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>
                <a:solidFill>
                  <a:srgbClr val="0000FF"/>
                </a:solidFill>
              </a:rPr>
              <a:t>步骤 </a:t>
            </a:r>
            <a:r>
              <a:rPr lang="en-US" altLang="zh-CN" sz="1400" b="1">
                <a:solidFill>
                  <a:srgbClr val="0000FF"/>
                </a:solidFill>
              </a:rPr>
              <a:t>2</a:t>
            </a:r>
            <a:r>
              <a:rPr lang="zh-CN" altLang="en-US" sz="1400" b="1">
                <a:solidFill>
                  <a:srgbClr val="0000FF"/>
                </a:solidFill>
              </a:rPr>
              <a:t>：动作选择阶段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C6665C6B-96B0-4699-8750-6D8760D49FF0}"/>
              </a:ext>
            </a:extLst>
          </p:cNvPr>
          <p:cNvSpPr txBox="1"/>
          <p:nvPr/>
        </p:nvSpPr>
        <p:spPr>
          <a:xfrm>
            <a:off x="6714534" y="2662293"/>
            <a:ext cx="269511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>
                <a:solidFill>
                  <a:srgbClr val="0000FF"/>
                </a:solidFill>
              </a:rPr>
              <a:t>步骤 </a:t>
            </a:r>
            <a:r>
              <a:rPr lang="en-US" altLang="zh-CN" sz="1400" b="1">
                <a:solidFill>
                  <a:srgbClr val="0000FF"/>
                </a:solidFill>
              </a:rPr>
              <a:t>3</a:t>
            </a:r>
            <a:r>
              <a:rPr lang="zh-CN" altLang="en-US" sz="1400" b="1">
                <a:solidFill>
                  <a:srgbClr val="0000FF"/>
                </a:solidFill>
              </a:rPr>
              <a:t>：环境交互阶段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1515DE69-F30C-42C6-BEEB-1543C191C098}"/>
              </a:ext>
            </a:extLst>
          </p:cNvPr>
          <p:cNvSpPr txBox="1"/>
          <p:nvPr/>
        </p:nvSpPr>
        <p:spPr>
          <a:xfrm>
            <a:off x="6700511" y="2970070"/>
            <a:ext cx="491522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/>
              <a:t>智能体执行选定动作后，与环境交互并获取观测数据（当前状态</a:t>
            </a:r>
            <a:r>
              <a:rPr lang="en-US" altLang="zh-CN" sz="1400" b="1"/>
              <a:t>S1</a:t>
            </a:r>
            <a:r>
              <a:rPr lang="zh-CN" altLang="en-US" sz="1400" b="1"/>
              <a:t>、执行动作</a:t>
            </a:r>
            <a:r>
              <a:rPr lang="en-US" altLang="zh-CN" sz="1400" b="1"/>
              <a:t>a1</a:t>
            </a:r>
            <a:r>
              <a:rPr lang="zh-CN" altLang="en-US" sz="1400" b="1"/>
              <a:t>、即时奖励</a:t>
            </a:r>
            <a:r>
              <a:rPr lang="en-US" altLang="zh-CN" sz="1400" b="1"/>
              <a:t>R1</a:t>
            </a:r>
            <a:r>
              <a:rPr lang="zh-CN" altLang="en-US" sz="1400" b="1"/>
              <a:t>、下一状态</a:t>
            </a:r>
            <a:r>
              <a:rPr lang="en-US" altLang="zh-CN" sz="1400" b="1"/>
              <a:t>S2</a:t>
            </a:r>
            <a:r>
              <a:rPr lang="zh-CN" altLang="en-US" sz="1400" b="1"/>
              <a:t>）。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6F2A27E4-053C-4340-9CB7-62EE8194106B}"/>
              </a:ext>
            </a:extLst>
          </p:cNvPr>
          <p:cNvSpPr txBox="1"/>
          <p:nvPr/>
        </p:nvSpPr>
        <p:spPr>
          <a:xfrm>
            <a:off x="6714534" y="4343342"/>
            <a:ext cx="232856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>
                <a:solidFill>
                  <a:srgbClr val="0000FF"/>
                </a:solidFill>
              </a:rPr>
              <a:t>步骤 </a:t>
            </a:r>
            <a:r>
              <a:rPr lang="en-US" altLang="zh-CN" sz="1400" b="1">
                <a:solidFill>
                  <a:srgbClr val="0000FF"/>
                </a:solidFill>
              </a:rPr>
              <a:t>4</a:t>
            </a:r>
            <a:r>
              <a:rPr lang="zh-CN" altLang="en-US" sz="1400" b="1">
                <a:solidFill>
                  <a:srgbClr val="0000FF"/>
                </a:solidFill>
              </a:rPr>
              <a:t>：</a:t>
            </a:r>
            <a:r>
              <a:rPr lang="en-US" altLang="zh-CN" sz="1400" b="1">
                <a:solidFill>
                  <a:srgbClr val="0000FF"/>
                </a:solidFill>
              </a:rPr>
              <a:t>Q </a:t>
            </a:r>
            <a:r>
              <a:rPr lang="zh-CN" altLang="en-US" sz="1400" b="1">
                <a:solidFill>
                  <a:srgbClr val="0000FF"/>
                </a:solidFill>
              </a:rPr>
              <a:t>值更新阶段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72A41375-50F7-470A-BA15-11A382EDEC8D}"/>
              </a:ext>
            </a:extLst>
          </p:cNvPr>
          <p:cNvSpPr txBox="1"/>
          <p:nvPr/>
        </p:nvSpPr>
        <p:spPr>
          <a:xfrm>
            <a:off x="6700511" y="4599112"/>
            <a:ext cx="405787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/>
              <a:t>基于观测奖励与目标</a:t>
            </a:r>
            <a:r>
              <a:rPr lang="en-US" altLang="zh-CN" sz="1400" b="1"/>
              <a:t>Q</a:t>
            </a:r>
            <a:r>
              <a:rPr lang="zh-CN" altLang="en-US" sz="1400" b="1"/>
              <a:t>值，通过贝尔曼方程</a:t>
            </a:r>
            <a:r>
              <a:rPr lang="zh-CN" altLang="en-US" sz="1400" b="1">
                <a:solidFill>
                  <a:srgbClr val="C00000"/>
                </a:solidFill>
              </a:rPr>
              <a:t>更新</a:t>
            </a:r>
            <a:r>
              <a:rPr lang="zh-CN" altLang="en-US" sz="1400" b="1"/>
              <a:t>当前状态</a:t>
            </a:r>
            <a:r>
              <a:rPr lang="en-US" altLang="zh-CN" sz="1400" b="1"/>
              <a:t>-</a:t>
            </a:r>
            <a:r>
              <a:rPr lang="zh-CN" altLang="en-US" sz="1400" b="1"/>
              <a:t>动作对的</a:t>
            </a:r>
            <a:r>
              <a:rPr lang="en-US" altLang="zh-CN" sz="1400" b="1">
                <a:solidFill>
                  <a:srgbClr val="C00000"/>
                </a:solidFill>
              </a:rPr>
              <a:t>Q</a:t>
            </a:r>
            <a:r>
              <a:rPr lang="zh-CN" altLang="en-US" sz="1400" b="1">
                <a:solidFill>
                  <a:srgbClr val="C00000"/>
                </a:solidFill>
              </a:rPr>
              <a:t>值</a:t>
            </a:r>
            <a:r>
              <a:rPr lang="zh-CN" altLang="en-US" sz="1400" b="1"/>
              <a:t>：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B50CA3AF-71F9-4493-A6D7-9EEA7A5ED60D}"/>
              </a:ext>
            </a:extLst>
          </p:cNvPr>
          <p:cNvSpPr txBox="1"/>
          <p:nvPr/>
        </p:nvSpPr>
        <p:spPr>
          <a:xfrm>
            <a:off x="4118456" y="3609352"/>
            <a:ext cx="1936923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/>
              <a:t>循环：将</a:t>
            </a:r>
            <a:r>
              <a:rPr lang="en-US" altLang="zh-CN" sz="1400" b="1"/>
              <a:t>S2</a:t>
            </a:r>
            <a:r>
              <a:rPr lang="zh-CN" altLang="en-US" sz="1400" b="1"/>
              <a:t>设为新的当前状态，重复步骤</a:t>
            </a:r>
            <a:r>
              <a:rPr lang="en-US" altLang="zh-CN" sz="1400" b="1"/>
              <a:t>2-4</a:t>
            </a:r>
            <a:r>
              <a:rPr lang="zh-CN" altLang="en-US" sz="1400" b="1"/>
              <a:t>，直至算法收敛。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3178ED1E-A113-4EE7-B05D-4918B3B7297E}"/>
              </a:ext>
            </a:extLst>
          </p:cNvPr>
          <p:cNvSpPr txBox="1"/>
          <p:nvPr/>
        </p:nvSpPr>
        <p:spPr>
          <a:xfrm>
            <a:off x="2700372" y="3444091"/>
            <a:ext cx="115902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/>
              <a:t>初始状态</a:t>
            </a:r>
            <a:r>
              <a:rPr lang="en-US" altLang="zh-CN" sz="1400" b="1"/>
              <a:t>S1</a:t>
            </a:r>
            <a:endParaRPr lang="zh-CN" altLang="en-US" sz="1400" b="1"/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89F3A561-2A41-4B1A-B92B-75807B40BEDF}"/>
              </a:ext>
            </a:extLst>
          </p:cNvPr>
          <p:cNvSpPr/>
          <p:nvPr/>
        </p:nvSpPr>
        <p:spPr>
          <a:xfrm>
            <a:off x="4536604" y="2149264"/>
            <a:ext cx="129613" cy="136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箭头: 右 45">
            <a:extLst>
              <a:ext uri="{FF2B5EF4-FFF2-40B4-BE49-F238E27FC236}">
                <a16:creationId xmlns:a16="http://schemas.microsoft.com/office/drawing/2014/main" id="{F7CE2B9A-0D95-44FC-AD5E-764A94DCA833}"/>
              </a:ext>
            </a:extLst>
          </p:cNvPr>
          <p:cNvSpPr/>
          <p:nvPr/>
        </p:nvSpPr>
        <p:spPr>
          <a:xfrm>
            <a:off x="4536603" y="1944780"/>
            <a:ext cx="1800000" cy="324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4D21000C-D58E-4022-8332-882C4C48550A}"/>
              </a:ext>
            </a:extLst>
          </p:cNvPr>
          <p:cNvSpPr/>
          <p:nvPr/>
        </p:nvSpPr>
        <p:spPr>
          <a:xfrm>
            <a:off x="4704134" y="5664604"/>
            <a:ext cx="1749762" cy="16790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箭头: 上 47">
            <a:extLst>
              <a:ext uri="{FF2B5EF4-FFF2-40B4-BE49-F238E27FC236}">
                <a16:creationId xmlns:a16="http://schemas.microsoft.com/office/drawing/2014/main" id="{20D8C776-1DC5-4B5E-8CBC-D635DD33B91A}"/>
              </a:ext>
            </a:extLst>
          </p:cNvPr>
          <p:cNvSpPr/>
          <p:nvPr/>
        </p:nvSpPr>
        <p:spPr>
          <a:xfrm>
            <a:off x="4513129" y="4348016"/>
            <a:ext cx="224176" cy="1476000"/>
          </a:xfrm>
          <a:prstGeom prst="upArrow">
            <a:avLst>
              <a:gd name="adj1" fmla="val 71053"/>
              <a:gd name="adj2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58" name="组合 57">
            <a:extLst>
              <a:ext uri="{FF2B5EF4-FFF2-40B4-BE49-F238E27FC236}">
                <a16:creationId xmlns:a16="http://schemas.microsoft.com/office/drawing/2014/main" id="{A1B76EEC-C386-4DDB-A11C-B8ADDF713010}"/>
              </a:ext>
            </a:extLst>
          </p:cNvPr>
          <p:cNvGrpSpPr/>
          <p:nvPr/>
        </p:nvGrpSpPr>
        <p:grpSpPr>
          <a:xfrm>
            <a:off x="6694099" y="3707995"/>
            <a:ext cx="2137409" cy="645487"/>
            <a:chOff x="8781491" y="3207199"/>
            <a:chExt cx="2137409" cy="645487"/>
          </a:xfrm>
        </p:grpSpPr>
        <p:sp>
          <p:nvSpPr>
            <p:cNvPr id="49" name="椭圆 48">
              <a:extLst>
                <a:ext uri="{FF2B5EF4-FFF2-40B4-BE49-F238E27FC236}">
                  <a16:creationId xmlns:a16="http://schemas.microsoft.com/office/drawing/2014/main" id="{2C44C10D-16F4-4697-9841-C2555E3C5744}"/>
                </a:ext>
              </a:extLst>
            </p:cNvPr>
            <p:cNvSpPr/>
            <p:nvPr/>
          </p:nvSpPr>
          <p:spPr>
            <a:xfrm>
              <a:off x="8781491" y="3221982"/>
              <a:ext cx="523220" cy="523220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00">
                  <a:solidFill>
                    <a:schemeClr val="tx1"/>
                  </a:solidFill>
                </a:rPr>
                <a:t>S1</a:t>
              </a:r>
              <a:endParaRPr lang="zh-CN" altLang="en-US" sz="1000">
                <a:solidFill>
                  <a:schemeClr val="tx1"/>
                </a:solidFill>
              </a:endParaRPr>
            </a:p>
          </p:txBody>
        </p:sp>
        <p:sp>
          <p:nvSpPr>
            <p:cNvPr id="50" name="椭圆 49">
              <a:extLst>
                <a:ext uri="{FF2B5EF4-FFF2-40B4-BE49-F238E27FC236}">
                  <a16:creationId xmlns:a16="http://schemas.microsoft.com/office/drawing/2014/main" id="{037E18D9-578F-4AA3-85F2-EF0E72F2AF04}"/>
                </a:ext>
              </a:extLst>
            </p:cNvPr>
            <p:cNvSpPr/>
            <p:nvPr/>
          </p:nvSpPr>
          <p:spPr>
            <a:xfrm>
              <a:off x="10395680" y="3237132"/>
              <a:ext cx="523220" cy="523220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00">
                  <a:solidFill>
                    <a:schemeClr val="tx1"/>
                  </a:solidFill>
                </a:rPr>
                <a:t>S2</a:t>
              </a:r>
              <a:endParaRPr lang="zh-CN" altLang="en-US" sz="1000">
                <a:solidFill>
                  <a:schemeClr val="tx1"/>
                </a:solidFill>
              </a:endParaRPr>
            </a:p>
          </p:txBody>
        </p:sp>
        <p:cxnSp>
          <p:nvCxnSpPr>
            <p:cNvPr id="52" name="直接箭头连接符 51">
              <a:extLst>
                <a:ext uri="{FF2B5EF4-FFF2-40B4-BE49-F238E27FC236}">
                  <a16:creationId xmlns:a16="http://schemas.microsoft.com/office/drawing/2014/main" id="{6B54E170-BC2E-437F-A921-C1323E4DE339}"/>
                </a:ext>
              </a:extLst>
            </p:cNvPr>
            <p:cNvCxnSpPr>
              <a:stCxn id="49" idx="6"/>
              <a:endCxn id="50" idx="2"/>
            </p:cNvCxnSpPr>
            <p:nvPr/>
          </p:nvCxnSpPr>
          <p:spPr>
            <a:xfrm>
              <a:off x="9304711" y="3483592"/>
              <a:ext cx="1090969" cy="1515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椭圆 52">
              <a:extLst>
                <a:ext uri="{FF2B5EF4-FFF2-40B4-BE49-F238E27FC236}">
                  <a16:creationId xmlns:a16="http://schemas.microsoft.com/office/drawing/2014/main" id="{E6FC4112-0788-43CA-9037-7FAC1F346719}"/>
                </a:ext>
              </a:extLst>
            </p:cNvPr>
            <p:cNvSpPr/>
            <p:nvPr/>
          </p:nvSpPr>
          <p:spPr>
            <a:xfrm>
              <a:off x="9645037" y="3394645"/>
              <a:ext cx="205158" cy="20515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" name="文本框 53">
              <a:extLst>
                <a:ext uri="{FF2B5EF4-FFF2-40B4-BE49-F238E27FC236}">
                  <a16:creationId xmlns:a16="http://schemas.microsoft.com/office/drawing/2014/main" id="{BCBD97DE-166E-47EE-AA19-02E5F80AEBE9}"/>
                </a:ext>
              </a:extLst>
            </p:cNvPr>
            <p:cNvSpPr txBox="1"/>
            <p:nvPr/>
          </p:nvSpPr>
          <p:spPr>
            <a:xfrm>
              <a:off x="9535574" y="3544909"/>
              <a:ext cx="52322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400" b="1"/>
                <a:t>a1</a:t>
              </a:r>
              <a:endParaRPr lang="zh-CN" altLang="en-US" sz="1400" b="1"/>
            </a:p>
          </p:txBody>
        </p:sp>
        <p:sp>
          <p:nvSpPr>
            <p:cNvPr id="55" name="文本框 54">
              <a:extLst>
                <a:ext uri="{FF2B5EF4-FFF2-40B4-BE49-F238E27FC236}">
                  <a16:creationId xmlns:a16="http://schemas.microsoft.com/office/drawing/2014/main" id="{1A2BAF51-CA46-4C4E-91C7-C807C1588DF0}"/>
                </a:ext>
              </a:extLst>
            </p:cNvPr>
            <p:cNvSpPr txBox="1"/>
            <p:nvPr/>
          </p:nvSpPr>
          <p:spPr>
            <a:xfrm>
              <a:off x="9891784" y="3207199"/>
              <a:ext cx="550085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400" b="1"/>
                <a:t>R1</a:t>
              </a:r>
              <a:endParaRPr lang="zh-CN" altLang="en-US" sz="1400" b="1"/>
            </a:p>
          </p:txBody>
        </p:sp>
        <p:cxnSp>
          <p:nvCxnSpPr>
            <p:cNvPr id="57" name="连接符: 曲线 56">
              <a:extLst>
                <a:ext uri="{FF2B5EF4-FFF2-40B4-BE49-F238E27FC236}">
                  <a16:creationId xmlns:a16="http://schemas.microsoft.com/office/drawing/2014/main" id="{666E39C8-DC45-465E-873D-1772C56FB132}"/>
                </a:ext>
              </a:extLst>
            </p:cNvPr>
            <p:cNvCxnSpPr>
              <a:stCxn id="49" idx="0"/>
              <a:endCxn id="50" idx="0"/>
            </p:cNvCxnSpPr>
            <p:nvPr/>
          </p:nvCxnSpPr>
          <p:spPr>
            <a:xfrm rot="16200000" flipH="1">
              <a:off x="9842620" y="2422463"/>
              <a:ext cx="15150" cy="1614189"/>
            </a:xfrm>
            <a:prstGeom prst="curvedConnector3">
              <a:avLst>
                <a:gd name="adj1" fmla="val -1508911"/>
              </a:avLst>
            </a:prstGeom>
            <a:ln w="15875">
              <a:solidFill>
                <a:schemeClr val="accent4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2" name="组合 71">
            <a:extLst>
              <a:ext uri="{FF2B5EF4-FFF2-40B4-BE49-F238E27FC236}">
                <a16:creationId xmlns:a16="http://schemas.microsoft.com/office/drawing/2014/main" id="{70D820CE-EB65-410C-B0D2-B5DD05B4D14A}"/>
              </a:ext>
            </a:extLst>
          </p:cNvPr>
          <p:cNvGrpSpPr/>
          <p:nvPr/>
        </p:nvGrpSpPr>
        <p:grpSpPr>
          <a:xfrm>
            <a:off x="8582063" y="5872947"/>
            <a:ext cx="2906865" cy="651837"/>
            <a:chOff x="7268732" y="6024433"/>
            <a:chExt cx="2906865" cy="651837"/>
          </a:xfrm>
        </p:grpSpPr>
        <p:sp>
          <p:nvSpPr>
            <p:cNvPr id="60" name="椭圆 59">
              <a:extLst>
                <a:ext uri="{FF2B5EF4-FFF2-40B4-BE49-F238E27FC236}">
                  <a16:creationId xmlns:a16="http://schemas.microsoft.com/office/drawing/2014/main" id="{1B0DEF4B-739A-4B9A-975F-CA07C6F234BD}"/>
                </a:ext>
              </a:extLst>
            </p:cNvPr>
            <p:cNvSpPr/>
            <p:nvPr/>
          </p:nvSpPr>
          <p:spPr>
            <a:xfrm>
              <a:off x="7268732" y="6039216"/>
              <a:ext cx="523220" cy="523220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00">
                  <a:solidFill>
                    <a:schemeClr val="tx1"/>
                  </a:solidFill>
                </a:rPr>
                <a:t>S1</a:t>
              </a:r>
              <a:endParaRPr lang="zh-CN" altLang="en-US" sz="1000">
                <a:solidFill>
                  <a:schemeClr val="tx1"/>
                </a:solidFill>
              </a:endParaRPr>
            </a:p>
          </p:txBody>
        </p:sp>
        <p:sp>
          <p:nvSpPr>
            <p:cNvPr id="61" name="椭圆 60">
              <a:extLst>
                <a:ext uri="{FF2B5EF4-FFF2-40B4-BE49-F238E27FC236}">
                  <a16:creationId xmlns:a16="http://schemas.microsoft.com/office/drawing/2014/main" id="{44A4F1FC-E664-45AA-9D81-466A35276ADD}"/>
                </a:ext>
              </a:extLst>
            </p:cNvPr>
            <p:cNvSpPr/>
            <p:nvPr/>
          </p:nvSpPr>
          <p:spPr>
            <a:xfrm>
              <a:off x="8882921" y="6054366"/>
              <a:ext cx="523220" cy="523220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00">
                  <a:solidFill>
                    <a:schemeClr val="tx1"/>
                  </a:solidFill>
                </a:rPr>
                <a:t>S2</a:t>
              </a:r>
              <a:endParaRPr lang="zh-CN" altLang="en-US" sz="1000">
                <a:solidFill>
                  <a:schemeClr val="tx1"/>
                </a:solidFill>
              </a:endParaRPr>
            </a:p>
          </p:txBody>
        </p:sp>
        <p:cxnSp>
          <p:nvCxnSpPr>
            <p:cNvPr id="62" name="直接箭头连接符 61">
              <a:extLst>
                <a:ext uri="{FF2B5EF4-FFF2-40B4-BE49-F238E27FC236}">
                  <a16:creationId xmlns:a16="http://schemas.microsoft.com/office/drawing/2014/main" id="{681458AA-499D-43AF-AFF8-02DC9B418B5E}"/>
                </a:ext>
              </a:extLst>
            </p:cNvPr>
            <p:cNvCxnSpPr>
              <a:stCxn id="60" idx="6"/>
              <a:endCxn id="61" idx="2"/>
            </p:cNvCxnSpPr>
            <p:nvPr/>
          </p:nvCxnSpPr>
          <p:spPr>
            <a:xfrm>
              <a:off x="7791952" y="6300826"/>
              <a:ext cx="1090969" cy="1515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3" name="椭圆 62">
              <a:extLst>
                <a:ext uri="{FF2B5EF4-FFF2-40B4-BE49-F238E27FC236}">
                  <a16:creationId xmlns:a16="http://schemas.microsoft.com/office/drawing/2014/main" id="{CE7D57EF-3B34-415F-A6AF-6FE49C508F24}"/>
                </a:ext>
              </a:extLst>
            </p:cNvPr>
            <p:cNvSpPr/>
            <p:nvPr/>
          </p:nvSpPr>
          <p:spPr>
            <a:xfrm>
              <a:off x="8132278" y="6211879"/>
              <a:ext cx="205158" cy="20515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4" name="文本框 63">
              <a:extLst>
                <a:ext uri="{FF2B5EF4-FFF2-40B4-BE49-F238E27FC236}">
                  <a16:creationId xmlns:a16="http://schemas.microsoft.com/office/drawing/2014/main" id="{9239DE14-FE29-493D-9D16-ECFA7A0795AB}"/>
                </a:ext>
              </a:extLst>
            </p:cNvPr>
            <p:cNvSpPr txBox="1"/>
            <p:nvPr/>
          </p:nvSpPr>
          <p:spPr>
            <a:xfrm>
              <a:off x="8022815" y="6362143"/>
              <a:ext cx="52322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400" b="1"/>
                <a:t>Q1</a:t>
              </a:r>
              <a:endParaRPr lang="zh-CN" altLang="en-US" sz="1400" b="1"/>
            </a:p>
          </p:txBody>
        </p:sp>
        <p:sp>
          <p:nvSpPr>
            <p:cNvPr id="65" name="文本框 64">
              <a:extLst>
                <a:ext uri="{FF2B5EF4-FFF2-40B4-BE49-F238E27FC236}">
                  <a16:creationId xmlns:a16="http://schemas.microsoft.com/office/drawing/2014/main" id="{2C879800-2BBF-4689-AA5F-8C28ABBEB62E}"/>
                </a:ext>
              </a:extLst>
            </p:cNvPr>
            <p:cNvSpPr txBox="1"/>
            <p:nvPr/>
          </p:nvSpPr>
          <p:spPr>
            <a:xfrm>
              <a:off x="8379025" y="6024433"/>
              <a:ext cx="550085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400" b="1"/>
                <a:t>R1</a:t>
              </a:r>
              <a:endParaRPr lang="zh-CN" altLang="en-US" sz="1400" b="1"/>
            </a:p>
          </p:txBody>
        </p:sp>
        <p:cxnSp>
          <p:nvCxnSpPr>
            <p:cNvPr id="68" name="直接箭头连接符 67">
              <a:extLst>
                <a:ext uri="{FF2B5EF4-FFF2-40B4-BE49-F238E27FC236}">
                  <a16:creationId xmlns:a16="http://schemas.microsoft.com/office/drawing/2014/main" id="{A8E6E27E-8B80-49CB-B64E-D286140F937A}"/>
                </a:ext>
              </a:extLst>
            </p:cNvPr>
            <p:cNvCxnSpPr>
              <a:stCxn id="61" idx="6"/>
            </p:cNvCxnSpPr>
            <p:nvPr/>
          </p:nvCxnSpPr>
          <p:spPr>
            <a:xfrm flipV="1">
              <a:off x="9406141" y="6308401"/>
              <a:ext cx="492473" cy="757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9" name="文本框 68">
              <a:extLst>
                <a:ext uri="{FF2B5EF4-FFF2-40B4-BE49-F238E27FC236}">
                  <a16:creationId xmlns:a16="http://schemas.microsoft.com/office/drawing/2014/main" id="{A5B101EE-C4B3-4CF0-B200-331FD38AFA63}"/>
                </a:ext>
              </a:extLst>
            </p:cNvPr>
            <p:cNvSpPr txBox="1"/>
            <p:nvPr/>
          </p:nvSpPr>
          <p:spPr>
            <a:xfrm>
              <a:off x="9652377" y="6362143"/>
              <a:ext cx="52322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400" b="1"/>
                <a:t>Q4</a:t>
              </a:r>
              <a:endParaRPr lang="zh-CN" altLang="en-US" sz="1400" b="1"/>
            </a:p>
          </p:txBody>
        </p:sp>
        <p:cxnSp>
          <p:nvCxnSpPr>
            <p:cNvPr id="71" name="连接符: 曲线 70">
              <a:extLst>
                <a:ext uri="{FF2B5EF4-FFF2-40B4-BE49-F238E27FC236}">
                  <a16:creationId xmlns:a16="http://schemas.microsoft.com/office/drawing/2014/main" id="{10E57CE7-E140-4922-A769-E022EB7BA289}"/>
                </a:ext>
              </a:extLst>
            </p:cNvPr>
            <p:cNvCxnSpPr>
              <a:stCxn id="69" idx="2"/>
              <a:endCxn id="64" idx="2"/>
            </p:cNvCxnSpPr>
            <p:nvPr/>
          </p:nvCxnSpPr>
          <p:spPr>
            <a:xfrm rot="5400000">
              <a:off x="9099206" y="5855139"/>
              <a:ext cx="12700" cy="1629562"/>
            </a:xfrm>
            <a:prstGeom prst="curvedConnector3">
              <a:avLst>
                <a:gd name="adj1" fmla="val 1800000"/>
              </a:avLst>
            </a:prstGeom>
            <a:ln w="15875">
              <a:solidFill>
                <a:srgbClr val="7030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74" name="表格 73">
            <a:extLst>
              <a:ext uri="{FF2B5EF4-FFF2-40B4-BE49-F238E27FC236}">
                <a16:creationId xmlns:a16="http://schemas.microsoft.com/office/drawing/2014/main" id="{E30EB4BE-5F78-4EAB-95E1-D558F954C4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4695406"/>
              </p:ext>
            </p:extLst>
          </p:nvPr>
        </p:nvGraphicFramePr>
        <p:xfrm>
          <a:off x="6700511" y="5996192"/>
          <a:ext cx="1511300" cy="499110"/>
        </p:xfrm>
        <a:graphic>
          <a:graphicData uri="http://schemas.openxmlformats.org/drawingml/2006/table">
            <a:tbl>
              <a:tblPr firstRow="1" firstCol="1" bandRow="1"/>
              <a:tblGrid>
                <a:gridCol w="656222">
                  <a:extLst>
                    <a:ext uri="{9D8B030D-6E8A-4147-A177-3AD203B41FA5}">
                      <a16:colId xmlns:a16="http://schemas.microsoft.com/office/drawing/2014/main" val="553702769"/>
                    </a:ext>
                  </a:extLst>
                </a:gridCol>
                <a:gridCol w="855078">
                  <a:extLst>
                    <a:ext uri="{9D8B030D-6E8A-4147-A177-3AD203B41FA5}">
                      <a16:colId xmlns:a16="http://schemas.microsoft.com/office/drawing/2014/main" val="264832069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a1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zh-CN" sz="105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不动作</a:t>
                      </a: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01753466"/>
                  </a:ext>
                </a:extLst>
              </a:tr>
              <a:tr h="80010">
                <a:tc>
                  <a:txBody>
                    <a:bodyPr/>
                    <a:lstStyle/>
                    <a:p>
                      <a:pPr algn="just"/>
                      <a:r>
                        <a:rPr lang="en-US" sz="105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S1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050" kern="100">
                          <a:solidFill>
                            <a:srgbClr val="C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q’</a:t>
                      </a:r>
                      <a:endParaRPr lang="zh-CN" sz="1050" kern="100">
                        <a:solidFill>
                          <a:srgbClr val="C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66166420"/>
                  </a:ext>
                </a:extLst>
              </a:tr>
            </a:tbl>
          </a:graphicData>
        </a:graphic>
      </p:graphicFrame>
      <p:sp>
        <p:nvSpPr>
          <p:cNvPr id="76" name="文本框 75">
            <a:extLst>
              <a:ext uri="{FF2B5EF4-FFF2-40B4-BE49-F238E27FC236}">
                <a16:creationId xmlns:a16="http://schemas.microsoft.com/office/drawing/2014/main" id="{569C25E0-5A70-4F44-B8F7-FB45EEAAFEC3}"/>
              </a:ext>
            </a:extLst>
          </p:cNvPr>
          <p:cNvSpPr txBox="1"/>
          <p:nvPr/>
        </p:nvSpPr>
        <p:spPr>
          <a:xfrm>
            <a:off x="781060" y="4682851"/>
            <a:ext cx="312248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1200" b="1">
                <a:solidFill>
                  <a:srgbClr val="000000"/>
                </a:solidFill>
                <a:latin typeface="ui-sans-serif"/>
              </a:rPr>
              <a:t>状态</a:t>
            </a:r>
            <a:r>
              <a:rPr lang="en-US" altLang="zh-CN" sz="1200" b="1">
                <a:solidFill>
                  <a:srgbClr val="000000"/>
                </a:solidFill>
                <a:latin typeface="ui-sans-serif"/>
              </a:rPr>
              <a:t>S</a:t>
            </a:r>
            <a:r>
              <a:rPr lang="zh-CN" altLang="en-US" sz="1200" b="1">
                <a:solidFill>
                  <a:srgbClr val="000000"/>
                </a:solidFill>
                <a:effectLst/>
                <a:latin typeface="ui-sans-serif"/>
              </a:rPr>
              <a:t>核心特征包括（离散化）：</a:t>
            </a:r>
          </a:p>
          <a:p>
            <a:pPr algn="l"/>
            <a:r>
              <a:rPr lang="en-US" altLang="zh-CN" sz="1200" b="1">
                <a:solidFill>
                  <a:srgbClr val="000000"/>
                </a:solidFill>
                <a:effectLst/>
                <a:latin typeface="ui-sans-serif"/>
              </a:rPr>
              <a:t>1. </a:t>
            </a:r>
            <a:r>
              <a:rPr lang="zh-CN" altLang="en-US" sz="1200" b="1">
                <a:solidFill>
                  <a:srgbClr val="000000"/>
                </a:solidFill>
                <a:effectLst/>
                <a:latin typeface="ui-sans-serif"/>
              </a:rPr>
              <a:t>小鸟垂直位置（</a:t>
            </a:r>
            <a:r>
              <a:rPr lang="en-US" altLang="zh-CN" sz="1200" b="1">
                <a:solidFill>
                  <a:srgbClr val="000000"/>
                </a:solidFill>
                <a:effectLst/>
                <a:latin typeface="ui-sans-serif"/>
              </a:rPr>
              <a:t>24</a:t>
            </a:r>
            <a:r>
              <a:rPr lang="zh-CN" altLang="en-US" sz="1200" b="1">
                <a:solidFill>
                  <a:srgbClr val="000000"/>
                </a:solidFill>
                <a:effectLst/>
                <a:latin typeface="ui-sans-serif"/>
              </a:rPr>
              <a:t>分箱） </a:t>
            </a:r>
            <a:r>
              <a:rPr lang="en-US" altLang="zh-CN" sz="1200" b="1">
                <a:solidFill>
                  <a:srgbClr val="000000"/>
                </a:solidFill>
                <a:effectLst/>
                <a:latin typeface="ui-sans-serif"/>
              </a:rPr>
              <a:t>2. </a:t>
            </a:r>
            <a:r>
              <a:rPr lang="zh-CN" altLang="en-US" sz="1200" b="1">
                <a:solidFill>
                  <a:srgbClr val="000000"/>
                </a:solidFill>
                <a:effectLst/>
                <a:latin typeface="ui-sans-serif"/>
              </a:rPr>
              <a:t>小鸟垂直速度（</a:t>
            </a:r>
            <a:r>
              <a:rPr lang="en-US" altLang="zh-CN" sz="1200" b="1">
                <a:solidFill>
                  <a:srgbClr val="000000"/>
                </a:solidFill>
                <a:effectLst/>
                <a:latin typeface="ui-sans-serif"/>
              </a:rPr>
              <a:t>21</a:t>
            </a:r>
            <a:r>
              <a:rPr lang="zh-CN" altLang="en-US" sz="1200" b="1">
                <a:solidFill>
                  <a:srgbClr val="000000"/>
                </a:solidFill>
                <a:effectLst/>
                <a:latin typeface="ui-sans-serif"/>
              </a:rPr>
              <a:t>分箱）  </a:t>
            </a:r>
            <a:r>
              <a:rPr lang="en-US" altLang="zh-CN" sz="1200" b="1">
                <a:solidFill>
                  <a:srgbClr val="000000"/>
                </a:solidFill>
                <a:effectLst/>
                <a:latin typeface="ui-sans-serif"/>
              </a:rPr>
              <a:t>3. </a:t>
            </a:r>
            <a:r>
              <a:rPr lang="zh-CN" altLang="en-US" sz="1200" b="1">
                <a:solidFill>
                  <a:srgbClr val="000000"/>
                </a:solidFill>
                <a:effectLst/>
                <a:latin typeface="ui-sans-serif"/>
              </a:rPr>
              <a:t>与最近管道水平距离（</a:t>
            </a:r>
            <a:r>
              <a:rPr lang="en-US" altLang="zh-CN" sz="1200" b="1">
                <a:solidFill>
                  <a:srgbClr val="000000"/>
                </a:solidFill>
                <a:effectLst/>
                <a:latin typeface="ui-sans-serif"/>
              </a:rPr>
              <a:t>20</a:t>
            </a:r>
            <a:r>
              <a:rPr lang="zh-CN" altLang="en-US" sz="1200" b="1">
                <a:solidFill>
                  <a:srgbClr val="000000"/>
                </a:solidFill>
                <a:effectLst/>
                <a:latin typeface="ui-sans-serif"/>
              </a:rPr>
              <a:t>分箱） </a:t>
            </a:r>
            <a:r>
              <a:rPr lang="en-US" altLang="zh-CN" sz="1200" b="1">
                <a:solidFill>
                  <a:srgbClr val="000000"/>
                </a:solidFill>
                <a:effectLst/>
                <a:latin typeface="ui-sans-serif"/>
              </a:rPr>
              <a:t>4. </a:t>
            </a:r>
            <a:r>
              <a:rPr lang="zh-CN" altLang="en-US" sz="1200" b="1">
                <a:solidFill>
                  <a:srgbClr val="000000"/>
                </a:solidFill>
                <a:effectLst/>
                <a:latin typeface="ui-sans-serif"/>
              </a:rPr>
              <a:t>与管道间隙中心垂直距离（</a:t>
            </a:r>
            <a:r>
              <a:rPr lang="en-US" altLang="zh-CN" sz="1200" b="1">
                <a:solidFill>
                  <a:srgbClr val="000000"/>
                </a:solidFill>
                <a:effectLst/>
                <a:latin typeface="ui-sans-serif"/>
              </a:rPr>
              <a:t>21</a:t>
            </a:r>
            <a:r>
              <a:rPr lang="zh-CN" altLang="en-US" sz="1200" b="1">
                <a:solidFill>
                  <a:srgbClr val="000000"/>
                </a:solidFill>
                <a:effectLst/>
                <a:latin typeface="ui-sans-serif"/>
              </a:rPr>
              <a:t>分箱）</a:t>
            </a:r>
            <a:endParaRPr lang="zh-CN" altLang="en-US" sz="1200"/>
          </a:p>
        </p:txBody>
      </p:sp>
      <p:graphicFrame>
        <p:nvGraphicFramePr>
          <p:cNvPr id="77" name="表格 76">
            <a:extLst>
              <a:ext uri="{FF2B5EF4-FFF2-40B4-BE49-F238E27FC236}">
                <a16:creationId xmlns:a16="http://schemas.microsoft.com/office/drawing/2014/main" id="{281964ED-12D1-4FFB-AB98-FB572D1BB0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7906646"/>
              </p:ext>
            </p:extLst>
          </p:nvPr>
        </p:nvGraphicFramePr>
        <p:xfrm>
          <a:off x="8846255" y="3469806"/>
          <a:ext cx="3007997" cy="1120140"/>
        </p:xfrm>
        <a:graphic>
          <a:graphicData uri="http://schemas.openxmlformats.org/drawingml/2006/table">
            <a:tbl>
              <a:tblPr firstRow="1" firstCol="1" bandRow="1"/>
              <a:tblGrid>
                <a:gridCol w="1002545">
                  <a:extLst>
                    <a:ext uri="{9D8B030D-6E8A-4147-A177-3AD203B41FA5}">
                      <a16:colId xmlns:a16="http://schemas.microsoft.com/office/drawing/2014/main" val="3903729918"/>
                    </a:ext>
                  </a:extLst>
                </a:gridCol>
                <a:gridCol w="727068">
                  <a:extLst>
                    <a:ext uri="{9D8B030D-6E8A-4147-A177-3AD203B41FA5}">
                      <a16:colId xmlns:a16="http://schemas.microsoft.com/office/drawing/2014/main" val="1813091501"/>
                    </a:ext>
                  </a:extLst>
                </a:gridCol>
                <a:gridCol w="1278384">
                  <a:extLst>
                    <a:ext uri="{9D8B030D-6E8A-4147-A177-3AD203B41FA5}">
                      <a16:colId xmlns:a16="http://schemas.microsoft.com/office/drawing/2014/main" val="121451835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zh-CN" sz="1050" b="1" kern="100">
                          <a:solidFill>
                            <a:srgbClr val="1F2329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场景</a:t>
                      </a:r>
                      <a:endParaRPr lang="zh-CN" sz="1050" kern="100">
                        <a:effectLst/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050" b="1" kern="100">
                          <a:solidFill>
                            <a:srgbClr val="1F2329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奖励值</a:t>
                      </a:r>
                      <a:endParaRPr lang="zh-CN" sz="1050" kern="100">
                        <a:effectLst/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050" b="1" kern="100">
                          <a:solidFill>
                            <a:srgbClr val="1F2329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说明</a:t>
                      </a:r>
                      <a:endParaRPr lang="zh-CN" sz="1050" kern="100">
                        <a:effectLst/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03136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/>
                      <a:r>
                        <a:rPr lang="zh-CN" sz="1050" kern="100">
                          <a:solidFill>
                            <a:srgbClr val="1F2329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穿过管道（计分</a:t>
                      </a:r>
                      <a:r>
                        <a:rPr lang="en-US" sz="1050" kern="100">
                          <a:solidFill>
                            <a:srgbClr val="1F2329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+ 1</a:t>
                      </a:r>
                      <a:r>
                        <a:rPr lang="zh-CN" sz="1050" kern="100">
                          <a:solidFill>
                            <a:srgbClr val="1F2329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）</a:t>
                      </a:r>
                      <a:endParaRPr lang="zh-CN" sz="1050" kern="100">
                        <a:effectLst/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050" kern="100">
                          <a:solidFill>
                            <a:srgbClr val="1F2329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+1.0</a:t>
                      </a:r>
                      <a:endParaRPr lang="zh-CN" sz="1050" kern="100">
                        <a:effectLst/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zh-CN" sz="1050" kern="100">
                          <a:solidFill>
                            <a:srgbClr val="1F2329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核心正向奖励</a:t>
                      </a:r>
                      <a:endParaRPr lang="zh-CN" sz="1050" kern="100">
                        <a:effectLst/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899438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/>
                      <a:r>
                        <a:rPr lang="zh-CN" sz="1050" kern="100">
                          <a:solidFill>
                            <a:srgbClr val="1F2329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碰撞死亡</a:t>
                      </a:r>
                      <a:endParaRPr lang="zh-CN" sz="1050" kern="100">
                        <a:effectLst/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050" kern="100">
                          <a:solidFill>
                            <a:srgbClr val="1F2329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-1.0</a:t>
                      </a:r>
                      <a:endParaRPr lang="zh-CN" sz="1050" kern="100">
                        <a:effectLst/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zh-CN" sz="1050" kern="100">
                          <a:solidFill>
                            <a:srgbClr val="1F2329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核心负向奖励</a:t>
                      </a:r>
                      <a:endParaRPr lang="zh-CN" sz="1050" kern="100">
                        <a:effectLst/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418044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/>
                      <a:r>
                        <a:rPr lang="zh-CN" sz="1050" kern="100">
                          <a:solidFill>
                            <a:srgbClr val="1F2329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靠近管道缝隙中心</a:t>
                      </a:r>
                      <a:endParaRPr lang="zh-CN" sz="1050" kern="100">
                        <a:effectLst/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050" kern="100">
                          <a:solidFill>
                            <a:srgbClr val="1F2329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+0.02*(1 - </a:t>
                      </a:r>
                      <a:r>
                        <a:rPr lang="zh-CN" sz="1050" kern="100">
                          <a:solidFill>
                            <a:srgbClr val="1F2329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归一化距离</a:t>
                      </a:r>
                      <a:r>
                        <a:rPr lang="en-US" sz="1050" kern="100">
                          <a:solidFill>
                            <a:srgbClr val="1F2329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)</a:t>
                      </a:r>
                      <a:endParaRPr lang="zh-CN" sz="1050" kern="100">
                        <a:effectLst/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zh-CN" sz="1050" kern="100">
                          <a:solidFill>
                            <a:srgbClr val="1F2329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塑形奖励（引导小鸟对齐缝隙）</a:t>
                      </a:r>
                      <a:endParaRPr lang="zh-CN" sz="1050" kern="100">
                        <a:effectLst/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53730228"/>
                  </a:ext>
                </a:extLst>
              </a:tr>
            </a:tbl>
          </a:graphicData>
        </a:graphic>
      </p:graphicFrame>
      <p:sp>
        <p:nvSpPr>
          <p:cNvPr id="79" name="文本框 78">
            <a:extLst>
              <a:ext uri="{FF2B5EF4-FFF2-40B4-BE49-F238E27FC236}">
                <a16:creationId xmlns:a16="http://schemas.microsoft.com/office/drawing/2014/main" id="{798692AE-1A99-40D0-85FD-DDFB2DD000AD}"/>
              </a:ext>
            </a:extLst>
          </p:cNvPr>
          <p:cNvSpPr txBox="1"/>
          <p:nvPr/>
        </p:nvSpPr>
        <p:spPr>
          <a:xfrm>
            <a:off x="778873" y="5544626"/>
            <a:ext cx="346151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b="1">
                <a:solidFill>
                  <a:srgbClr val="C00000"/>
                </a:solidFill>
                <a:latin typeface="ui-sans-serif"/>
              </a:rPr>
              <a:t>将连续状态空间根据实际情况，映射为有限的离散索引，适配表格型 </a:t>
            </a:r>
            <a:r>
              <a:rPr lang="en-US" altLang="zh-CN" sz="1200" b="1">
                <a:solidFill>
                  <a:srgbClr val="C00000"/>
                </a:solidFill>
                <a:latin typeface="ui-sans-serif"/>
              </a:rPr>
              <a:t>Q-learning </a:t>
            </a:r>
            <a:r>
              <a:rPr lang="zh-CN" altLang="en-US" sz="1200" b="1">
                <a:solidFill>
                  <a:srgbClr val="C00000"/>
                </a:solidFill>
                <a:latin typeface="ui-sans-serif"/>
              </a:rPr>
              <a:t>的 </a:t>
            </a:r>
            <a:r>
              <a:rPr lang="en-US" altLang="zh-CN" sz="1200" b="1">
                <a:solidFill>
                  <a:srgbClr val="C00000"/>
                </a:solidFill>
                <a:latin typeface="ui-sans-serif"/>
              </a:rPr>
              <a:t>Q </a:t>
            </a:r>
            <a:r>
              <a:rPr lang="zh-CN" altLang="en-US" sz="1200" b="1">
                <a:solidFill>
                  <a:srgbClr val="C00000"/>
                </a:solidFill>
                <a:latin typeface="ui-sans-serif"/>
              </a:rPr>
              <a:t>表存储，避免维度爆炸</a:t>
            </a:r>
          </a:p>
        </p:txBody>
      </p:sp>
      <p:sp>
        <p:nvSpPr>
          <p:cNvPr id="81" name="文本框 80">
            <a:extLst>
              <a:ext uri="{FF2B5EF4-FFF2-40B4-BE49-F238E27FC236}">
                <a16:creationId xmlns:a16="http://schemas.microsoft.com/office/drawing/2014/main" id="{7A0C2C22-06E5-4D8A-8B64-98615855237D}"/>
              </a:ext>
            </a:extLst>
          </p:cNvPr>
          <p:cNvSpPr txBox="1"/>
          <p:nvPr/>
        </p:nvSpPr>
        <p:spPr>
          <a:xfrm>
            <a:off x="6694099" y="5411934"/>
            <a:ext cx="543095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/>
              <a:t>其中</a:t>
            </a:r>
            <a:r>
              <a:rPr lang="en-US" altLang="zh-CN" sz="1200"/>
              <a:t>α=0.1</a:t>
            </a:r>
            <a:r>
              <a:rPr lang="zh-CN" altLang="en-US" sz="1200"/>
              <a:t>（学习率），</a:t>
            </a:r>
            <a:r>
              <a:rPr lang="en-US" altLang="zh-CN" sz="1200"/>
              <a:t>γ=0.95</a:t>
            </a:r>
            <a:r>
              <a:rPr lang="zh-CN" altLang="en-US" sz="1200"/>
              <a:t>（折扣因子），目标</a:t>
            </a:r>
            <a:r>
              <a:rPr lang="en-US" altLang="zh-CN" sz="1200"/>
              <a:t>Q</a:t>
            </a:r>
            <a:r>
              <a:rPr lang="zh-CN" altLang="en-US" sz="1200"/>
              <a:t>值为下一状态下所有动作的最大</a:t>
            </a:r>
            <a:r>
              <a:rPr lang="en-US" altLang="zh-CN" sz="1200"/>
              <a:t>Q</a:t>
            </a:r>
            <a:r>
              <a:rPr lang="zh-CN" altLang="en-US" sz="1200"/>
              <a:t>值。</a:t>
            </a:r>
          </a:p>
        </p:txBody>
      </p:sp>
      <p:sp>
        <p:nvSpPr>
          <p:cNvPr id="83" name="文本框 82">
            <a:extLst>
              <a:ext uri="{FF2B5EF4-FFF2-40B4-BE49-F238E27FC236}">
                <a16:creationId xmlns:a16="http://schemas.microsoft.com/office/drawing/2014/main" id="{C9C24E20-1AD5-4564-94FF-DBC4FD497DA7}"/>
              </a:ext>
            </a:extLst>
          </p:cNvPr>
          <p:cNvSpPr txBox="1"/>
          <p:nvPr/>
        </p:nvSpPr>
        <p:spPr>
          <a:xfrm>
            <a:off x="6742943" y="5067673"/>
            <a:ext cx="51397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i="0">
                <a:solidFill>
                  <a:srgbClr val="333333"/>
                </a:solidFill>
                <a:effectLst/>
                <a:latin typeface="Helvetica Neue"/>
              </a:rPr>
              <a:t>Q(s, a) =Q(s, a) + </a:t>
            </a:r>
            <a:r>
              <a:rPr lang="el-GR" altLang="zh-CN" b="0" i="0">
                <a:solidFill>
                  <a:srgbClr val="333333"/>
                </a:solidFill>
                <a:effectLst/>
                <a:latin typeface="Helvetica Neue"/>
              </a:rPr>
              <a:t>α [ </a:t>
            </a:r>
            <a:r>
              <a:rPr lang="en-US" altLang="zh-CN" b="0" i="0">
                <a:solidFill>
                  <a:srgbClr val="333333"/>
                </a:solidFill>
                <a:effectLst/>
                <a:latin typeface="Helvetica Neue"/>
              </a:rPr>
              <a:t>r + </a:t>
            </a:r>
            <a:r>
              <a:rPr lang="el-GR" altLang="zh-CN" b="0" i="0">
                <a:solidFill>
                  <a:srgbClr val="333333"/>
                </a:solidFill>
                <a:effectLst/>
                <a:latin typeface="Helvetica Neue"/>
              </a:rPr>
              <a:t>γ </a:t>
            </a:r>
            <a:r>
              <a:rPr lang="en-US" altLang="zh-CN" b="0" i="0">
                <a:solidFill>
                  <a:srgbClr val="333333"/>
                </a:solidFill>
                <a:effectLst/>
                <a:latin typeface="Helvetica Neue"/>
              </a:rPr>
              <a:t>max Q(s′, a′) - Q(s, a)] 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459172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4" name="文本框 52">
            <a:extLst>
              <a:ext uri="{FF2B5EF4-FFF2-40B4-BE49-F238E27FC236}">
                <a16:creationId xmlns:a16="http://schemas.microsoft.com/office/drawing/2014/main" id="{9DA82089-C5DE-4EEF-9061-F9041F5237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4248" y="1029586"/>
            <a:ext cx="5964895" cy="9612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ß"/>
              <a:defRPr sz="3200" b="1">
                <a:solidFill>
                  <a:schemeClr val="tx1"/>
                </a:solidFill>
                <a:latin typeface="Consolas" panose="020B0609020204030204" pitchFamily="49" charset="0"/>
              </a:defRPr>
            </a:lvl1pPr>
            <a:lvl2pPr marL="800100" indent="-3429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 b="1">
                <a:solidFill>
                  <a:srgbClr val="333399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2pPr>
            <a:lvl3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 b="1">
                <a:solidFill>
                  <a:srgbClr val="3333CC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3pPr>
            <a:lvl4pPr marL="1714500" indent="-3429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4pPr>
            <a:lvl5pPr marL="2057400" indent="-2286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p"/>
              <a:tabLst/>
              <a:defRPr/>
            </a:pP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任务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5——</a:t>
            </a: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强化学习驱动的智能避障决策算法</a:t>
            </a: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800100" marR="0" lvl="1" indent="-34290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p"/>
              <a:tabLst/>
              <a:defRPr/>
            </a:pPr>
            <a:r>
              <a:rPr lang="zh-CN" altLang="en-US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数据结构</a:t>
            </a: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1DF8E92B-827B-3B38-FC63-8B8DF643BB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33639"/>
            <a:ext cx="11615737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ß"/>
              <a:defRPr sz="3200" b="1">
                <a:solidFill>
                  <a:schemeClr val="tx1"/>
                </a:solidFill>
                <a:latin typeface="Consolas" panose="020B0609020204030204" pitchFamily="49" charset="0"/>
              </a:defRPr>
            </a:lvl1pPr>
            <a:lvl2pPr marL="742950" indent="-28575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 b="1">
                <a:solidFill>
                  <a:srgbClr val="333399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2pPr>
            <a:lvl3pPr marL="1143000" indent="-2286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 b="1">
                <a:solidFill>
                  <a:srgbClr val="3333CC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3pPr>
            <a:lvl4pPr marL="1600200" indent="-2286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4pPr>
            <a:lvl5pPr marL="2057400" indent="-2286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综合实践项目</a:t>
            </a:r>
            <a:r>
              <a:rPr kumimoji="1" lang="en-US" altLang="zh-CN" sz="32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——FlappyBird</a:t>
            </a:r>
            <a:r>
              <a:rPr kumimoji="1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闯关系统</a:t>
            </a:r>
            <a:endParaRPr kumimoji="1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4178632D-29DB-596B-388D-DB7E3E0C3BE0}"/>
              </a:ext>
            </a:extLst>
          </p:cNvPr>
          <p:cNvCxnSpPr>
            <a:cxnSpLocks/>
          </p:cNvCxnSpPr>
          <p:nvPr/>
        </p:nvCxnSpPr>
        <p:spPr>
          <a:xfrm>
            <a:off x="6149143" y="1291472"/>
            <a:ext cx="0" cy="4846416"/>
          </a:xfrm>
          <a:prstGeom prst="line">
            <a:avLst/>
          </a:prstGeom>
          <a:ln w="28575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B5769576-B23C-42C3-96C9-C6A72540C286}"/>
              </a:ext>
            </a:extLst>
          </p:cNvPr>
          <p:cNvSpPr txBox="1"/>
          <p:nvPr/>
        </p:nvSpPr>
        <p:spPr>
          <a:xfrm>
            <a:off x="373643" y="2124822"/>
            <a:ext cx="6094948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>
                <a:solidFill>
                  <a:srgbClr val="008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// Q</a:t>
            </a:r>
            <a:r>
              <a:rPr lang="zh-CN" altLang="en-US" sz="1800">
                <a:solidFill>
                  <a:srgbClr val="008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表的维度和动作</a:t>
            </a:r>
            <a:endParaRPr lang="zh-CN" altLang="en-US" sz="1800">
              <a:solidFill>
                <a:srgbClr val="000000"/>
              </a:solidFill>
              <a:highlight>
                <a:srgbClr val="FFFFFF"/>
              </a:highlight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r>
              <a:rPr lang="en-US" altLang="zh-CN" sz="1800">
                <a:solidFill>
                  <a:srgbClr val="80808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#define</a:t>
            </a:r>
            <a:r>
              <a:rPr lang="en-US" altLang="zh-CN" sz="1800">
                <a:solidFill>
                  <a:srgbClr val="000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 </a:t>
            </a:r>
            <a:r>
              <a:rPr lang="en-US" altLang="zh-CN" sz="1800">
                <a:solidFill>
                  <a:srgbClr val="6F008A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Y_BIN</a:t>
            </a:r>
            <a:r>
              <a:rPr lang="en-US" altLang="zh-CN" sz="1800">
                <a:solidFill>
                  <a:srgbClr val="000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 24</a:t>
            </a:r>
          </a:p>
          <a:p>
            <a:r>
              <a:rPr lang="en-US" altLang="zh-CN" sz="1800">
                <a:solidFill>
                  <a:srgbClr val="80808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#define</a:t>
            </a:r>
            <a:r>
              <a:rPr lang="en-US" altLang="zh-CN" sz="1800">
                <a:solidFill>
                  <a:srgbClr val="000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 </a:t>
            </a:r>
            <a:r>
              <a:rPr lang="en-US" altLang="zh-CN" sz="1800">
                <a:solidFill>
                  <a:srgbClr val="6F008A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V_BIN</a:t>
            </a:r>
            <a:r>
              <a:rPr lang="en-US" altLang="zh-CN" sz="1800">
                <a:solidFill>
                  <a:srgbClr val="000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 21</a:t>
            </a:r>
          </a:p>
          <a:p>
            <a:r>
              <a:rPr lang="en-US" altLang="zh-CN" sz="1800">
                <a:solidFill>
                  <a:srgbClr val="80808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#define</a:t>
            </a:r>
            <a:r>
              <a:rPr lang="en-US" altLang="zh-CN" sz="1800">
                <a:solidFill>
                  <a:srgbClr val="000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 </a:t>
            </a:r>
            <a:r>
              <a:rPr lang="en-US" altLang="zh-CN" sz="1800">
                <a:solidFill>
                  <a:srgbClr val="6F008A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DX_BIN</a:t>
            </a:r>
            <a:r>
              <a:rPr lang="en-US" altLang="zh-CN" sz="1800">
                <a:solidFill>
                  <a:srgbClr val="000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 20</a:t>
            </a:r>
          </a:p>
          <a:p>
            <a:r>
              <a:rPr lang="en-US" altLang="zh-CN" sz="1800">
                <a:solidFill>
                  <a:srgbClr val="80808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#define</a:t>
            </a:r>
            <a:r>
              <a:rPr lang="en-US" altLang="zh-CN" sz="1800">
                <a:solidFill>
                  <a:srgbClr val="000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 </a:t>
            </a:r>
            <a:r>
              <a:rPr lang="en-US" altLang="zh-CN" sz="1800">
                <a:solidFill>
                  <a:srgbClr val="6F008A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DY_BIN</a:t>
            </a:r>
            <a:r>
              <a:rPr lang="en-US" altLang="zh-CN" sz="1800">
                <a:solidFill>
                  <a:srgbClr val="000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 21</a:t>
            </a:r>
          </a:p>
          <a:p>
            <a:r>
              <a:rPr lang="en-US" altLang="zh-CN" sz="1800">
                <a:solidFill>
                  <a:srgbClr val="80808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#define</a:t>
            </a:r>
            <a:r>
              <a:rPr lang="en-US" altLang="zh-CN" sz="1800">
                <a:solidFill>
                  <a:srgbClr val="000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 </a:t>
            </a:r>
            <a:r>
              <a:rPr lang="en-US" altLang="zh-CN" sz="1800">
                <a:solidFill>
                  <a:srgbClr val="6F008A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ACTIONS</a:t>
            </a:r>
            <a:r>
              <a:rPr lang="en-US" altLang="zh-CN" sz="1800">
                <a:solidFill>
                  <a:srgbClr val="000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 2</a:t>
            </a:r>
          </a:p>
          <a:p>
            <a:endParaRPr lang="en-US" altLang="zh-CN" sz="1800">
              <a:solidFill>
                <a:srgbClr val="008000"/>
              </a:solidFill>
              <a:highlight>
                <a:srgbClr val="FFFFFF"/>
              </a:highlight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r>
              <a:rPr lang="en-US" altLang="zh-CN" sz="1800">
                <a:solidFill>
                  <a:srgbClr val="008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// Q</a:t>
            </a:r>
            <a:r>
              <a:rPr lang="zh-CN" altLang="en-US" sz="1800">
                <a:solidFill>
                  <a:srgbClr val="008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表存储</a:t>
            </a:r>
            <a:endParaRPr lang="zh-CN" altLang="en-US" sz="1800">
              <a:solidFill>
                <a:srgbClr val="000000"/>
              </a:solidFill>
              <a:highlight>
                <a:srgbClr val="FFFFFF"/>
              </a:highlight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r>
              <a:rPr lang="de-DE" altLang="zh-CN" sz="1800">
                <a:solidFill>
                  <a:srgbClr val="0000FF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static</a:t>
            </a:r>
            <a:r>
              <a:rPr lang="de-DE" altLang="zh-CN" sz="1800">
                <a:solidFill>
                  <a:srgbClr val="000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 </a:t>
            </a:r>
            <a:r>
              <a:rPr lang="de-DE" altLang="zh-CN" sz="1800">
                <a:solidFill>
                  <a:srgbClr val="0000FF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float</a:t>
            </a:r>
            <a:r>
              <a:rPr lang="de-DE" altLang="zh-CN" sz="1800">
                <a:solidFill>
                  <a:srgbClr val="000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 Q[</a:t>
            </a:r>
            <a:r>
              <a:rPr lang="de-DE" altLang="zh-CN" sz="1800">
                <a:solidFill>
                  <a:srgbClr val="6F008A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Y_BIN</a:t>
            </a:r>
            <a:r>
              <a:rPr lang="de-DE" altLang="zh-CN" sz="1800">
                <a:solidFill>
                  <a:srgbClr val="000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][</a:t>
            </a:r>
            <a:r>
              <a:rPr lang="de-DE" altLang="zh-CN" sz="1800">
                <a:solidFill>
                  <a:srgbClr val="6F008A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V_BIN</a:t>
            </a:r>
            <a:r>
              <a:rPr lang="de-DE" altLang="zh-CN" sz="1800">
                <a:solidFill>
                  <a:srgbClr val="000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][</a:t>
            </a:r>
            <a:r>
              <a:rPr lang="de-DE" altLang="zh-CN" sz="1800">
                <a:solidFill>
                  <a:srgbClr val="6F008A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DX_BIN</a:t>
            </a:r>
            <a:r>
              <a:rPr lang="de-DE" altLang="zh-CN" sz="1800">
                <a:solidFill>
                  <a:srgbClr val="000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][</a:t>
            </a:r>
            <a:r>
              <a:rPr lang="de-DE" altLang="zh-CN" sz="1800">
                <a:solidFill>
                  <a:srgbClr val="6F008A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DY_BIN</a:t>
            </a:r>
            <a:r>
              <a:rPr lang="de-DE" altLang="zh-CN" sz="1800">
                <a:solidFill>
                  <a:srgbClr val="000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][</a:t>
            </a:r>
            <a:r>
              <a:rPr lang="de-DE" altLang="zh-CN" sz="1800">
                <a:solidFill>
                  <a:srgbClr val="6F008A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ACTIONS</a:t>
            </a:r>
            <a:r>
              <a:rPr lang="de-DE" altLang="zh-CN" sz="1800">
                <a:solidFill>
                  <a:srgbClr val="000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];</a:t>
            </a:r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04FBF806-CD95-42F6-AAF1-B649DD1479B2}"/>
              </a:ext>
            </a:extLst>
          </p:cNvPr>
          <p:cNvSpPr txBox="1"/>
          <p:nvPr/>
        </p:nvSpPr>
        <p:spPr>
          <a:xfrm>
            <a:off x="373643" y="5081830"/>
            <a:ext cx="5208927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zh-CN" b="1">
                <a:solidFill>
                  <a:srgbClr val="3333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5 </a:t>
            </a:r>
            <a:r>
              <a:rPr lang="zh-CN" altLang="zh-CN" b="1">
                <a:solidFill>
                  <a:srgbClr val="3333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维数组，维度对应离散化的状态</a:t>
            </a:r>
            <a:r>
              <a:rPr lang="en-US" altLang="zh-CN" b="1">
                <a:solidFill>
                  <a:srgbClr val="3333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+ </a:t>
            </a:r>
            <a:r>
              <a:rPr lang="zh-CN" altLang="zh-CN" b="1">
                <a:solidFill>
                  <a:srgbClr val="3333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动作</a:t>
            </a:r>
          </a:p>
          <a:p>
            <a:pPr algn="just"/>
            <a:r>
              <a:rPr lang="zh-CN" altLang="zh-CN" b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状态由四个离散化的变量表示：</a:t>
            </a:r>
            <a:endParaRPr lang="en-US" altLang="zh-CN" b="1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just"/>
            <a:r>
              <a:rPr lang="zh-CN" altLang="zh-CN" b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小鸟</a:t>
            </a:r>
            <a:r>
              <a:rPr lang="en-US" altLang="zh-CN" b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Y </a:t>
            </a:r>
            <a:r>
              <a:rPr lang="zh-CN" altLang="zh-CN" b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坐标、速度、与最近管道水平距离、与管道间隙中心垂直距离</a:t>
            </a:r>
          </a:p>
          <a:p>
            <a:pPr algn="just"/>
            <a:r>
              <a:rPr lang="zh-CN" altLang="zh-CN" b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动作空间包含两种操作：</a:t>
            </a:r>
            <a:r>
              <a:rPr lang="en-US" altLang="zh-CN" b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0</a:t>
            </a:r>
            <a:r>
              <a:rPr lang="zh-CN" altLang="zh-CN" b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：不动作</a:t>
            </a:r>
            <a:r>
              <a:rPr lang="en-US" altLang="zh-CN" b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;1</a:t>
            </a:r>
            <a:r>
              <a:rPr lang="zh-CN" altLang="zh-CN" b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：跳跃。</a:t>
            </a:r>
          </a:p>
        </p:txBody>
      </p:sp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E6119748-FF80-4653-95AD-2D59088C97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2511689"/>
              </p:ext>
            </p:extLst>
          </p:nvPr>
        </p:nvGraphicFramePr>
        <p:xfrm>
          <a:off x="3306576" y="2124822"/>
          <a:ext cx="2432072" cy="1846676"/>
        </p:xfrm>
        <a:graphic>
          <a:graphicData uri="http://schemas.openxmlformats.org/drawingml/2006/table">
            <a:tbl>
              <a:tblPr firstRow="1" firstCol="1" bandRow="1"/>
              <a:tblGrid>
                <a:gridCol w="674440">
                  <a:extLst>
                    <a:ext uri="{9D8B030D-6E8A-4147-A177-3AD203B41FA5}">
                      <a16:colId xmlns:a16="http://schemas.microsoft.com/office/drawing/2014/main" val="1412733399"/>
                    </a:ext>
                  </a:extLst>
                </a:gridCol>
                <a:gridCol w="878816">
                  <a:extLst>
                    <a:ext uri="{9D8B030D-6E8A-4147-A177-3AD203B41FA5}">
                      <a16:colId xmlns:a16="http://schemas.microsoft.com/office/drawing/2014/main" val="197492750"/>
                    </a:ext>
                  </a:extLst>
                </a:gridCol>
                <a:gridCol w="878816">
                  <a:extLst>
                    <a:ext uri="{9D8B030D-6E8A-4147-A177-3AD203B41FA5}">
                      <a16:colId xmlns:a16="http://schemas.microsoft.com/office/drawing/2014/main" val="1314595474"/>
                    </a:ext>
                  </a:extLst>
                </a:gridCol>
              </a:tblGrid>
              <a:tr h="451874">
                <a:tc>
                  <a:txBody>
                    <a:bodyPr/>
                    <a:lstStyle/>
                    <a:p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a1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zh-CN" sz="105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不动作</a:t>
                      </a: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a2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zh-CN" altLang="en-US" sz="105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跳跃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55113462"/>
                  </a:ext>
                </a:extLst>
              </a:tr>
              <a:tr h="232467">
                <a:tc>
                  <a:txBody>
                    <a:bodyPr/>
                    <a:lstStyle/>
                    <a:p>
                      <a:pPr algn="just"/>
                      <a:r>
                        <a:rPr lang="en-US" sz="105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S1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05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05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4934811"/>
                  </a:ext>
                </a:extLst>
              </a:tr>
              <a:tr h="232467">
                <a:tc>
                  <a:txBody>
                    <a:bodyPr/>
                    <a:lstStyle/>
                    <a:p>
                      <a:pPr algn="just"/>
                      <a:r>
                        <a:rPr lang="en-US" sz="105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S2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05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05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37653538"/>
                  </a:ext>
                </a:extLst>
              </a:tr>
              <a:tr h="232467">
                <a:tc>
                  <a:txBody>
                    <a:bodyPr/>
                    <a:lstStyle/>
                    <a:p>
                      <a:pPr algn="just"/>
                      <a:r>
                        <a:rPr lang="en-US" sz="105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S3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05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05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1248612"/>
                  </a:ext>
                </a:extLst>
              </a:tr>
              <a:tr h="232467">
                <a:tc>
                  <a:txBody>
                    <a:bodyPr/>
                    <a:lstStyle/>
                    <a:p>
                      <a:pPr algn="just"/>
                      <a:r>
                        <a:rPr lang="en-US" sz="105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S4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05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05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6848616"/>
                  </a:ext>
                </a:extLst>
              </a:tr>
              <a:tr h="232467">
                <a:tc>
                  <a:txBody>
                    <a:bodyPr/>
                    <a:lstStyle/>
                    <a:p>
                      <a:pPr algn="just"/>
                      <a:r>
                        <a:rPr lang="en-US" sz="105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S5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05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050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00017386"/>
                  </a:ext>
                </a:extLst>
              </a:tr>
              <a:tr h="232467">
                <a:tc>
                  <a:txBody>
                    <a:bodyPr/>
                    <a:lstStyle/>
                    <a:p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55680142"/>
                  </a:ext>
                </a:extLst>
              </a:tr>
            </a:tbl>
          </a:graphicData>
        </a:graphic>
      </p:graphicFrame>
      <p:sp>
        <p:nvSpPr>
          <p:cNvPr id="13" name="文本框 12">
            <a:extLst>
              <a:ext uri="{FF2B5EF4-FFF2-40B4-BE49-F238E27FC236}">
                <a16:creationId xmlns:a16="http://schemas.microsoft.com/office/drawing/2014/main" id="{0C532281-F013-448B-B2D5-57F055E002BB}"/>
              </a:ext>
            </a:extLst>
          </p:cNvPr>
          <p:cNvSpPr txBox="1"/>
          <p:nvPr/>
        </p:nvSpPr>
        <p:spPr>
          <a:xfrm>
            <a:off x="6609432" y="5274146"/>
            <a:ext cx="609494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>
                <a:solidFill>
                  <a:srgbClr val="008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// </a:t>
            </a:r>
            <a:r>
              <a:rPr lang="zh-CN" altLang="en-US" sz="1800">
                <a:solidFill>
                  <a:srgbClr val="008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游戏模式枚举</a:t>
            </a:r>
            <a:endParaRPr lang="zh-CN" altLang="en-US" sz="1800">
              <a:solidFill>
                <a:srgbClr val="000000"/>
              </a:solidFill>
              <a:highlight>
                <a:srgbClr val="FFFFFF"/>
              </a:highlight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r>
              <a:rPr lang="en-US" altLang="zh-CN" sz="1800">
                <a:solidFill>
                  <a:srgbClr val="0000FF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typedef</a:t>
            </a:r>
            <a:r>
              <a:rPr lang="en-US" altLang="zh-CN" sz="1800">
                <a:solidFill>
                  <a:srgbClr val="000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 </a:t>
            </a:r>
            <a:r>
              <a:rPr lang="en-US" altLang="zh-CN" sz="1800">
                <a:solidFill>
                  <a:srgbClr val="0000FF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enum</a:t>
            </a:r>
            <a:r>
              <a:rPr lang="en-US" altLang="zh-CN" sz="1800">
                <a:solidFill>
                  <a:srgbClr val="000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 { </a:t>
            </a:r>
            <a:r>
              <a:rPr lang="en-US" altLang="zh-CN" sz="1800">
                <a:solidFill>
                  <a:srgbClr val="2F4F4F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MODE_DEMO</a:t>
            </a:r>
            <a:r>
              <a:rPr lang="en-US" altLang="zh-CN" sz="1800">
                <a:solidFill>
                  <a:srgbClr val="000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 = 0, </a:t>
            </a:r>
            <a:r>
              <a:rPr lang="en-US" altLang="zh-CN" sz="1800">
                <a:solidFill>
                  <a:srgbClr val="2F4F4F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MODE_TRAIN</a:t>
            </a:r>
            <a:r>
              <a:rPr lang="en-US" altLang="zh-CN" sz="1800">
                <a:solidFill>
                  <a:srgbClr val="000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 = 1, </a:t>
            </a:r>
            <a:r>
              <a:rPr lang="en-US" altLang="zh-CN" sz="1800">
                <a:solidFill>
                  <a:srgbClr val="2F4F4F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MODE_TEST</a:t>
            </a:r>
            <a:r>
              <a:rPr lang="en-US" altLang="zh-CN" sz="1800">
                <a:solidFill>
                  <a:srgbClr val="000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 = 2 } </a:t>
            </a:r>
            <a:r>
              <a:rPr lang="en-US" altLang="zh-CN" sz="1800">
                <a:solidFill>
                  <a:srgbClr val="2B91AF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RunMode</a:t>
            </a:r>
            <a:r>
              <a:rPr lang="en-US" altLang="zh-CN" sz="1800">
                <a:solidFill>
                  <a:srgbClr val="000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;</a:t>
            </a:r>
            <a:endParaRPr lang="zh-CN" altLang="en-US"/>
          </a:p>
        </p:txBody>
      </p:sp>
      <p:sp>
        <p:nvSpPr>
          <p:cNvPr id="17" name="文本框 52">
            <a:extLst>
              <a:ext uri="{FF2B5EF4-FFF2-40B4-BE49-F238E27FC236}">
                <a16:creationId xmlns:a16="http://schemas.microsoft.com/office/drawing/2014/main" id="{13FA1F55-FB06-4A06-AB22-20BF44BEA7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38648" y="1029586"/>
            <a:ext cx="6478481" cy="42445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ß"/>
              <a:defRPr sz="3200" b="1">
                <a:solidFill>
                  <a:schemeClr val="tx1"/>
                </a:solidFill>
                <a:latin typeface="Consolas" panose="020B0609020204030204" pitchFamily="49" charset="0"/>
              </a:defRPr>
            </a:lvl1pPr>
            <a:lvl2pPr marL="800100" indent="-3429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 b="1">
                <a:solidFill>
                  <a:srgbClr val="333399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2pPr>
            <a:lvl3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 b="1">
                <a:solidFill>
                  <a:srgbClr val="3333CC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3pPr>
            <a:lvl4pPr marL="1714500" indent="-3429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4pPr>
            <a:lvl5pPr marL="2057400" indent="-2286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9pPr>
          </a:lstStyle>
          <a:p>
            <a:pPr marL="800100" marR="0" lvl="1" indent="-34290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p"/>
              <a:tabLst/>
              <a:defRPr/>
            </a:pP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核心算法思路</a:t>
            </a: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zh-CN" altLang="en-US" sz="200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游戏模式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</a:p>
          <a:p>
            <a:pPr marL="914400" marR="0" lvl="2" indent="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</a:rPr>
              <a:t>训练模式：</a:t>
            </a:r>
            <a:r>
              <a:rPr lang="zh-CN" altLang="en-US" sz="1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智能体“学本事” 的阶段，让智能体通过与环境交互，不断更新 </a:t>
            </a:r>
            <a:r>
              <a:rPr lang="en-US" altLang="zh-CN" sz="1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Q </a:t>
            </a:r>
            <a:r>
              <a:rPr lang="zh-CN" altLang="en-US" sz="1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表，学习 “什么时候上升、什么时候不动作” 的最优策略。</a:t>
            </a:r>
          </a:p>
          <a:p>
            <a:pPr marL="914400" marR="0" lvl="2" indent="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</a:rPr>
              <a:t>测试模式：</a:t>
            </a:r>
            <a:r>
              <a:rPr lang="zh-CN" altLang="en-US" sz="1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检验智能体 “学的本事行不行” 的阶段。无探索地验证训练好的 </a:t>
            </a:r>
            <a:r>
              <a:rPr lang="en-US" altLang="zh-CN" sz="1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Q </a:t>
            </a:r>
            <a:r>
              <a:rPr lang="zh-CN" altLang="en-US" sz="1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表性能，统计客观的得分数据（避免探索干扰结果）。</a:t>
            </a:r>
          </a:p>
          <a:p>
            <a:pPr marL="914400" marR="0" lvl="2" indent="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</a:rPr>
              <a:t>演示模式：</a:t>
            </a:r>
            <a:r>
              <a:rPr lang="zh-CN" altLang="en-US" sz="1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向他人 “展示本事” 的阶段。用训练好的 </a:t>
            </a:r>
            <a:r>
              <a:rPr lang="en-US" altLang="zh-CN" sz="1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Q </a:t>
            </a:r>
            <a:r>
              <a:rPr lang="zh-CN" altLang="en-US" sz="1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表，流畅、稳定地展示智能体的避障效果（追求观赏性和稳定性）。</a:t>
            </a:r>
            <a:endParaRPr kumimoji="0" lang="en-US" altLang="zh-CN" sz="1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7568148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4" name="文本框 52">
            <a:extLst>
              <a:ext uri="{FF2B5EF4-FFF2-40B4-BE49-F238E27FC236}">
                <a16:creationId xmlns:a16="http://schemas.microsoft.com/office/drawing/2014/main" id="{9DA82089-C5DE-4EEF-9061-F9041F5237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4248" y="1029586"/>
            <a:ext cx="5964895" cy="499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ß"/>
              <a:defRPr sz="3200" b="1">
                <a:solidFill>
                  <a:schemeClr val="tx1"/>
                </a:solidFill>
                <a:latin typeface="Consolas" panose="020B0609020204030204" pitchFamily="49" charset="0"/>
              </a:defRPr>
            </a:lvl1pPr>
            <a:lvl2pPr marL="800100" indent="-3429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 b="1">
                <a:solidFill>
                  <a:srgbClr val="333399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2pPr>
            <a:lvl3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 b="1">
                <a:solidFill>
                  <a:srgbClr val="3333CC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3pPr>
            <a:lvl4pPr marL="1714500" indent="-3429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4pPr>
            <a:lvl5pPr marL="2057400" indent="-2286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p"/>
              <a:tabLst/>
              <a:defRPr/>
            </a:pP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任务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5——</a:t>
            </a: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强化学习驱动的智能避障决策算法</a:t>
            </a: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1DF8E92B-827B-3B38-FC63-8B8DF643BB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33639"/>
            <a:ext cx="11615737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ß"/>
              <a:defRPr sz="3200" b="1">
                <a:solidFill>
                  <a:schemeClr val="tx1"/>
                </a:solidFill>
                <a:latin typeface="Consolas" panose="020B0609020204030204" pitchFamily="49" charset="0"/>
              </a:defRPr>
            </a:lvl1pPr>
            <a:lvl2pPr marL="742950" indent="-28575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 b="1">
                <a:solidFill>
                  <a:srgbClr val="333399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2pPr>
            <a:lvl3pPr marL="1143000" indent="-2286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 b="1">
                <a:solidFill>
                  <a:srgbClr val="3333CC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3pPr>
            <a:lvl4pPr marL="1600200" indent="-2286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4pPr>
            <a:lvl5pPr marL="2057400" indent="-2286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综合实践项目</a:t>
            </a:r>
            <a:r>
              <a:rPr kumimoji="1" lang="en-US" altLang="zh-CN" sz="32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——FlappyBird</a:t>
            </a:r>
            <a:r>
              <a:rPr kumimoji="1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闯关系统</a:t>
            </a:r>
            <a:endParaRPr kumimoji="1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CE683072-B9AA-4FB7-AC3D-E764410655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0414140"/>
              </p:ext>
            </p:extLst>
          </p:nvPr>
        </p:nvGraphicFramePr>
        <p:xfrm>
          <a:off x="666261" y="2345154"/>
          <a:ext cx="7796371" cy="3291840"/>
        </p:xfrm>
        <a:graphic>
          <a:graphicData uri="http://schemas.openxmlformats.org/drawingml/2006/table">
            <a:tbl>
              <a:tblPr firstRow="1" firstCol="1" bandRow="1"/>
              <a:tblGrid>
                <a:gridCol w="1538478">
                  <a:extLst>
                    <a:ext uri="{9D8B030D-6E8A-4147-A177-3AD203B41FA5}">
                      <a16:colId xmlns:a16="http://schemas.microsoft.com/office/drawing/2014/main" val="2819995923"/>
                    </a:ext>
                  </a:extLst>
                </a:gridCol>
                <a:gridCol w="1233070">
                  <a:extLst>
                    <a:ext uri="{9D8B030D-6E8A-4147-A177-3AD203B41FA5}">
                      <a16:colId xmlns:a16="http://schemas.microsoft.com/office/drawing/2014/main" val="3160424559"/>
                    </a:ext>
                  </a:extLst>
                </a:gridCol>
                <a:gridCol w="5024823">
                  <a:extLst>
                    <a:ext uri="{9D8B030D-6E8A-4147-A177-3AD203B41FA5}">
                      <a16:colId xmlns:a16="http://schemas.microsoft.com/office/drawing/2014/main" val="3995238419"/>
                    </a:ext>
                  </a:extLst>
                </a:gridCol>
              </a:tblGrid>
              <a:tr h="255905">
                <a:tc>
                  <a:txBody>
                    <a:bodyPr/>
                    <a:lstStyle/>
                    <a:p>
                      <a:pPr algn="just"/>
                      <a:r>
                        <a:rPr lang="zh-CN" sz="1800" kern="100">
                          <a:effectLst/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模式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zh-CN" sz="1800" kern="100">
                          <a:effectLst/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触发方式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zh-CN" sz="1800" kern="100">
                          <a:effectLst/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核心行为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160479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/>
                      <a:r>
                        <a:rPr lang="zh-CN" sz="1800" kern="100">
                          <a:effectLst/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训练模式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zh-CN" sz="1800" kern="100">
                          <a:effectLst/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按</a:t>
                      </a:r>
                      <a:r>
                        <a:rPr lang="en-US" sz="1800" kern="100">
                          <a:effectLst/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T </a:t>
                      </a:r>
                      <a:r>
                        <a:rPr lang="zh-CN" sz="1800" kern="100">
                          <a:effectLst/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键</a:t>
                      </a:r>
                      <a:r>
                        <a:rPr lang="en-US" sz="1800" kern="100">
                          <a:effectLst/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/ </a:t>
                      </a:r>
                      <a:r>
                        <a:rPr lang="zh-CN" sz="1800" kern="100">
                          <a:effectLst/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初始化加载</a:t>
                      </a:r>
                      <a:r>
                        <a:rPr lang="en-US" sz="1800" kern="100">
                          <a:effectLst/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Q </a:t>
                      </a:r>
                      <a:r>
                        <a:rPr lang="zh-CN" sz="1800" kern="100">
                          <a:effectLst/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表失败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800" kern="100">
                          <a:effectLst/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1. ε </a:t>
                      </a:r>
                      <a:r>
                        <a:rPr lang="zh-CN" sz="1800" kern="100">
                          <a:effectLst/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随训练衰减（</a:t>
                      </a:r>
                      <a:r>
                        <a:rPr lang="en-US" sz="1800" kern="100">
                          <a:effectLst/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0.25→0.02</a:t>
                      </a:r>
                      <a:r>
                        <a:rPr lang="zh-CN" sz="1800" kern="100">
                          <a:effectLst/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）；</a:t>
                      </a:r>
                      <a:r>
                        <a:rPr lang="en-US" sz="1800" kern="100">
                          <a:effectLst/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2. </a:t>
                      </a:r>
                      <a:r>
                        <a:rPr lang="zh-CN" sz="1800" kern="100">
                          <a:effectLst/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每帧执行</a:t>
                      </a:r>
                      <a:r>
                        <a:rPr lang="en-US" sz="1800" kern="100">
                          <a:effectLst/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200 </a:t>
                      </a:r>
                      <a:r>
                        <a:rPr lang="zh-CN" sz="1800" kern="100">
                          <a:effectLst/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步环境更新（加速训练）；</a:t>
                      </a:r>
                      <a:r>
                        <a:rPr lang="en-US" sz="1800" kern="100">
                          <a:effectLst/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3. </a:t>
                      </a:r>
                      <a:r>
                        <a:rPr lang="zh-CN" sz="1800" kern="100">
                          <a:effectLst/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管道间隙从</a:t>
                      </a:r>
                      <a:r>
                        <a:rPr lang="en-US" sz="1800" kern="100">
                          <a:effectLst/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220 </a:t>
                      </a:r>
                      <a:r>
                        <a:rPr lang="zh-CN" sz="1800" kern="100">
                          <a:effectLst/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逐步缩小到</a:t>
                      </a:r>
                      <a:r>
                        <a:rPr lang="en-US" sz="1800" kern="100">
                          <a:effectLst/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150</a:t>
                      </a:r>
                      <a:r>
                        <a:rPr lang="zh-CN" sz="1800" kern="100">
                          <a:effectLst/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（难度提升）；</a:t>
                      </a:r>
                      <a:r>
                        <a:rPr lang="en-US" sz="1800" kern="100">
                          <a:effectLst/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4. </a:t>
                      </a:r>
                      <a:r>
                        <a:rPr lang="zh-CN" sz="1800" kern="100">
                          <a:effectLst/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达到</a:t>
                      </a:r>
                      <a:r>
                        <a:rPr lang="en-US" sz="1800" kern="100">
                          <a:effectLst/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1200 </a:t>
                      </a:r>
                      <a:r>
                        <a:rPr lang="zh-CN" sz="1800" kern="100">
                          <a:effectLst/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回合</a:t>
                      </a:r>
                      <a:r>
                        <a:rPr lang="en-US" sz="1800" kern="100">
                          <a:effectLst/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/ 300 </a:t>
                      </a:r>
                      <a:r>
                        <a:rPr lang="zh-CN" sz="1800" kern="100">
                          <a:effectLst/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万步自动切测试模式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267536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/>
                      <a:r>
                        <a:rPr lang="zh-CN" sz="1800" kern="100">
                          <a:effectLst/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测试模式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zh-CN" sz="1800" kern="100">
                          <a:effectLst/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按</a:t>
                      </a:r>
                      <a:r>
                        <a:rPr lang="en-US" sz="1800" kern="100">
                          <a:effectLst/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Y </a:t>
                      </a:r>
                      <a:r>
                        <a:rPr lang="zh-CN" sz="1800" kern="100">
                          <a:effectLst/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键</a:t>
                      </a:r>
                      <a:r>
                        <a:rPr lang="en-US" sz="1800" kern="100">
                          <a:effectLst/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/ </a:t>
                      </a:r>
                      <a:r>
                        <a:rPr lang="zh-CN" sz="1800" kern="100">
                          <a:effectLst/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训练达到阈值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800" kern="100">
                          <a:effectLst/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1. ε=0</a:t>
                      </a:r>
                      <a:r>
                        <a:rPr lang="zh-CN" sz="1800" kern="100">
                          <a:effectLst/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（纯利用）；</a:t>
                      </a:r>
                      <a:r>
                        <a:rPr lang="en-US" sz="1800" kern="100">
                          <a:effectLst/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2. </a:t>
                      </a:r>
                      <a:r>
                        <a:rPr lang="zh-CN" sz="1800" kern="100">
                          <a:effectLst/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统计</a:t>
                      </a:r>
                      <a:r>
                        <a:rPr lang="en-US" sz="1800" kern="100">
                          <a:effectLst/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30 </a:t>
                      </a:r>
                      <a:r>
                        <a:rPr lang="zh-CN" sz="1800" kern="100">
                          <a:effectLst/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回合的平均得分</a:t>
                      </a:r>
                      <a:r>
                        <a:rPr lang="en-US" sz="1800" kern="100">
                          <a:effectLst/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/ </a:t>
                      </a:r>
                      <a:r>
                        <a:rPr lang="zh-CN" sz="1800" kern="100">
                          <a:effectLst/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最佳得分；</a:t>
                      </a:r>
                      <a:r>
                        <a:rPr lang="en-US" sz="1800" kern="100">
                          <a:effectLst/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3. </a:t>
                      </a:r>
                      <a:r>
                        <a:rPr lang="zh-CN" sz="1800" kern="100">
                          <a:effectLst/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管道间隙固定为</a:t>
                      </a:r>
                      <a:r>
                        <a:rPr lang="en-US" sz="1800" kern="100">
                          <a:effectLst/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150</a:t>
                      </a:r>
                      <a:r>
                        <a:rPr lang="zh-CN" sz="1800" kern="100">
                          <a:effectLst/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（目标难度）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641552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/>
                      <a:r>
                        <a:rPr lang="zh-CN" sz="1800" kern="100">
                          <a:effectLst/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演示模式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zh-CN" sz="1800" kern="100">
                          <a:effectLst/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按</a:t>
                      </a:r>
                      <a:r>
                        <a:rPr lang="en-US" sz="1800" kern="100">
                          <a:effectLst/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D </a:t>
                      </a:r>
                      <a:r>
                        <a:rPr lang="zh-CN" sz="1800" kern="100">
                          <a:effectLst/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键</a:t>
                      </a:r>
                      <a:r>
                        <a:rPr lang="en-US" sz="1800" kern="100">
                          <a:effectLst/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/ </a:t>
                      </a:r>
                      <a:r>
                        <a:rPr lang="zh-CN" sz="1800" kern="100">
                          <a:effectLst/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加载预训练</a:t>
                      </a:r>
                      <a:r>
                        <a:rPr lang="en-US" sz="1800" kern="100">
                          <a:effectLst/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Q </a:t>
                      </a:r>
                      <a:r>
                        <a:rPr lang="zh-CN" sz="1800" kern="100">
                          <a:effectLst/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表成功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800" kern="100">
                          <a:effectLst/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1. </a:t>
                      </a:r>
                      <a:r>
                        <a:rPr lang="zh-CN" sz="1800" kern="100">
                          <a:effectLst/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禁用</a:t>
                      </a:r>
                      <a:r>
                        <a:rPr lang="en-US" sz="1800" kern="100">
                          <a:effectLst/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ε </a:t>
                      </a:r>
                      <a:r>
                        <a:rPr lang="zh-CN" sz="1800" kern="100">
                          <a:effectLst/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探索；</a:t>
                      </a:r>
                      <a:r>
                        <a:rPr lang="en-US" sz="1800" kern="100">
                          <a:effectLst/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2. </a:t>
                      </a:r>
                      <a:r>
                        <a:rPr lang="zh-CN" sz="1800" kern="100">
                          <a:effectLst/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固定随机种子（保证演示效果稳定）；</a:t>
                      </a:r>
                      <a:r>
                        <a:rPr lang="en-US" sz="1800" kern="100">
                          <a:effectLst/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3. </a:t>
                      </a:r>
                      <a:r>
                        <a:rPr lang="zh-CN" sz="1800" kern="100">
                          <a:effectLst/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禁用上升动作冷却；</a:t>
                      </a:r>
                      <a:r>
                        <a:rPr lang="en-US" sz="1800" kern="100">
                          <a:effectLst/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4. </a:t>
                      </a:r>
                      <a:r>
                        <a:rPr lang="zh-CN" sz="1800" kern="100">
                          <a:effectLst/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管道间隙固定为</a:t>
                      </a:r>
                      <a:r>
                        <a:rPr lang="en-US" sz="1800" kern="100">
                          <a:effectLst/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150</a:t>
                      </a:r>
                      <a:endParaRPr lang="zh-CN" sz="1800" kern="100">
                        <a:effectLst/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16073546"/>
                  </a:ext>
                </a:extLst>
              </a:tr>
            </a:tbl>
          </a:graphicData>
        </a:graphic>
      </p:graphicFrame>
      <p:sp>
        <p:nvSpPr>
          <p:cNvPr id="12" name="文本框 52">
            <a:extLst>
              <a:ext uri="{FF2B5EF4-FFF2-40B4-BE49-F238E27FC236}">
                <a16:creationId xmlns:a16="http://schemas.microsoft.com/office/drawing/2014/main" id="{7DE0C56E-F72F-4FF6-B5AD-624B66F1FF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4248" y="1641040"/>
            <a:ext cx="6478481" cy="499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ß"/>
              <a:defRPr sz="3200" b="1">
                <a:solidFill>
                  <a:schemeClr val="tx1"/>
                </a:solidFill>
                <a:latin typeface="Consolas" panose="020B0609020204030204" pitchFamily="49" charset="0"/>
              </a:defRPr>
            </a:lvl1pPr>
            <a:lvl2pPr marL="800100" indent="-3429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 b="1">
                <a:solidFill>
                  <a:srgbClr val="333399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2pPr>
            <a:lvl3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 b="1">
                <a:solidFill>
                  <a:srgbClr val="3333CC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3pPr>
            <a:lvl4pPr marL="1714500" indent="-3429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4pPr>
            <a:lvl5pPr marL="2057400" indent="-2286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9pPr>
          </a:lstStyle>
          <a:p>
            <a:pPr marL="800100" marR="0" lvl="1" indent="-34290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p"/>
              <a:tabLst/>
              <a:defRPr/>
            </a:pP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核心算法思路</a:t>
            </a: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zh-CN" altLang="en-US" sz="200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游戏模式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1890800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4" name="文本框 52">
            <a:extLst>
              <a:ext uri="{FF2B5EF4-FFF2-40B4-BE49-F238E27FC236}">
                <a16:creationId xmlns:a16="http://schemas.microsoft.com/office/drawing/2014/main" id="{9DA82089-C5DE-4EEF-9061-F9041F5237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4248" y="1029586"/>
            <a:ext cx="5964895" cy="499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ß"/>
              <a:defRPr sz="3200" b="1">
                <a:solidFill>
                  <a:schemeClr val="tx1"/>
                </a:solidFill>
                <a:latin typeface="Consolas" panose="020B0609020204030204" pitchFamily="49" charset="0"/>
              </a:defRPr>
            </a:lvl1pPr>
            <a:lvl2pPr marL="800100" indent="-3429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 b="1">
                <a:solidFill>
                  <a:srgbClr val="333399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2pPr>
            <a:lvl3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 b="1">
                <a:solidFill>
                  <a:srgbClr val="3333CC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3pPr>
            <a:lvl4pPr marL="1714500" indent="-3429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4pPr>
            <a:lvl5pPr marL="2057400" indent="-2286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p"/>
              <a:tabLst/>
              <a:defRPr/>
            </a:pP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任务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5——</a:t>
            </a: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强化学习驱动的智能避障决策算法</a:t>
            </a: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1DF8E92B-827B-3B38-FC63-8B8DF643BB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33639"/>
            <a:ext cx="11615737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ß"/>
              <a:defRPr sz="3200" b="1">
                <a:solidFill>
                  <a:schemeClr val="tx1"/>
                </a:solidFill>
                <a:latin typeface="Consolas" panose="020B0609020204030204" pitchFamily="49" charset="0"/>
              </a:defRPr>
            </a:lvl1pPr>
            <a:lvl2pPr marL="742950" indent="-28575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 b="1">
                <a:solidFill>
                  <a:srgbClr val="333399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2pPr>
            <a:lvl3pPr marL="1143000" indent="-2286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 b="1">
                <a:solidFill>
                  <a:srgbClr val="3333CC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3pPr>
            <a:lvl4pPr marL="1600200" indent="-2286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4pPr>
            <a:lvl5pPr marL="2057400" indent="-2286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综合实践项目</a:t>
            </a:r>
            <a:r>
              <a:rPr kumimoji="1" lang="en-US" altLang="zh-CN" sz="32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——FlappyBird</a:t>
            </a:r>
            <a:r>
              <a:rPr kumimoji="1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闯关系统</a:t>
            </a:r>
            <a:endParaRPr kumimoji="1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" name="文本框 52">
            <a:extLst>
              <a:ext uri="{FF2B5EF4-FFF2-40B4-BE49-F238E27FC236}">
                <a16:creationId xmlns:a16="http://schemas.microsoft.com/office/drawing/2014/main" id="{2933E6BE-7981-4190-B6E9-F59A03F9BF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164451" y="1377861"/>
            <a:ext cx="5789588" cy="54910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ß"/>
              <a:defRPr sz="3200" b="1">
                <a:solidFill>
                  <a:schemeClr val="tx1"/>
                </a:solidFill>
                <a:latin typeface="Consolas" panose="020B0609020204030204" pitchFamily="49" charset="0"/>
              </a:defRPr>
            </a:lvl1pPr>
            <a:lvl2pPr marL="800100" indent="-3429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 b="1">
                <a:solidFill>
                  <a:srgbClr val="333399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2pPr>
            <a:lvl3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 b="1">
                <a:solidFill>
                  <a:srgbClr val="3333CC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3pPr>
            <a:lvl4pPr marL="1714500" indent="-3429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4pPr>
            <a:lvl5pPr marL="2057400" indent="-2286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9pPr>
          </a:lstStyle>
          <a:p>
            <a:pPr marL="800100" marR="0" lvl="1" indent="-34290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p"/>
              <a:tabLst/>
              <a:defRPr/>
            </a:pP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实现流程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914400" marR="0" lvl="2" indent="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初始化阶段：</a:t>
            </a:r>
            <a:endParaRPr kumimoji="0" lang="en-US" altLang="zh-CN" sz="1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3" inden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调用 </a:t>
            </a: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InitGameResources </a:t>
            </a: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初始化图形界面，加载背景、小鸟、管道图片资源；</a:t>
            </a: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3" inden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尝试调用 </a:t>
            </a: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LoadQtable </a:t>
            </a: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加载预训练 </a:t>
            </a: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Q </a:t>
            </a: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表文件；</a:t>
            </a: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3" inden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加载成功 → 调用 </a:t>
            </a: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SetGameMode </a:t>
            </a: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进入演示模式 </a:t>
            </a: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MODE_DEMO</a:t>
            </a: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；</a:t>
            </a: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3" inden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加载失败 → 调用 </a:t>
            </a: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InitQtable </a:t>
            </a: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初始化空 </a:t>
            </a: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Q </a:t>
            </a: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表 → 进入训练模式 </a:t>
            </a: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MODE_TRAIN</a:t>
            </a: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；</a:t>
            </a: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3" inden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模式函数内部自动完成小鸟、管道位置初始化，并设置学习参数 </a:t>
            </a: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ε=0.25</a:t>
            </a: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914400" marR="0" lvl="2" indent="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主循环：调用 </a:t>
            </a: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RenderGame </a:t>
            </a: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启动帧循环，处理输入、环境更新、渲染。</a:t>
            </a:r>
            <a:endParaRPr kumimoji="0" lang="en-US" altLang="zh-CN" sz="1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914400" marR="0" lvl="2" indent="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退出阶段：停止背景音乐；结束图形批量绘制；关闭图形窗口，程序退出。</a:t>
            </a:r>
          </a:p>
        </p:txBody>
      </p:sp>
      <p:sp>
        <p:nvSpPr>
          <p:cNvPr id="5" name="文本框 52">
            <a:extLst>
              <a:ext uri="{FF2B5EF4-FFF2-40B4-BE49-F238E27FC236}">
                <a16:creationId xmlns:a16="http://schemas.microsoft.com/office/drawing/2014/main" id="{F77D6E1C-7CF9-4BFE-9DE7-98DC872D29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97842" y="1291472"/>
            <a:ext cx="5365398" cy="53987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ß"/>
              <a:defRPr sz="3200" b="1">
                <a:solidFill>
                  <a:schemeClr val="tx1"/>
                </a:solidFill>
                <a:latin typeface="Consolas" panose="020B0609020204030204" pitchFamily="49" charset="0"/>
              </a:defRPr>
            </a:lvl1pPr>
            <a:lvl2pPr marL="800100" indent="-3429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 b="1">
                <a:solidFill>
                  <a:srgbClr val="333399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2pPr>
            <a:lvl3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 b="1">
                <a:solidFill>
                  <a:srgbClr val="3333CC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3pPr>
            <a:lvl4pPr marL="1714500" indent="-3429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4pPr>
            <a:lvl5pPr marL="2057400" indent="-2286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b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defRPr>
            </a:lvl9pPr>
          </a:lstStyle>
          <a:p>
            <a:pPr marL="0" marR="0" lvl="2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RenderGame </a:t>
            </a: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主循环</a:t>
            </a:r>
            <a:endParaRPr kumimoji="0" lang="en-US" altLang="zh-CN" sz="1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marR="0" lvl="2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lang="en-US" altLang="zh-CN" sz="180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while</a:t>
            </a:r>
            <a:r>
              <a:rPr lang="en-US" altLang="zh-CN" sz="1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(1){</a:t>
            </a:r>
            <a:endParaRPr kumimoji="0" lang="en-US" altLang="zh-CN" sz="1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lvl="2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用户输入处理：响应按键（切换模式、保存 </a:t>
            </a: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 </a:t>
            </a: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加载 </a:t>
            </a: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Q </a:t>
            </a: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表、开关调试等）；</a:t>
            </a:r>
          </a:p>
          <a:p>
            <a:pPr marL="0" lvl="2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环境步骤更新（</a:t>
            </a: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StepEnv()</a:t>
            </a: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）：</a:t>
            </a:r>
          </a:p>
          <a:p>
            <a:pPr marL="800100" lvl="3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离散化当前状态→选动作→执行动作（上升 </a:t>
            </a: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 </a:t>
            </a: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不动作）；</a:t>
            </a:r>
          </a:p>
          <a:p>
            <a:pPr marL="800100" lvl="3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更新小鸟 </a:t>
            </a: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 </a:t>
            </a: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管道位置→检测碰撞 </a:t>
            </a: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 </a:t>
            </a: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计分→计算奖励；</a:t>
            </a:r>
          </a:p>
          <a:p>
            <a:pPr marL="800100" lvl="3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训练模式下更新 </a:t>
            </a: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Q </a:t>
            </a: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表，累计训练步数；</a:t>
            </a:r>
          </a:p>
          <a:p>
            <a:pPr marL="800100" lvl="3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死亡处理：碰撞后重置游戏回合，训练模式下衰减 </a:t>
            </a: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ε</a:t>
            </a: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，测试模式下统计得分；</a:t>
            </a:r>
          </a:p>
          <a:p>
            <a:pPr marL="0" lvl="2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渲染界面：绘制背景 </a:t>
            </a: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 </a:t>
            </a: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小鸟 </a:t>
            </a: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 </a:t>
            </a: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管道，显示模式、回合数、得分、</a:t>
            </a: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Q </a:t>
            </a: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表参数等调试信息；</a:t>
            </a:r>
          </a:p>
          <a:p>
            <a:pPr marL="0" lvl="2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lang="zh-CN" altLang="en-US" sz="1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帧率控制：</a:t>
            </a:r>
            <a:r>
              <a:rPr lang="en-US" altLang="zh-CN" sz="1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Sleep (10) </a:t>
            </a:r>
            <a:r>
              <a:rPr lang="zh-CN" altLang="en-US" sz="1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保证流畅性。</a:t>
            </a:r>
            <a:r>
              <a:rPr lang="en-US" altLang="zh-CN" sz="1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}</a:t>
            </a:r>
          </a:p>
          <a:p>
            <a:pPr marL="914400" marR="0" lvl="2" indent="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0CA092F6-4CCD-42A5-BAFD-7A0BC40C43F6}"/>
              </a:ext>
            </a:extLst>
          </p:cNvPr>
          <p:cNvCxnSpPr>
            <a:cxnSpLocks/>
          </p:cNvCxnSpPr>
          <p:nvPr/>
        </p:nvCxnSpPr>
        <p:spPr>
          <a:xfrm>
            <a:off x="6149143" y="1291472"/>
            <a:ext cx="0" cy="4846416"/>
          </a:xfrm>
          <a:prstGeom prst="line">
            <a:avLst/>
          </a:prstGeom>
          <a:ln w="28575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317112871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176"/>
  <p:tag name="KSO_WM_TEMPLATE_MASTER_TYPE" val="0"/>
  <p:tag name="KSO_WM_TEMPLATE_COLOR_TYPE" val="1"/>
  <p:tag name="KSO_WM_UNIT_SHOW_EDIT_AREA_INDICATION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2267.2173228346455,&quot;width&quot;:4430.3874015748033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2267.2173228346455,&quot;width&quot;:4430.3874015748033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2267.2173228346455,&quot;width&quot;:4430.3874015748033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2267.2173228346455,&quot;width&quot;:4430.3874015748033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2267.2173228346455,&quot;width&quot;:4430.3874015748033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2267.2173228346455,&quot;width&quot;:4430.3874015748033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2267.2173228346455,&quot;width&quot;:4430.3874015748033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2267.2173228346455,&quot;width&quot;:4430.3874015748033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2267.2173228346455,&quot;width&quot;:4430.3874015748033}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TAGS" val="[]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TAGS" val="[]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TAGS" val="[]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TAGS" val="[]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TAGS" val="[]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TAGS" val="[]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TAGS" val="[]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TAGS" val="[]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TAGS" val="[]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TAGS" val="[]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TAGS" val="[]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TAGS" val="[]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TAGS" val="[]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TAGS" val="[]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TAGS" val="[]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TAGS" val="[]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TAGS" val="[]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TAGS" val="[]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TAGS" val="[]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TAGS" val="[]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TAGS" val="[]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TAGS" val="[]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TAGS" val="[]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TAGS" val="[]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TAGS" val="[]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TAGS" val="[]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TAGS" val="[]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TAGS" val="[]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TAGS" val="[]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TAGS" val="[]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TAGS" val="[]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TAGS" val="[]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TAGS" val="[]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TAGS" val="[]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TAGS" val="[]"/>
</p:tagLst>
</file>

<file path=ppt/theme/theme1.xml><?xml version="1.0" encoding="utf-8"?>
<a:theme xmlns:a="http://schemas.openxmlformats.org/drawingml/2006/main" name="Office 主题​​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34656</TotalTime>
  <Words>7675</Words>
  <Application>Microsoft Office PowerPoint</Application>
  <PresentationFormat>宽屏</PresentationFormat>
  <Paragraphs>754</Paragraphs>
  <Slides>37</Slides>
  <Notes>37</Notes>
  <HiddenSlides>0</HiddenSlides>
  <MMClips>24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37</vt:i4>
      </vt:variant>
    </vt:vector>
  </HeadingPairs>
  <TitlesOfParts>
    <vt:vector size="54" baseType="lpstr">
      <vt:lpstr>-apple-system</vt:lpstr>
      <vt:lpstr>Charter</vt:lpstr>
      <vt:lpstr>Helvetica Neue</vt:lpstr>
      <vt:lpstr>Noto Sans SC</vt:lpstr>
      <vt:lpstr>ui-sans-serif</vt:lpstr>
      <vt:lpstr>等线</vt:lpstr>
      <vt:lpstr>楷体</vt:lpstr>
      <vt:lpstr>宋体</vt:lpstr>
      <vt:lpstr>微软雅黑</vt:lpstr>
      <vt:lpstr>新宋体</vt:lpstr>
      <vt:lpstr>Arial</vt:lpstr>
      <vt:lpstr>Calibri</vt:lpstr>
      <vt:lpstr>Consolas</vt:lpstr>
      <vt:lpstr>Symbol</vt:lpstr>
      <vt:lpstr>Times New Roman</vt:lpstr>
      <vt:lpstr>Wingdings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tliu</dc:creator>
  <cp:lastModifiedBy>T450</cp:lastModifiedBy>
  <cp:revision>2690</cp:revision>
  <cp:lastPrinted>2022-05-03T05:54:50Z</cp:lastPrinted>
  <dcterms:created xsi:type="dcterms:W3CDTF">2019-06-19T02:08:00Z</dcterms:created>
  <dcterms:modified xsi:type="dcterms:W3CDTF">2026-05-18T06:31:54Z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2052-11.1.0.10700</vt:lpwstr>
  </property>
  <property fmtid="{D5CDD505-2E9C-101B-9397-08002B2CF9AE}" pid="3" name="ICV">
    <vt:lpwstr>99FF378C1BD44E7EBBF740E474D13F20</vt:lpwstr>
  </property>
</Properties>
</file>