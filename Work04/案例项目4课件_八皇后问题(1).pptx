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8.xml" ContentType="application/vnd.openxmlformats-officedocument.presentationml.tags+xml"/>
  <Override PartName="/ppt/notesSlides/notesSlide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.xml" ContentType="application/vnd.openxmlformats-officedocument.presentationml.notesSlide+xml"/>
  <Override PartName="/ppt/tags/tag62.xml" ContentType="application/vnd.openxmlformats-officedocument.presentationml.tags+xml"/>
  <Override PartName="/ppt/notesSlides/notesSlide3.xml" ContentType="application/vnd.openxmlformats-officedocument.presentationml.notesSlide+xml"/>
  <Override PartName="/ppt/tags/tag63.xml" ContentType="application/vnd.openxmlformats-officedocument.presentationml.tags+xml"/>
  <Override PartName="/ppt/notesSlides/notesSlide4.xml" ContentType="application/vnd.openxmlformats-officedocument.presentationml.notesSlide+xml"/>
  <Override PartName="/ppt/tags/tag64.xml" ContentType="application/vnd.openxmlformats-officedocument.presentationml.tags+xml"/>
  <Override PartName="/ppt/notesSlides/notesSlide5.xml" ContentType="application/vnd.openxmlformats-officedocument.presentationml.notesSlide+xml"/>
  <Override PartName="/ppt/tags/tag65.xml" ContentType="application/vnd.openxmlformats-officedocument.presentationml.tags+xml"/>
  <Override PartName="/ppt/notesSlides/notesSlide6.xml" ContentType="application/vnd.openxmlformats-officedocument.presentationml.notesSlide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tags/tag67.xml" ContentType="application/vnd.openxmlformats-officedocument.presentationml.tags+xml"/>
  <Override PartName="/ppt/notesSlides/notesSlide8.xml" ContentType="application/vnd.openxmlformats-officedocument.presentationml.notesSlide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notesSlides/notesSlide10.xml" ContentType="application/vnd.openxmlformats-officedocument.presentationml.notesSlide+xml"/>
  <Override PartName="/ppt/tags/tag70.xml" ContentType="application/vnd.openxmlformats-officedocument.presentationml.tags+xml"/>
  <Override PartName="/ppt/notesSlides/notesSlide11.xml" ContentType="application/vnd.openxmlformats-officedocument.presentationml.notesSlide+xml"/>
  <Override PartName="/ppt/tags/tag71.xml" ContentType="application/vnd.openxmlformats-officedocument.presentationml.tags+xml"/>
  <Override PartName="/ppt/notesSlides/notesSlide12.xml" ContentType="application/vnd.openxmlformats-officedocument.presentationml.notesSlide+xml"/>
  <Override PartName="/ppt/tags/tag72.xml" ContentType="application/vnd.openxmlformats-officedocument.presentationml.tags+xml"/>
  <Override PartName="/ppt/notesSlides/notesSlide13.xml" ContentType="application/vnd.openxmlformats-officedocument.presentationml.notesSlide+xml"/>
  <Override PartName="/ppt/tags/tag73.xml" ContentType="application/vnd.openxmlformats-officedocument.presentationml.tags+xml"/>
  <Override PartName="/ppt/notesSlides/notesSlide14.xml" ContentType="application/vnd.openxmlformats-officedocument.presentationml.notesSlide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notesSlides/notesSlide16.xml" ContentType="application/vnd.openxmlformats-officedocument.presentationml.notesSlide+xml"/>
  <Override PartName="/ppt/tags/tag76.xml" ContentType="application/vnd.openxmlformats-officedocument.presentationml.tags+xml"/>
  <Override PartName="/ppt/notesSlides/notesSlide17.xml" ContentType="application/vnd.openxmlformats-officedocument.presentationml.notesSlide+xml"/>
  <Override PartName="/ppt/tags/tag77.xml" ContentType="application/vnd.openxmlformats-officedocument.presentationml.tags+xml"/>
  <Override PartName="/ppt/notesSlides/notesSlide18.xml" ContentType="application/vnd.openxmlformats-officedocument.presentationml.notesSlide+xml"/>
  <Override PartName="/ppt/tags/tag78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147471145" r:id="rId2"/>
    <p:sldId id="2147471224" r:id="rId3"/>
    <p:sldId id="2147471247" r:id="rId4"/>
    <p:sldId id="2147471227" r:id="rId5"/>
    <p:sldId id="2147471183" r:id="rId6"/>
    <p:sldId id="2147471254" r:id="rId7"/>
    <p:sldId id="2147471226" r:id="rId8"/>
    <p:sldId id="2147471248" r:id="rId9"/>
    <p:sldId id="2147471255" r:id="rId10"/>
    <p:sldId id="2147471249" r:id="rId11"/>
    <p:sldId id="2147471251" r:id="rId12"/>
    <p:sldId id="2147471250" r:id="rId13"/>
    <p:sldId id="2147471253" r:id="rId14"/>
    <p:sldId id="2147471256" r:id="rId15"/>
    <p:sldId id="2147471260" r:id="rId16"/>
    <p:sldId id="2147471258" r:id="rId17"/>
    <p:sldId id="2147471259" r:id="rId18"/>
    <p:sldId id="2147471257" r:id="rId19"/>
    <p:sldId id="2147471261" r:id="rId20"/>
    <p:sldId id="2147471262" r:id="rId21"/>
    <p:sldId id="2147471263" r:id="rId22"/>
    <p:sldId id="2147470911" r:id="rId2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wang wang" initials="ww" lastIdx="1" clrIdx="4">
    <p:extLst>
      <p:ext uri="{19B8F6BF-5375-455C-9EA6-DF929625EA0E}">
        <p15:presenceInfo xmlns:p15="http://schemas.microsoft.com/office/powerpoint/2012/main" userId="0cd938f2f7278fe3" providerId="Windows Live"/>
      </p:ext>
    </p:extLst>
  </p:cmAuthor>
  <p:cmAuthor id="1" name="幸全" initials="幸全" lastIdx="1" clrIdx="0"/>
  <p:cmAuthor id="2" name="zhujianweiddt@outlook.com" initials="z" lastIdx="1" clrIdx="1"/>
  <p:cmAuthor id="3" name="DELL" initials="D" lastIdx="1" clrIdx="2"/>
  <p:cmAuthor id="5" name="作者" initials="A" lastIdx="0" clrIdx="2"/>
  <p:cmAuthor id="6" name="xh su" initials="xs" lastIdx="2" clrIdx="3">
    <p:extLst>
      <p:ext uri="{19B8F6BF-5375-455C-9EA6-DF929625EA0E}">
        <p15:presenceInfo xmlns:p15="http://schemas.microsoft.com/office/powerpoint/2012/main" userId="2e1063e9aa4f83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FF"/>
    <a:srgbClr val="FFFFCC"/>
    <a:srgbClr val="FFFFFF"/>
    <a:srgbClr val="CC6600"/>
    <a:srgbClr val="FFE6FF"/>
    <a:srgbClr val="FFCCFF"/>
    <a:srgbClr val="CC99FF"/>
    <a:srgbClr val="FFCC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1" autoAdjust="0"/>
    <p:restoredTop sz="78309" autoAdjust="0"/>
  </p:normalViewPr>
  <p:slideViewPr>
    <p:cSldViewPr snapToGrid="0">
      <p:cViewPr varScale="1">
        <p:scale>
          <a:sx n="81" d="100"/>
          <a:sy n="81" d="100"/>
        </p:scale>
        <p:origin x="423" y="48"/>
      </p:cViewPr>
      <p:guideLst>
        <p:guide orient="horz" pos="2160"/>
        <p:guide pos="3938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8328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9B84EA-7D68-4D60-9CB1-D50884785D1C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2A48B96-639E-45A3-A0BA-2464DFDB1FA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7B5DF-C851-4EDA-A9F2-D7C720ED4D7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21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采用枚举法（非递归回溯模拟）求解八皇后问题：使用一维数组表示棋盘状态，逐行枚举皇后在各列的可能位置，并通过安全性检测函数判断是否发生列冲突或对角线冲突；当某一行无合法位置时，通过回退机制继续枚举上一行的其他列位置。程序在搜索过程中一旦找到一个满足条件的可行解，立即在控制台输出当前棋盘布局，并终止搜索过程，从而实现对八皇后问题的单解求解与棋盘可视化输出。</a:t>
            </a:r>
            <a:endParaRPr lang="en-US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）如何表示棋盘状态？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使用一维数组压缩表示棋盘状态，其中数组下标表示行号、数组元素表示该行皇后所在列号。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）为什么不用二维数组表示棋盘，而采用一维数组压缩表示？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传统棋盘可用二维数组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 board[8][8]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表示，但八皇后问题中每一行只放置一个皇后，因此只需记录每一行皇后所在的列号即可。使用一维数组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board[N]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，其中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board[i]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行皇后所在列，不仅节省存储空间，还简化了冲突检测逻辑，提高程序效率。</a:t>
            </a:r>
            <a:endParaRPr lang="zh-CN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）一维数组如何表示棋盘状态？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数组下标表示行号，数组元素表示该行皇后所在的列号。例如：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board[0] = 3;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行皇后放在第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列。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board[i] = -1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，表示该行尚未放置皇后。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）皇后之间存在哪些冲突规则？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皇后不能处于：同一列、同一主对角线、同一副对角线。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317EC7-838B-4657-BA96-E5D72A9FFF5B}" type="slidenum">
              <a:rPr lang="zh-CN" altLang="en-US" sz="1200" smtClean="0">
                <a:latin typeface="Times New Roman" panose="02020603050405020304" pitchFamily="18" charset="0"/>
              </a:rPr>
              <a:pPr/>
              <a:t>5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采用枚举法（非递归回溯模拟）求解八皇后问题：使用一维数组表示棋盘状态，逐行枚举皇后在各列的可能位置，并通过安全性检测函数判断是否发生列冲突或对角线冲突；当某一行无合法位置时，通过回退机制继续枚举上一行的其他列位置。程序在搜索过程中一旦找到一个满足条件的可行解，立即在控制台输出当前棋盘布局，并终止搜索过程，从而实现对八皇后问题的单解求解与棋盘可视化输出。</a:t>
            </a:r>
            <a:endParaRPr lang="en-US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）如何表示棋盘状态？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使用一维数组压缩表示棋盘状态，其中数组下标表示行号、数组元素表示该行皇后所在列号。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）为什么不用二维数组表示棋盘，而采用一维数组压缩表示？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传统棋盘可用二维数组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 board[8][8]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表示，但八皇后问题中每一行只放置一个皇后，因此只需记录每一行皇后所在的列号即可。使用一维数组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board[N]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，其中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board[i]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行皇后所在列，不仅节省存储空间，还简化了冲突检测逻辑，提高程序效率。</a:t>
            </a:r>
            <a:endParaRPr lang="zh-CN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）一维数组如何表示棋盘状态？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数组下标表示行号，数组元素表示该行皇后所在的列号。例如：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board[0] = 3;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行皇后放在第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 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列。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board[i] = -1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，表示该行尚未放置皇后。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）皇后之间存在哪些冲突规则？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皇后不能处于：同一列、同一主对角线、同一副对角线。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913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317EC7-838B-4657-BA96-E5D72A9FFF5B}" type="slidenum">
              <a:rPr lang="zh-CN" altLang="en-US" sz="1200" smtClean="0">
                <a:latin typeface="Times New Roman" panose="02020603050405020304" pitchFamily="18" charset="0"/>
              </a:rPr>
              <a:pPr/>
              <a:t>7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756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979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187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其核心思路是按照一定规则分步向前探索，在每一步做出合法选择后递归进入下一步；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若当前路径无法得到有效解或走入死路，便回溯撤销上一步的选择，恢复原有状态并尝试其他分支；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通过不断 “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试探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回溯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 的过程，在解空间中寻找满足条件的解，本质是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带有剪枝优化的枚举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，能避免无效搜索，提升效率。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903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845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120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25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375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637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119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232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89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956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417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401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>
            <a:extLst>
              <a:ext uri="{FF2B5EF4-FFF2-40B4-BE49-F238E27FC236}">
                <a16:creationId xmlns:a16="http://schemas.microsoft.com/office/drawing/2014/main" id="{F80A640D-A917-486F-9F26-BC6AB9CF5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备注占位符 2">
            <a:extLst>
              <a:ext uri="{FF2B5EF4-FFF2-40B4-BE49-F238E27FC236}">
                <a16:creationId xmlns:a16="http://schemas.microsoft.com/office/drawing/2014/main" id="{BEE33596-F8C5-477E-BFE7-D5F2F3073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/>
          </a:p>
          <a:p>
            <a:endParaRPr lang="zh-CN" altLang="en-US"/>
          </a:p>
        </p:txBody>
      </p:sp>
      <p:sp>
        <p:nvSpPr>
          <p:cNvPr id="150532" name="灯片编号占位符 3">
            <a:extLst>
              <a:ext uri="{FF2B5EF4-FFF2-40B4-BE49-F238E27FC236}">
                <a16:creationId xmlns:a16="http://schemas.microsoft.com/office/drawing/2014/main" id="{A7B8D131-8D04-4FDA-A3FF-047399EC5D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0978DE-F19D-4AE3-BF5A-333ECE2251F9}" type="slidenum">
              <a:rPr lang="zh-CN" altLang="en-US" sz="1300" smtClean="0">
                <a:solidFill>
                  <a:srgbClr val="000000"/>
                </a:solidFill>
                <a:latin typeface="Calibri" panose="020F0502020204030204" pitchFamily="34" charset="0"/>
              </a:rPr>
              <a:pPr/>
              <a:t>22</a:t>
            </a:fld>
            <a:endParaRPr lang="zh-CN" altLang="en-US" sz="13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6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-9525"/>
            <a:ext cx="12190730" cy="3581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层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243" y="245745"/>
            <a:ext cx="2362200" cy="10140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5" descr="ices logo">
            <a:extLst>
              <a:ext uri="{FF2B5EF4-FFF2-40B4-BE49-F238E27FC236}">
                <a16:creationId xmlns:a16="http://schemas.microsoft.com/office/drawing/2014/main" id="{DF957EF7-0B8D-4A15-8B9E-7CA9363F43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423" y="378204"/>
            <a:ext cx="1544934" cy="7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0DAB011-CCA1-446C-BA39-580C33D2951B}"/>
              </a:ext>
            </a:extLst>
          </p:cNvPr>
          <p:cNvCxnSpPr>
            <a:cxnSpLocks/>
          </p:cNvCxnSpPr>
          <p:nvPr userDrawn="1"/>
        </p:nvCxnSpPr>
        <p:spPr>
          <a:xfrm>
            <a:off x="6729275" y="497150"/>
            <a:ext cx="0" cy="67259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 bwMode="auto">
          <a:xfrm>
            <a:off x="0" y="6650992"/>
            <a:ext cx="9144000" cy="2381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 bwMode="auto">
          <a:xfrm>
            <a:off x="9707567" y="6492242"/>
            <a:ext cx="2484437" cy="395288"/>
          </a:xfrm>
          <a:prstGeom prst="rect">
            <a:avLst/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流程图: 手动操作 6"/>
          <p:cNvSpPr/>
          <p:nvPr userDrawn="1"/>
        </p:nvSpPr>
        <p:spPr bwMode="auto">
          <a:xfrm rot="10800000">
            <a:off x="8719820" y="6492875"/>
            <a:ext cx="2713355" cy="395605"/>
          </a:xfrm>
          <a:prstGeom prst="flowChartManualOperation">
            <a:avLst/>
          </a:prstGeom>
          <a:solidFill>
            <a:srgbClr val="0F5C8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图片 10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9504046" y="6519545"/>
            <a:ext cx="12668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 18"/>
          <p:cNvSpPr/>
          <p:nvPr userDrawn="1"/>
        </p:nvSpPr>
        <p:spPr>
          <a:xfrm>
            <a:off x="73025" y="260985"/>
            <a:ext cx="522000" cy="45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58495" y="260985"/>
            <a:ext cx="125095" cy="45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93693" y="1508074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93693" y="224086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038653" y="1508074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93693" y="303397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93693" y="382709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93693" y="462020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5038653" y="224086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5038653" y="302318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5038653" y="383090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5038653" y="462084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771114" y="1508074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771114" y="2240864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816074" y="1508074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771114" y="303397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771114" y="382709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771114" y="462020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816074" y="2240864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816074" y="302318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816074" y="383090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816074" y="462084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15493" y="1416150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15493" y="2148940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60453" y="1416150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15493" y="2942055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15493" y="373517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15493" y="452828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60453" y="2148940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60453" y="2931260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60453" y="3738980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60453" y="4528920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886617" y="1574967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886617" y="2307757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31577" y="1574967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86617" y="3100872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86617" y="3893987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886617" y="4687102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31577" y="2307757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31577" y="3090077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31577" y="3897797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31577" y="4687737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15493" y="15172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15493" y="225000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60453" y="15172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15493" y="304312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15493" y="383623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15493" y="4629350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60453" y="225000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60453" y="303232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60453" y="384004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60453" y="4629985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901055" y="519049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4946015" y="521271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901055" y="5190490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5901055" y="598360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4946015" y="521271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4946015" y="60026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5901055" y="5205095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4946015" y="522414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菱形 18"/>
          <p:cNvSpPr/>
          <p:nvPr userDrawn="1"/>
        </p:nvSpPr>
        <p:spPr>
          <a:xfrm>
            <a:off x="5512435" y="387350"/>
            <a:ext cx="720000" cy="7200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菱形 5"/>
          <p:cNvSpPr/>
          <p:nvPr userDrawn="1"/>
        </p:nvSpPr>
        <p:spPr>
          <a:xfrm>
            <a:off x="5521325" y="117030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5521325" y="195326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菱形 8"/>
          <p:cNvSpPr/>
          <p:nvPr userDrawn="1"/>
        </p:nvSpPr>
        <p:spPr>
          <a:xfrm>
            <a:off x="5512435" y="273621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 userDrawn="1"/>
        </p:nvSpPr>
        <p:spPr>
          <a:xfrm>
            <a:off x="5512435" y="351917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菱形 11"/>
          <p:cNvSpPr/>
          <p:nvPr userDrawn="1"/>
        </p:nvSpPr>
        <p:spPr>
          <a:xfrm>
            <a:off x="5512435" y="430212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 userDrawn="1"/>
        </p:nvSpPr>
        <p:spPr>
          <a:xfrm>
            <a:off x="5503545" y="508508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菱形 14"/>
          <p:cNvSpPr/>
          <p:nvPr userDrawn="1"/>
        </p:nvSpPr>
        <p:spPr>
          <a:xfrm>
            <a:off x="5503545" y="586803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14310-5AF6-45B1-A513-AEF991FEC01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39ECC-76D1-4444-9F29-7E702FF03E47}" type="datetimeFigureOut">
              <a:rPr lang="zh-CN" altLang="en-US"/>
              <a:pPr>
                <a:defRPr/>
              </a:pPr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EF7EA-9FF2-41ED-900C-CC301580AD8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659DC-21E4-4790-BDCE-3E3408A0036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2C03F-E8D2-482A-BD30-1831FFE88F9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51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78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8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queen4-2.mp4" TargetMode="External"/><Relationship Id="rId2" Type="http://schemas.microsoft.com/office/2007/relationships/media" Target="file:///D:\2&#25945;&#23398;\2026&#35745;&#31639;&#19982;&#26234;&#33021;&#31243;&#24207;&#35774;&#35745;\&#20219;&#21153;&#20132;&#20184;\queen4-2.mp4" TargetMode="External"/><Relationship Id="rId1" Type="http://schemas.openxmlformats.org/officeDocument/2006/relationships/tags" Target="../tags/tag59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video" Target="file:///D:\2&#25945;&#23398;\2026&#35745;&#31639;&#19982;&#26234;&#33021;&#31243;&#24207;&#35774;&#35745;\&#20219;&#21153;&#20132;&#20184;\queen4-2.mp4" TargetMode="External"/><Relationship Id="rId7" Type="http://schemas.openxmlformats.org/officeDocument/2006/relationships/image" Target="../media/image23.png"/><Relationship Id="rId2" Type="http://schemas.microsoft.com/office/2007/relationships/media" Target="file:///D:\2&#25945;&#23398;\2026&#35745;&#31639;&#19982;&#26234;&#33021;&#31243;&#24207;&#35774;&#35745;\&#20219;&#21153;&#20132;&#20184;\queen4-2.mp4" TargetMode="External"/><Relationship Id="rId1" Type="http://schemas.openxmlformats.org/officeDocument/2006/relationships/tags" Target="../tags/tag73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5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video" Target="file:///D:\2&#25945;&#23398;\2026&#35745;&#31639;&#19982;&#26234;&#33021;&#31243;&#24207;&#35774;&#35745;\&#20219;&#21153;&#20132;&#20184;\queen4-2.mp4" TargetMode="External"/><Relationship Id="rId7" Type="http://schemas.openxmlformats.org/officeDocument/2006/relationships/image" Target="../media/image26.png"/><Relationship Id="rId2" Type="http://schemas.microsoft.com/office/2007/relationships/media" Target="file:///D:\2&#25945;&#23398;\2026&#35745;&#31639;&#19982;&#26234;&#33021;&#31243;&#24207;&#35774;&#35745;\&#20219;&#21153;&#20132;&#20184;\queen4-2.mp4" TargetMode="External"/><Relationship Id="rId1" Type="http://schemas.openxmlformats.org/officeDocument/2006/relationships/tags" Target="../tags/tag76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8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38D06CB4-5E32-536A-FC15-054CB5460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32391"/>
            <a:ext cx="12292235" cy="5756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699962-E473-220A-D0AB-B92A4E837BE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0" y="1"/>
            <a:ext cx="12292235" cy="2958895"/>
          </a:xfrm>
          <a:prstGeom prst="rect">
            <a:avLst/>
          </a:prstGeom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242836C5-0771-2367-EFD0-B42E0866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87" y="3104759"/>
            <a:ext cx="11383617" cy="183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buClr>
                <a:srgbClr val="00517C"/>
              </a:buClr>
              <a:buSzPct val="80000"/>
            </a:pPr>
            <a:r>
              <a:rPr lang="en-US" altLang="zh-CN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计算与智能程序设计</a:t>
            </a:r>
            <a:r>
              <a:rPr lang="en-US" altLang="zh-CN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endParaRPr lang="en-US" altLang="zh-CN" sz="40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Clr>
                <a:srgbClr val="00517C"/>
              </a:buClr>
              <a:buSzPct val="80000"/>
            </a:pPr>
            <a:r>
              <a:rPr lang="zh-CN" altLang="en-US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案例项目</a:t>
            </a:r>
            <a:r>
              <a:rPr lang="en-US" altLang="zh-CN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：八皇后问题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CB185B-B251-0E86-4313-589E7FF3F21A}"/>
              </a:ext>
            </a:extLst>
          </p:cNvPr>
          <p:cNvSpPr txBox="1"/>
          <p:nvPr/>
        </p:nvSpPr>
        <p:spPr>
          <a:xfrm>
            <a:off x="1855520" y="4991984"/>
            <a:ext cx="8833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4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哈尔滨工业大学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7841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C7A78-B3BE-4CE1-BBCE-46C24031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r>
              <a:rPr kumimoji="1"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八皇后问题</a:t>
            </a:r>
            <a:endParaRPr kumimoji="1"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E9A582D8-2A1E-4D5F-9824-31C274996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616" y="1416052"/>
            <a:ext cx="4560635" cy="38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8×8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的国际象棋棋盘上放置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个皇后，使得任何两个皇后都不能互相攻击。即任意两个皇后都不能处于同一行、同一列或同一对角线上。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问题来源和意义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是回溯算法的经典教学案例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pic>
        <p:nvPicPr>
          <p:cNvPr id="4" name="queen4-2.mp4">
            <a:hlinkClick r:id="" action="ppaction://media"/>
            <a:extLst>
              <a:ext uri="{FF2B5EF4-FFF2-40B4-BE49-F238E27FC236}">
                <a16:creationId xmlns:a16="http://schemas.microsoft.com/office/drawing/2014/main" id="{DD7F75A6-4ABE-4957-B63B-B3DEBA86F3FB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290" y="1232693"/>
            <a:ext cx="4935538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169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C7A78-B3BE-4CE1-BBCE-46C24031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r>
              <a:rPr kumimoji="1"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八皇后问题</a:t>
            </a:r>
            <a:endParaRPr kumimoji="1"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B7CD7-E3A2-4988-A592-C4B4FCB03AB0}"/>
              </a:ext>
            </a:extLst>
          </p:cNvPr>
          <p:cNvSpPr/>
          <p:nvPr/>
        </p:nvSpPr>
        <p:spPr>
          <a:xfrm>
            <a:off x="835025" y="4565650"/>
            <a:ext cx="1873250" cy="1346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一维数组的压缩存储枚举法</a:t>
            </a:r>
            <a:endParaRPr lang="en-US" altLang="zh-CN" sz="1400">
              <a:solidFill>
                <a:srgbClr val="002060"/>
              </a:solidFill>
              <a:latin typeface="+mj-ea"/>
              <a:ea typeface="+mj-ea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深度优先搜索的非递归实现</a:t>
            </a:r>
            <a:endParaRPr lang="en-US" altLang="zh-CN" sz="14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03ECB5-C6B7-443C-A965-DC6B57EBAC2A}"/>
              </a:ext>
            </a:extLst>
          </p:cNvPr>
          <p:cNvSpPr/>
          <p:nvPr/>
        </p:nvSpPr>
        <p:spPr>
          <a:xfrm>
            <a:off x="2552700" y="3624263"/>
            <a:ext cx="2751138" cy="7000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递归、回溯法</a:t>
            </a:r>
            <a:endParaRPr lang="en-US" altLang="zh-CN" sz="1400">
              <a:solidFill>
                <a:srgbClr val="002060"/>
              </a:solidFill>
              <a:latin typeface="+mj-ea"/>
              <a:ea typeface="+mj-ea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深度优先搜索的递归实现</a:t>
            </a:r>
            <a:endParaRPr lang="en-US" altLang="zh-CN" sz="14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7B0D48-B45C-476A-A0C7-57C545994150}"/>
              </a:ext>
            </a:extLst>
          </p:cNvPr>
          <p:cNvSpPr/>
          <p:nvPr/>
        </p:nvSpPr>
        <p:spPr>
          <a:xfrm>
            <a:off x="6691313" y="2978150"/>
            <a:ext cx="1958975" cy="3762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</a:t>
            </a:r>
            <a:r>
              <a:rPr lang="en-US" altLang="zh-CN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EasyX</a:t>
            </a: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图形库函数</a:t>
            </a:r>
            <a:endParaRPr lang="zh-CN" altLang="en-US" sz="1400" dirty="0">
              <a:solidFill>
                <a:srgbClr val="002060"/>
              </a:solidFill>
              <a:latin typeface="+mj-ea"/>
              <a:ea typeface="+mj-ea"/>
              <a:sym typeface="Symbol" panose="05050102010706020507" pitchFamily="18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CD6DBA-6900-43B1-B3C8-AE765826653A}"/>
              </a:ext>
            </a:extLst>
          </p:cNvPr>
          <p:cNvSpPr/>
          <p:nvPr/>
        </p:nvSpPr>
        <p:spPr>
          <a:xfrm>
            <a:off x="5016500" y="3259138"/>
            <a:ext cx="1804988" cy="376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解空间遍历</a:t>
            </a:r>
            <a:endParaRPr lang="en-US" altLang="zh-CN" sz="14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387B8ED-5D1E-4754-8ECD-062612C6FF6E}"/>
              </a:ext>
            </a:extLst>
          </p:cNvPr>
          <p:cNvCxnSpPr/>
          <p:nvPr/>
        </p:nvCxnSpPr>
        <p:spPr>
          <a:xfrm>
            <a:off x="911225" y="4525963"/>
            <a:ext cx="1657350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4715108-71DE-46E8-8B81-DB706B41FBCF}"/>
              </a:ext>
            </a:extLst>
          </p:cNvPr>
          <p:cNvCxnSpPr>
            <a:cxnSpLocks/>
          </p:cNvCxnSpPr>
          <p:nvPr/>
        </p:nvCxnSpPr>
        <p:spPr>
          <a:xfrm flipV="1">
            <a:off x="2568575" y="3635375"/>
            <a:ext cx="2447925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6FB8473-01A1-457A-A9F7-AC050A724A3A}"/>
              </a:ext>
            </a:extLst>
          </p:cNvPr>
          <p:cNvCxnSpPr/>
          <p:nvPr/>
        </p:nvCxnSpPr>
        <p:spPr>
          <a:xfrm>
            <a:off x="5016500" y="3275013"/>
            <a:ext cx="1692275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C95A82B-8784-4B60-87AF-9006A839AE71}"/>
              </a:ext>
            </a:extLst>
          </p:cNvPr>
          <p:cNvCxnSpPr>
            <a:cxnSpLocks/>
          </p:cNvCxnSpPr>
          <p:nvPr/>
        </p:nvCxnSpPr>
        <p:spPr>
          <a:xfrm>
            <a:off x="6734175" y="3016250"/>
            <a:ext cx="2089150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DF6FF16-84FB-41B6-BB77-A9C46635BFCB}"/>
              </a:ext>
            </a:extLst>
          </p:cNvPr>
          <p:cNvCxnSpPr>
            <a:cxnSpLocks/>
          </p:cNvCxnSpPr>
          <p:nvPr/>
        </p:nvCxnSpPr>
        <p:spPr>
          <a:xfrm>
            <a:off x="2568575" y="3635375"/>
            <a:ext cx="0" cy="900113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F9716D-A265-4B5B-BD14-1F69A0A1E8B9}"/>
              </a:ext>
            </a:extLst>
          </p:cNvPr>
          <p:cNvCxnSpPr>
            <a:cxnSpLocks/>
          </p:cNvCxnSpPr>
          <p:nvPr/>
        </p:nvCxnSpPr>
        <p:spPr>
          <a:xfrm>
            <a:off x="5016500" y="3275013"/>
            <a:ext cx="0" cy="360362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9AFC513-E4FB-465C-9594-7E6D52F8A5DA}"/>
              </a:ext>
            </a:extLst>
          </p:cNvPr>
          <p:cNvCxnSpPr>
            <a:cxnSpLocks/>
          </p:cNvCxnSpPr>
          <p:nvPr/>
        </p:nvCxnSpPr>
        <p:spPr>
          <a:xfrm>
            <a:off x="6734175" y="3028950"/>
            <a:ext cx="0" cy="250825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FA7111F-ADB2-4CC4-AFC0-0EBC8323556A}"/>
              </a:ext>
            </a:extLst>
          </p:cNvPr>
          <p:cNvSpPr/>
          <p:nvPr/>
        </p:nvSpPr>
        <p:spPr>
          <a:xfrm>
            <a:off x="776288" y="3416300"/>
            <a:ext cx="1992312" cy="419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0070C0"/>
                </a:solidFill>
                <a:latin typeface="+mj-ea"/>
                <a:ea typeface="+mj-ea"/>
              </a:rPr>
              <a:t>八皇后问题</a:t>
            </a:r>
            <a:r>
              <a:rPr lang="en-US" altLang="zh-CN" sz="1600" b="1">
                <a:solidFill>
                  <a:srgbClr val="0070C0"/>
                </a:solidFill>
                <a:latin typeface="+mj-ea"/>
                <a:ea typeface="+mj-ea"/>
              </a:rPr>
              <a:t>V1.0</a:t>
            </a:r>
            <a:endParaRPr lang="en-US" altLang="zh-CN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pSp>
        <p:nvGrpSpPr>
          <p:cNvPr id="16" name="组合 30">
            <a:extLst>
              <a:ext uri="{FF2B5EF4-FFF2-40B4-BE49-F238E27FC236}">
                <a16:creationId xmlns:a16="http://schemas.microsoft.com/office/drawing/2014/main" id="{BD6C4195-8F8A-4CE0-B596-877F45534E5B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4652963"/>
            <a:ext cx="5059362" cy="1871662"/>
            <a:chOff x="-208686" y="4869120"/>
            <a:chExt cx="9037781" cy="1880457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B92B878-4546-46D2-A094-3BB80D54FE17}"/>
                </a:ext>
              </a:extLst>
            </p:cNvPr>
            <p:cNvSpPr txBox="1"/>
            <p:nvPr/>
          </p:nvSpPr>
          <p:spPr>
            <a:xfrm>
              <a:off x="-98090" y="4869120"/>
              <a:ext cx="8850618" cy="18772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  <a:defRPr/>
              </a:pPr>
              <a:r>
                <a:rPr lang="zh-CN" altLang="en-US" sz="1800" b="1" dirty="0">
                  <a:latin typeface="+mj-ea"/>
                  <a:ea typeface="+mj-ea"/>
                </a:rPr>
                <a:t>项目支撑的能力</a:t>
              </a:r>
              <a:endParaRPr lang="en-US" altLang="zh-CN" sz="1800" b="1" dirty="0">
                <a:latin typeface="+mj-ea"/>
                <a:ea typeface="+mj-ea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 b="1">
                  <a:latin typeface="+mj-ea"/>
                  <a:ea typeface="+mj-ea"/>
                </a:rPr>
                <a:t>熟练运用枚举、递归和回溯算法编写程序，解决复杂逻辑问题。</a:t>
              </a: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 b="1">
                  <a:latin typeface="+mj-ea"/>
                  <a:ea typeface="+mj-ea"/>
                </a:rPr>
                <a:t>理解深度优先搜索（</a:t>
              </a:r>
              <a:r>
                <a:rPr lang="en-US" altLang="zh-CN" sz="1200" b="1">
                  <a:latin typeface="+mj-ea"/>
                  <a:ea typeface="+mj-ea"/>
                </a:rPr>
                <a:t>DFS</a:t>
              </a:r>
              <a:r>
                <a:rPr lang="zh-CN" altLang="en-US" sz="1200" b="1">
                  <a:latin typeface="+mj-ea"/>
                  <a:ea typeface="+mj-ea"/>
                </a:rPr>
                <a:t>）思想，掌握一维数组的压缩存储技巧。</a:t>
              </a: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en-US" altLang="zh-CN" sz="1200" b="1">
                  <a:latin typeface="+mj-ea"/>
                  <a:ea typeface="+mj-ea"/>
                  <a:sym typeface="Noto Sans SC"/>
                </a:rPr>
                <a:t>掌握</a:t>
              </a:r>
              <a:r>
                <a:rPr lang="en-US" altLang="zh-CN" sz="1200" b="1">
                  <a:latin typeface="+mj-ea"/>
                  <a:ea typeface="+mj-ea"/>
                </a:rPr>
                <a:t> EasyX </a:t>
              </a:r>
              <a:r>
                <a:rPr lang="en-US" altLang="zh-CN" sz="1200" b="1">
                  <a:latin typeface="+mj-ea"/>
                  <a:ea typeface="+mj-ea"/>
                  <a:sym typeface="Noto Sans SC"/>
                </a:rPr>
                <a:t>图形化界面设计，以直观的可视化方式显示算法自动求解的结果。</a:t>
              </a:r>
              <a:endParaRPr lang="en-US" altLang="zh-CN" sz="1200" b="1">
                <a:latin typeface="+mj-ea"/>
                <a:ea typeface="+mj-ea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en-US" altLang="zh-CN" sz="1200" b="1">
                  <a:latin typeface="+mj-ea"/>
                  <a:ea typeface="+mj-ea"/>
                  <a:sym typeface="Noto Sans SC"/>
                </a:rPr>
                <a:t> 能够将具体的算法问题（如8皇后问题）进行抽象，扩展并求解一般化的问题</a:t>
              </a:r>
              <a:r>
                <a:rPr lang="zh-CN" altLang="en-US" sz="1200" b="1">
                  <a:latin typeface="+mj-ea"/>
                  <a:ea typeface="+mj-ea"/>
                  <a:sym typeface="Noto Sans SC"/>
                </a:rPr>
                <a:t>（</a:t>
              </a:r>
              <a:r>
                <a:rPr lang="en-US" altLang="zh-CN" sz="1200" b="1">
                  <a:latin typeface="+mj-ea"/>
                  <a:ea typeface="+mj-ea"/>
                  <a:sym typeface="Noto Sans SC"/>
                </a:rPr>
                <a:t>N皇后</a:t>
              </a:r>
              <a:r>
                <a:rPr lang="zh-CN" altLang="en-US" sz="1200" b="1">
                  <a:latin typeface="+mj-ea"/>
                  <a:ea typeface="+mj-ea"/>
                  <a:sym typeface="Noto Sans SC"/>
                </a:rPr>
                <a:t>）</a:t>
              </a:r>
              <a:r>
                <a:rPr lang="en-US" altLang="zh-CN" sz="1200" b="1">
                  <a:latin typeface="+mj-ea"/>
                  <a:ea typeface="+mj-ea"/>
                  <a:sym typeface="Noto Sans SC"/>
                </a:rPr>
                <a:t>。</a:t>
              </a:r>
              <a:endParaRPr lang="zh-CN" altLang="en-US" sz="1600" b="1" dirty="0">
                <a:latin typeface="+mj-ea"/>
                <a:ea typeface="+mj-ea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8AC5CDB-BB64-4266-AD99-4D8EB78585AA}"/>
                </a:ext>
              </a:extLst>
            </p:cNvPr>
            <p:cNvSpPr/>
            <p:nvPr/>
          </p:nvSpPr>
          <p:spPr>
            <a:xfrm>
              <a:off x="-208686" y="4921753"/>
              <a:ext cx="9037781" cy="1827824"/>
            </a:xfrm>
            <a:prstGeom prst="roundRect">
              <a:avLst>
                <a:gd name="adj" fmla="val 11579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18CDE77A-1C6A-431E-8363-68433CAF7F5A}"/>
              </a:ext>
            </a:extLst>
          </p:cNvPr>
          <p:cNvSpPr/>
          <p:nvPr/>
        </p:nvSpPr>
        <p:spPr>
          <a:xfrm>
            <a:off x="933450" y="3756025"/>
            <a:ext cx="1443038" cy="7874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j-ea"/>
                <a:ea typeface="+mj-ea"/>
              </a:rPr>
              <a:t>(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1)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枚举方法求一个可行解</a:t>
            </a:r>
            <a:endParaRPr lang="en-US" altLang="zh-CN" sz="16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0647A6-6C56-4F32-9537-BC06ED69570A}"/>
              </a:ext>
            </a:extLst>
          </p:cNvPr>
          <p:cNvSpPr/>
          <p:nvPr/>
        </p:nvSpPr>
        <p:spPr>
          <a:xfrm>
            <a:off x="2582863" y="2492375"/>
            <a:ext cx="1816100" cy="419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0070C0"/>
                </a:solidFill>
                <a:latin typeface="+mj-ea"/>
                <a:ea typeface="+mj-ea"/>
              </a:rPr>
              <a:t>八皇后问题</a:t>
            </a:r>
            <a:r>
              <a:rPr lang="en-US" altLang="zh-CN" sz="1600" b="1">
                <a:solidFill>
                  <a:srgbClr val="0070C0"/>
                </a:solidFill>
                <a:latin typeface="+mj-ea"/>
                <a:ea typeface="+mj-ea"/>
              </a:rPr>
              <a:t>V2.0</a:t>
            </a:r>
            <a:endParaRPr lang="en-US" altLang="zh-CN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25E24D-8480-4B27-B0A4-9021FFC6119E}"/>
              </a:ext>
            </a:extLst>
          </p:cNvPr>
          <p:cNvSpPr/>
          <p:nvPr/>
        </p:nvSpPr>
        <p:spPr>
          <a:xfrm>
            <a:off x="2638425" y="2852738"/>
            <a:ext cx="2090738" cy="7874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j-ea"/>
                <a:ea typeface="+mj-ea"/>
              </a:rPr>
              <a:t>(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2)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递归和回溯法</a:t>
            </a:r>
            <a:endParaRPr lang="en-US" altLang="zh-CN" sz="1600" b="1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求一个可行解</a:t>
            </a:r>
            <a:endParaRPr lang="en-US" altLang="zh-CN" sz="16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0A573D-B0CB-4F8B-812F-C28614E50C37}"/>
              </a:ext>
            </a:extLst>
          </p:cNvPr>
          <p:cNvSpPr/>
          <p:nvPr/>
        </p:nvSpPr>
        <p:spPr>
          <a:xfrm>
            <a:off x="4719638" y="2436813"/>
            <a:ext cx="1860550" cy="4175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0070C0"/>
                </a:solidFill>
                <a:latin typeface="+mj-ea"/>
                <a:ea typeface="+mj-ea"/>
              </a:rPr>
              <a:t>八皇后问题</a:t>
            </a:r>
            <a:r>
              <a:rPr lang="en-US" altLang="zh-CN" sz="1600" b="1">
                <a:solidFill>
                  <a:srgbClr val="0070C0"/>
                </a:solidFill>
                <a:latin typeface="+mj-ea"/>
                <a:ea typeface="+mj-ea"/>
              </a:rPr>
              <a:t>V3.0</a:t>
            </a:r>
            <a:endParaRPr lang="en-US" altLang="zh-CN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969639-53B6-49D8-903A-6E3CB840108C}"/>
              </a:ext>
            </a:extLst>
          </p:cNvPr>
          <p:cNvSpPr/>
          <p:nvPr/>
        </p:nvSpPr>
        <p:spPr>
          <a:xfrm>
            <a:off x="4932363" y="2765425"/>
            <a:ext cx="1804987" cy="4175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j-ea"/>
                <a:ea typeface="+mj-ea"/>
              </a:rPr>
              <a:t>(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3)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求全部可行解</a:t>
            </a:r>
            <a:endParaRPr lang="en-US" altLang="zh-CN" sz="16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8B8399-7816-47B2-B660-C3B6EA251506}"/>
              </a:ext>
            </a:extLst>
          </p:cNvPr>
          <p:cNvSpPr/>
          <p:nvPr/>
        </p:nvSpPr>
        <p:spPr>
          <a:xfrm>
            <a:off x="6475413" y="1906588"/>
            <a:ext cx="1804987" cy="4175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0070C0"/>
                </a:solidFill>
                <a:latin typeface="+mj-ea"/>
                <a:ea typeface="+mj-ea"/>
              </a:rPr>
              <a:t>八皇后问题</a:t>
            </a:r>
            <a:r>
              <a:rPr lang="en-US" altLang="zh-CN" sz="1600" b="1">
                <a:solidFill>
                  <a:srgbClr val="0070C0"/>
                </a:solidFill>
                <a:latin typeface="+mj-ea"/>
                <a:ea typeface="+mj-ea"/>
              </a:rPr>
              <a:t>V4.0</a:t>
            </a:r>
            <a:endParaRPr lang="en-US" altLang="zh-CN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E9F27A-F12A-48FC-B2B5-90F151E71D7E}"/>
              </a:ext>
            </a:extLst>
          </p:cNvPr>
          <p:cNvSpPr/>
          <p:nvPr/>
        </p:nvSpPr>
        <p:spPr>
          <a:xfrm>
            <a:off x="6543675" y="2235200"/>
            <a:ext cx="2106613" cy="4175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j-ea"/>
                <a:ea typeface="+mj-ea"/>
              </a:rPr>
              <a:t>(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4)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图形可视化输出解</a:t>
            </a:r>
            <a:endParaRPr lang="en-US" altLang="zh-CN" sz="16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19DF24-6DC2-46E0-93AB-FAF446CC031D}"/>
              </a:ext>
            </a:extLst>
          </p:cNvPr>
          <p:cNvSpPr/>
          <p:nvPr/>
        </p:nvSpPr>
        <p:spPr>
          <a:xfrm>
            <a:off x="8786813" y="2393950"/>
            <a:ext cx="2584450" cy="7016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动态内存分配</a:t>
            </a:r>
            <a:endParaRPr lang="en-US" altLang="zh-CN" sz="1400">
              <a:solidFill>
                <a:srgbClr val="002060"/>
              </a:solidFill>
              <a:latin typeface="+mj-ea"/>
              <a:ea typeface="+mj-ea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  <a:sym typeface="Symbol" panose="05050102010706020507" pitchFamily="18" charset="2"/>
              </a:rPr>
              <a:t></a:t>
            </a:r>
            <a:r>
              <a:rPr lang="zh-CN" altLang="en-US" sz="1400">
                <a:solidFill>
                  <a:srgbClr val="002060"/>
                </a:solidFill>
                <a:latin typeface="+mj-ea"/>
                <a:ea typeface="+mj-ea"/>
              </a:rPr>
              <a:t>问题抽象、算法泛化</a:t>
            </a:r>
            <a:endParaRPr lang="en-US" altLang="zh-CN" sz="1400">
              <a:solidFill>
                <a:srgbClr val="002060"/>
              </a:solidFill>
              <a:latin typeface="+mj-ea"/>
              <a:ea typeface="+mj-ea"/>
              <a:sym typeface="Symbol" panose="05050102010706020507" pitchFamily="18" charset="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A83484-EB8D-4CC1-939A-1CD4281FD951}"/>
              </a:ext>
            </a:extLst>
          </p:cNvPr>
          <p:cNvSpPr/>
          <p:nvPr/>
        </p:nvSpPr>
        <p:spPr>
          <a:xfrm>
            <a:off x="8791575" y="1630363"/>
            <a:ext cx="1727200" cy="4175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>
                <a:solidFill>
                  <a:srgbClr val="0070C0"/>
                </a:solidFill>
                <a:latin typeface="+mj-ea"/>
                <a:ea typeface="+mj-ea"/>
              </a:rPr>
              <a:t>八皇后问题</a:t>
            </a:r>
            <a:r>
              <a:rPr lang="en-US" altLang="zh-CN" sz="1600" b="1">
                <a:solidFill>
                  <a:srgbClr val="0070C0"/>
                </a:solidFill>
                <a:latin typeface="+mj-ea"/>
                <a:ea typeface="+mj-ea"/>
              </a:rPr>
              <a:t>V5.0</a:t>
            </a:r>
            <a:endParaRPr lang="en-US" altLang="zh-CN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903286-E342-4DD3-83CF-EDF1DC9D7D87}"/>
              </a:ext>
            </a:extLst>
          </p:cNvPr>
          <p:cNvSpPr/>
          <p:nvPr/>
        </p:nvSpPr>
        <p:spPr>
          <a:xfrm>
            <a:off x="8759825" y="1935163"/>
            <a:ext cx="1958975" cy="4175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j-ea"/>
                <a:ea typeface="+mj-ea"/>
              </a:rPr>
              <a:t>(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5)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en-US" altLang="zh-CN" sz="1600" b="1">
                <a:solidFill>
                  <a:srgbClr val="C00000"/>
                </a:solidFill>
                <a:latin typeface="+mj-ea"/>
                <a:ea typeface="+mj-ea"/>
              </a:rPr>
              <a:t>N</a:t>
            </a:r>
            <a:r>
              <a:rPr lang="zh-CN" altLang="en-US" sz="1600" b="1">
                <a:solidFill>
                  <a:srgbClr val="C00000"/>
                </a:solidFill>
                <a:latin typeface="+mj-ea"/>
                <a:ea typeface="+mj-ea"/>
              </a:rPr>
              <a:t>皇后问题求解</a:t>
            </a:r>
            <a:endParaRPr lang="en-US" altLang="zh-CN" sz="16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D418492-6BED-43CE-9309-D9DEF3749565}"/>
              </a:ext>
            </a:extLst>
          </p:cNvPr>
          <p:cNvCxnSpPr>
            <a:cxnSpLocks/>
          </p:cNvCxnSpPr>
          <p:nvPr/>
        </p:nvCxnSpPr>
        <p:spPr>
          <a:xfrm>
            <a:off x="8759825" y="2398713"/>
            <a:ext cx="2520950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F820707-594A-449E-9CF0-D9CAB8DF8C37}"/>
              </a:ext>
            </a:extLst>
          </p:cNvPr>
          <p:cNvCxnSpPr>
            <a:cxnSpLocks/>
          </p:cNvCxnSpPr>
          <p:nvPr/>
        </p:nvCxnSpPr>
        <p:spPr>
          <a:xfrm>
            <a:off x="8759825" y="2398713"/>
            <a:ext cx="0" cy="612775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52">
            <a:extLst>
              <a:ext uri="{FF2B5EF4-FFF2-40B4-BE49-F238E27FC236}">
                <a16:creationId xmlns:a16="http://schemas.microsoft.com/office/drawing/2014/main" id="{CA2D40FC-9380-4E09-B847-4C4A8619C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6" y="1287463"/>
            <a:ext cx="6350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任务拆解为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个子任务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分层递进模式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在解决实际问题中自然引入算法理论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2">
            <a:extLst>
              <a:ext uri="{FF2B5EF4-FFF2-40B4-BE49-F238E27FC236}">
                <a16:creationId xmlns:a16="http://schemas.microsoft.com/office/drawing/2014/main" id="{1582ADE6-4233-4A46-9E1D-FE3BDB088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429125"/>
            <a:ext cx="1827213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图片 3">
            <a:extLst>
              <a:ext uri="{FF2B5EF4-FFF2-40B4-BE49-F238E27FC236}">
                <a16:creationId xmlns:a16="http://schemas.microsoft.com/office/drawing/2014/main" id="{2755774F-EB52-4B0D-A38B-BF9E0DD59149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19"/>
          <a:stretch>
            <a:fillRect/>
          </a:stretch>
        </p:blipFill>
        <p:spPr bwMode="auto">
          <a:xfrm>
            <a:off x="5081588" y="3695700"/>
            <a:ext cx="1354137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4">
            <a:extLst>
              <a:ext uri="{FF2B5EF4-FFF2-40B4-BE49-F238E27FC236}">
                <a16:creationId xmlns:a16="http://schemas.microsoft.com/office/drawing/2014/main" id="{137A53EF-A8AB-4CC7-8E0C-29FF81C36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3416300"/>
            <a:ext cx="1744662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5">
            <a:extLst>
              <a:ext uri="{FF2B5EF4-FFF2-40B4-BE49-F238E27FC236}">
                <a16:creationId xmlns:a16="http://schemas.microsoft.com/office/drawing/2014/main" id="{5A251CD8-795D-4140-8BA2-FFFBA5F65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638" y="3113088"/>
            <a:ext cx="1995487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683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00AF83-1E80-4CE6-35FC-18762E77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576322"/>
              </p:ext>
            </p:extLst>
          </p:nvPr>
        </p:nvGraphicFramePr>
        <p:xfrm>
          <a:off x="744071" y="1383314"/>
          <a:ext cx="1002831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318">
                  <a:extLst>
                    <a:ext uri="{9D8B030D-6E8A-4147-A177-3AD203B41FA5}">
                      <a16:colId xmlns:a16="http://schemas.microsoft.com/office/drawing/2014/main" val="1535812936"/>
                    </a:ext>
                  </a:extLst>
                </a:gridCol>
                <a:gridCol w="3012141">
                  <a:extLst>
                    <a:ext uri="{9D8B030D-6E8A-4147-A177-3AD203B41FA5}">
                      <a16:colId xmlns:a16="http://schemas.microsoft.com/office/drawing/2014/main" val="2821220486"/>
                    </a:ext>
                  </a:extLst>
                </a:gridCol>
                <a:gridCol w="4731522">
                  <a:extLst>
                    <a:ext uri="{9D8B030D-6E8A-4147-A177-3AD203B41FA5}">
                      <a16:colId xmlns:a16="http://schemas.microsoft.com/office/drawing/2014/main" val="2868703474"/>
                    </a:ext>
                  </a:extLst>
                </a:gridCol>
                <a:gridCol w="1603332">
                  <a:extLst>
                    <a:ext uri="{9D8B030D-6E8A-4147-A177-3AD203B41FA5}">
                      <a16:colId xmlns:a16="http://schemas.microsoft.com/office/drawing/2014/main" val="170052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本实验需要的背景知识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超星平台慕课视频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预习情况自查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13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循环、枚举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第</a:t>
                      </a:r>
                      <a:r>
                        <a:rPr lang="en-US" altLang="zh-CN" sz="1400" b="1" dirty="0"/>
                        <a:t>4</a:t>
                      </a:r>
                      <a:r>
                        <a:rPr lang="zh-CN" altLang="en-US" sz="1400" b="1" dirty="0"/>
                        <a:t>章 </a:t>
                      </a:r>
                      <a:r>
                        <a:rPr lang="zh-CN" altLang="en-US" sz="1400" b="1"/>
                        <a:t>基本控制结构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46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自定义函数及其调用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第</a:t>
                      </a:r>
                      <a:r>
                        <a:rPr lang="en-US" altLang="zh-CN" sz="1400" b="1" dirty="0"/>
                        <a:t>5</a:t>
                      </a:r>
                      <a:r>
                        <a:rPr lang="zh-CN" altLang="en-US" sz="1400" b="1" dirty="0"/>
                        <a:t>章 函数和常用的问题求解方法：</a:t>
                      </a:r>
                      <a:r>
                        <a:rPr lang="en-US" altLang="zh-CN" sz="1400" b="1" dirty="0"/>
                        <a:t>5.1~5.5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□ 已完成预习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递归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第</a:t>
                      </a:r>
                      <a:r>
                        <a:rPr lang="en-US" altLang="zh-CN" sz="1400" b="1" dirty="0"/>
                        <a:t>5</a:t>
                      </a:r>
                      <a:r>
                        <a:rPr lang="zh-CN" altLang="en-US" sz="1400" b="1" dirty="0"/>
                        <a:t>章 函数和常用的</a:t>
                      </a:r>
                      <a:r>
                        <a:rPr lang="zh-CN" altLang="en-US" sz="1400" b="1"/>
                        <a:t>问题求解方法：</a:t>
                      </a:r>
                      <a:r>
                        <a:rPr lang="en-US" altLang="zh-CN" sz="1400" b="1"/>
                        <a:t>5.6-5.9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52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一</a:t>
                      </a:r>
                      <a:r>
                        <a:rPr lang="zh-CN" altLang="en-US" sz="1400" b="1"/>
                        <a:t>维数组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/>
                        <a:t>第</a:t>
                      </a:r>
                      <a:r>
                        <a:rPr lang="en-US" altLang="zh-CN" sz="1400" b="1" dirty="0"/>
                        <a:t>6</a:t>
                      </a:r>
                      <a:r>
                        <a:rPr lang="zh-CN" altLang="en-US" sz="1400" b="1" dirty="0"/>
                        <a:t>章 数组和常用的排序查找算法：</a:t>
                      </a:r>
                      <a:r>
                        <a:rPr lang="en-US" altLang="zh-CN" sz="1400" b="1" dirty="0"/>
                        <a:t>6.1, 6.2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0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指针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第</a:t>
                      </a:r>
                      <a:r>
                        <a:rPr lang="en-US" altLang="zh-CN" sz="1400" b="1"/>
                        <a:t>7</a:t>
                      </a:r>
                      <a:r>
                        <a:rPr lang="zh-CN" altLang="en-US" sz="1400" b="1"/>
                        <a:t>章 变量的指针和函数指针：</a:t>
                      </a:r>
                      <a:r>
                        <a:rPr lang="en-US" altLang="zh-CN" sz="1400" b="1"/>
                        <a:t>7.1</a:t>
                      </a:r>
                      <a:r>
                        <a:rPr lang="zh-CN" altLang="en-US" sz="1400" b="1"/>
                        <a:t>，</a:t>
                      </a:r>
                      <a:r>
                        <a:rPr lang="en-US" altLang="zh-CN" sz="1400" b="1"/>
                        <a:t>7.7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0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动态内存分配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第</a:t>
                      </a:r>
                      <a:r>
                        <a:rPr lang="en-US" altLang="zh-CN" sz="1400" b="1"/>
                        <a:t>10</a:t>
                      </a:r>
                      <a:r>
                        <a:rPr lang="zh-CN" altLang="en-US" sz="1400" b="1"/>
                        <a:t>章 链表与动态数据结构：</a:t>
                      </a:r>
                      <a:r>
                        <a:rPr lang="en-US" altLang="zh-CN" sz="1400" b="1"/>
                        <a:t>10.1</a:t>
                      </a:r>
                      <a:r>
                        <a:rPr lang="zh-CN" altLang="en-US" sz="1400" b="1"/>
                        <a:t>，</a:t>
                      </a:r>
                      <a:r>
                        <a:rPr lang="en-US" altLang="zh-CN" sz="1400" b="1"/>
                        <a:t>10.2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99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err="1"/>
                        <a:t>Easyx</a:t>
                      </a:r>
                      <a:r>
                        <a:rPr lang="zh-CN" altLang="en-US" sz="1400" b="1" dirty="0"/>
                        <a:t>图形库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第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章 基于第三方库的声图文编程和项目版本控制：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□ 已完成预习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63500"/>
                  </a:ext>
                </a:extLst>
              </a:tr>
            </a:tbl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58A7E4BC-B4F8-4E30-8427-8924B939B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r>
              <a:rPr kumimoji="1"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八皇后问题</a:t>
            </a:r>
            <a:endParaRPr kumimoji="1"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396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151323" cy="262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1——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枚举方法求一个可行解</a:t>
            </a:r>
            <a:endParaRPr lang="en-US" altLang="zh-CN" sz="2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目标（运行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效果）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采用枚举法求解八皇后问题，程序在搜索过程中一旦找到一个满足条件的可行解，立即在控制台输出当前棋盘布局，并终止搜索过程</a:t>
            </a:r>
            <a:endParaRPr lang="zh-CN" altLang="en-US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案例实践项目</a:t>
            </a:r>
            <a:r>
              <a:rPr kumimoji="1"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八皇后问题</a:t>
            </a:r>
            <a:endParaRPr kumimoji="1"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6">
            <a:extLst>
              <a:ext uri="{FF2B5EF4-FFF2-40B4-BE49-F238E27FC236}">
                <a16:creationId xmlns:a16="http://schemas.microsoft.com/office/drawing/2014/main" id="{0C82A73C-17E6-4047-98D6-B91DB4CD2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200" y="3783746"/>
            <a:ext cx="3495675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7A3B4D3-0C08-436D-B6FC-2507C1464639}"/>
              </a:ext>
            </a:extLst>
          </p:cNvPr>
          <p:cNvSpPr txBox="1"/>
          <p:nvPr/>
        </p:nvSpPr>
        <p:spPr>
          <a:xfrm>
            <a:off x="735577" y="6416584"/>
            <a:ext cx="4892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用 </a:t>
            </a:r>
            <a:r>
              <a:rPr lang="en-US" altLang="zh-CN" sz="1400"/>
              <a:t>Q </a:t>
            </a:r>
            <a:r>
              <a:rPr lang="zh-CN" altLang="en-US" sz="1400"/>
              <a:t>表示皇后，用 </a:t>
            </a:r>
            <a:r>
              <a:rPr lang="en-US" altLang="zh-CN" sz="1400"/>
              <a:t>. </a:t>
            </a:r>
            <a:r>
              <a:rPr lang="zh-CN" altLang="en-US" sz="1400"/>
              <a:t>表示空位，并用分隔线区分输出区域。</a:t>
            </a:r>
          </a:p>
        </p:txBody>
      </p:sp>
      <p:sp>
        <p:nvSpPr>
          <p:cNvPr id="11" name="AutoShape 22">
            <a:extLst>
              <a:ext uri="{FF2B5EF4-FFF2-40B4-BE49-F238E27FC236}">
                <a16:creationId xmlns:a16="http://schemas.microsoft.com/office/drawing/2014/main" id="{7133AB8F-E692-436B-8031-04F712309A91}"/>
              </a:ext>
            </a:extLst>
          </p:cNvPr>
          <p:cNvSpPr/>
          <p:nvPr/>
        </p:nvSpPr>
        <p:spPr>
          <a:xfrm>
            <a:off x="6490781" y="1408845"/>
            <a:ext cx="5611955" cy="40644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</a:rPr>
              <a:t>夯实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sym typeface="Noto Sans SC"/>
              </a:rPr>
              <a:t>一维数组、循环编程语言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</a:rPr>
              <a:t>基础</a:t>
            </a: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sym typeface="Noto Sans SC"/>
              </a:rPr>
              <a:t>掌握枚举算法思想及其实现</a:t>
            </a:r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深入理解八皇后问题的状态表示（如数组压缩）与冲突检测逻辑</a:t>
            </a: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marL="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Noto Sans SC"/>
              </a:rPr>
              <a:t>能力目标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Noto Sans SC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熟练运用枚举算法，解决复杂逻辑问题。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151323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枚举方法求一个可行解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468FCADB-BF10-D1DC-EEE5-AD9FD3D6D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168" y="1196105"/>
            <a:ext cx="4811958" cy="92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数据结构设计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一维数组压缩表示棋盘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0C82A73C-17E6-4047-98D6-B91DB4CD2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23" y="2148681"/>
            <a:ext cx="3495675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AutoShape 6">
            <a:extLst>
              <a:ext uri="{FF2B5EF4-FFF2-40B4-BE49-F238E27FC236}">
                <a16:creationId xmlns:a16="http://schemas.microsoft.com/office/drawing/2014/main" id="{6F795093-2133-4EFF-8679-6C9B2860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2833" y="2343953"/>
            <a:ext cx="5516970" cy="92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使用一维数组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Noto Sans SC" panose="020B0200000000000000" pitchFamily="34" charset="-122"/>
              </a:rPr>
              <a:t>int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board[N]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</a:rPr>
              <a:t>高效地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表示棋盘状态，其中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N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定义为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8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，数组下标代表行号，值代表列号。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表格 3">
            <a:extLst>
              <a:ext uri="{FF2B5EF4-FFF2-40B4-BE49-F238E27FC236}">
                <a16:creationId xmlns:a16="http://schemas.microsoft.com/office/drawing/2014/main" id="{E813ADE1-56CE-429B-B537-AB49D5D7B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02280"/>
              </p:ext>
            </p:extLst>
          </p:nvPr>
        </p:nvGraphicFramePr>
        <p:xfrm>
          <a:off x="6009168" y="3337718"/>
          <a:ext cx="6102360" cy="1371600"/>
        </p:xfrm>
        <a:graphic>
          <a:graphicData uri="http://schemas.openxmlformats.org/drawingml/2006/table">
            <a:tbl>
              <a:tblPr firstRow="1" bandRow="1"/>
              <a:tblGrid>
                <a:gridCol w="1330955">
                  <a:extLst>
                    <a:ext uri="{9D8B030D-6E8A-4147-A177-3AD203B41FA5}">
                      <a16:colId xmlns:a16="http://schemas.microsoft.com/office/drawing/2014/main" val="2007879655"/>
                    </a:ext>
                  </a:extLst>
                </a:gridCol>
                <a:gridCol w="2163439">
                  <a:extLst>
                    <a:ext uri="{9D8B030D-6E8A-4147-A177-3AD203B41FA5}">
                      <a16:colId xmlns:a16="http://schemas.microsoft.com/office/drawing/2014/main" val="3965018739"/>
                    </a:ext>
                  </a:extLst>
                </a:gridCol>
                <a:gridCol w="2607966">
                  <a:extLst>
                    <a:ext uri="{9D8B030D-6E8A-4147-A177-3AD203B41FA5}">
                      <a16:colId xmlns:a16="http://schemas.microsoft.com/office/drawing/2014/main" val="4077943408"/>
                    </a:ext>
                  </a:extLst>
                </a:gridCol>
              </a:tblGrid>
              <a:tr h="3361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/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数组元素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/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含义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ctr"/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优势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74627"/>
                  </a:ext>
                </a:extLst>
              </a:tr>
              <a:tr h="3361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board[i]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第 </a:t>
                      </a:r>
                      <a:r>
                        <a:rPr 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i </a:t>
                      </a:r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行皇后所在的列号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自然避免同行冲突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06482"/>
                  </a:ext>
                </a:extLst>
              </a:tr>
              <a:tr h="3361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board[i] = -1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nn-NO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第 i 行未放置皇后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Book"/>
                        </a:defRPr>
                      </a:lvl9pPr>
                    </a:lstStyle>
                    <a:p>
                      <a:pPr algn="l"/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ui-sans-serif"/>
                        </a:rPr>
                        <a:t>节省空间，便于判断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841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19002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F1487AF3-8729-460D-88F4-6CF93AE00485}"/>
              </a:ext>
            </a:extLst>
          </p:cNvPr>
          <p:cNvSpPr txBox="1"/>
          <p:nvPr/>
        </p:nvSpPr>
        <p:spPr>
          <a:xfrm>
            <a:off x="6096000" y="4864532"/>
            <a:ext cx="59022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问题建模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皇后之间的约束：不同行；不同列；不同对角线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A3B4D3-0C08-436D-B6FC-2507C1464639}"/>
              </a:ext>
            </a:extLst>
          </p:cNvPr>
          <p:cNvSpPr txBox="1"/>
          <p:nvPr/>
        </p:nvSpPr>
        <p:spPr>
          <a:xfrm>
            <a:off x="443554" y="5021012"/>
            <a:ext cx="4892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Q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表示皇后，用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.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表示空位，并用分隔线区分输出区域。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784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案例实践项目</a:t>
            </a:r>
            <a:r>
              <a:rPr kumimoji="1"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八皇后问题</a:t>
            </a:r>
            <a:endParaRPr kumimoji="1"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918" y="1169344"/>
            <a:ext cx="5503353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算法思路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逐行枚举：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从第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行开始，对当前行尝试列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0-7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；若合法则进入下一行。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冲突检测：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放置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(row,col)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前，遍历之前行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i&lt;row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同列：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board[i]==col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对角线：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abs(board[i]-col)==row-i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回退机制：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若某行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所有列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都失败（列号越界），重置该行并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row--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回到上一行继续尝试下一列。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单解终止：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当成功放到最后一行得到完整布局，立即输出棋盘并停止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27" y="895639"/>
            <a:ext cx="5738197" cy="359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1——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枚举方法求一个可行解</a:t>
            </a:r>
            <a:endParaRPr lang="en-US" altLang="zh-CN" sz="2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什么是枚举法？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枚举法是指</a:t>
            </a:r>
            <a:r>
              <a:rPr lang="zh-CN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逐个尝试所有可能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的皇后放置位置，通过</a:t>
            </a:r>
            <a:r>
              <a:rPr lang="zh-CN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循环遍历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每一行的所有列位置，并结合回退机制搜索解空间，相当于用循环模拟回溯过程。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6276404" y="1491914"/>
            <a:ext cx="0" cy="482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A00E5DC-4783-4277-9723-4966B87A9DAC}"/>
              </a:ext>
            </a:extLst>
          </p:cNvPr>
          <p:cNvSpPr txBox="1"/>
          <p:nvPr/>
        </p:nvSpPr>
        <p:spPr>
          <a:xfrm>
            <a:off x="1060172" y="4030751"/>
            <a:ext cx="49287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逐行枚举，不管冲不冲突，所有列都先试一遍！</a:t>
            </a:r>
          </a:p>
          <a:p>
            <a:r>
              <a:rPr lang="zh-CN" altLang="en-US"/>
              <a:t>试第 </a:t>
            </a:r>
            <a:r>
              <a:rPr lang="en-US" altLang="zh-CN"/>
              <a:t>0 </a:t>
            </a:r>
            <a:r>
              <a:rPr lang="zh-CN" altLang="en-US"/>
              <a:t>列 → 冲突</a:t>
            </a:r>
          </a:p>
          <a:p>
            <a:r>
              <a:rPr lang="zh-CN" altLang="en-US"/>
              <a:t>试第 </a:t>
            </a:r>
            <a:r>
              <a:rPr lang="en-US" altLang="zh-CN"/>
              <a:t>1 </a:t>
            </a:r>
            <a:r>
              <a:rPr lang="zh-CN" altLang="en-US"/>
              <a:t>列 → 冲突</a:t>
            </a:r>
          </a:p>
          <a:p>
            <a:r>
              <a:rPr lang="zh-CN" altLang="en-US"/>
              <a:t>试第 </a:t>
            </a:r>
            <a:r>
              <a:rPr lang="en-US" altLang="zh-CN"/>
              <a:t>2 </a:t>
            </a:r>
            <a:r>
              <a:rPr lang="zh-CN" altLang="en-US"/>
              <a:t>列 → 安全</a:t>
            </a:r>
          </a:p>
          <a:p>
            <a:r>
              <a:rPr lang="zh-CN" altLang="en-US"/>
              <a:t>试第 </a:t>
            </a:r>
            <a:r>
              <a:rPr lang="en-US" altLang="zh-CN"/>
              <a:t>3 </a:t>
            </a:r>
            <a:r>
              <a:rPr lang="zh-CN" altLang="en-US"/>
              <a:t>列 → 安全</a:t>
            </a:r>
          </a:p>
          <a:p>
            <a:r>
              <a:rPr lang="en-US" altLang="zh-CN"/>
              <a:t>……</a:t>
            </a:r>
          </a:p>
          <a:p>
            <a:r>
              <a:rPr lang="zh-CN" altLang="en-US"/>
              <a:t>一直试到第 </a:t>
            </a:r>
            <a:r>
              <a:rPr lang="en-US" altLang="zh-CN"/>
              <a:t>7 </a:t>
            </a:r>
            <a:r>
              <a:rPr lang="zh-CN" altLang="en-US"/>
              <a:t>列</a:t>
            </a:r>
          </a:p>
          <a:p>
            <a:r>
              <a:rPr lang="zh-CN" altLang="en-US" b="1"/>
              <a:t>所有可能全部走一遍，不提前放弃。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313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15" y="1283637"/>
            <a:ext cx="550335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枚举方法求一个可行解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模块划分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800" y="772588"/>
            <a:ext cx="6999967" cy="600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）首先遍历棋盘数组，将所有元素赋值为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，表示所有行均未放置皇后。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QueensEnumeration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QueensEnumeration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初始化准备：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设置当前处理行号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= 0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，并将第一行的列标记为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，保证从第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列开始尝试。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）循环枚举：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&gt;= 0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为条件进入主循环，每次循环将当前行的列号加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，尝试下一个列位置。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）越界回退：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若当前行的列号超出棋盘范围，说明该行无合法位置，重置当前行状态并将行号减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，回退到上一行重新尝试。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）安全判断：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调用安全检测函数（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IsSafe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），判断当前位置放置皇后是否冲突。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）分支处理：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若位置不安全，继续循环尝试当前行的下一列；若位置安全，判断是否到达最后一行：若到达则标记找到解、打印棋盘并结束函数；若未到达则行号加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，进入下一行并重置列标记，继续枚举。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）结束条件：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找到完整解时打印棋盘（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PrintBoard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），直接终止函数，若循环结束仍未找到解则自动退出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5520158" y="1058509"/>
            <a:ext cx="0" cy="553107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D1930C1-6848-49B3-A88D-CB691AA2E300}"/>
              </a:ext>
            </a:extLst>
          </p:cNvPr>
          <p:cNvGrpSpPr/>
          <p:nvPr/>
        </p:nvGrpSpPr>
        <p:grpSpPr>
          <a:xfrm>
            <a:off x="-9104" y="2320914"/>
            <a:ext cx="5493169" cy="2741698"/>
            <a:chOff x="2689607" y="3865784"/>
            <a:chExt cx="5493169" cy="274169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9B5E241-A873-44AC-80DA-9C476A8ED972}"/>
                </a:ext>
              </a:extLst>
            </p:cNvPr>
            <p:cNvSpPr txBox="1"/>
            <p:nvPr/>
          </p:nvSpPr>
          <p:spPr>
            <a:xfrm>
              <a:off x="5079061" y="3865784"/>
              <a:ext cx="13773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主函数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250D1E-92CE-4244-86A3-9B43C58713FD}"/>
                </a:ext>
              </a:extLst>
            </p:cNvPr>
            <p:cNvSpPr txBox="1"/>
            <p:nvPr/>
          </p:nvSpPr>
          <p:spPr>
            <a:xfrm>
              <a:off x="3811661" y="4441822"/>
              <a:ext cx="3903633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枚举算法求一个八皇后问题可行解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QueensEnumeration 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D0E7C7-061F-41F2-AEA6-A353CAA4011D}"/>
                </a:ext>
              </a:extLst>
            </p:cNvPr>
            <p:cNvSpPr txBox="1"/>
            <p:nvPr/>
          </p:nvSpPr>
          <p:spPr>
            <a:xfrm>
              <a:off x="2689607" y="5961151"/>
              <a:ext cx="295472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判断当前位置是否安全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IsSafe(int row, int col);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D8DC5C-4CA7-42E0-9D36-8F958C731B68}"/>
                </a:ext>
              </a:extLst>
            </p:cNvPr>
            <p:cNvSpPr txBox="1"/>
            <p:nvPr/>
          </p:nvSpPr>
          <p:spPr>
            <a:xfrm>
              <a:off x="5779554" y="5961150"/>
              <a:ext cx="2403222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输出棋盘布局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PrintBoard(void);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74B64E-E329-421E-8D94-B47D37CA0494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5763478" y="4235116"/>
              <a:ext cx="4233" cy="20670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0E21A0A-3DE7-4598-A799-FABE296C2B5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5400000">
              <a:off x="4528724" y="4726397"/>
              <a:ext cx="872998" cy="1596511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EF76E322-1419-40A4-B02A-B0FA972E3B3D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 rot="16200000" flipH="1">
              <a:off x="5935823" y="4915807"/>
              <a:ext cx="872997" cy="1217687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9776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151323" cy="262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递归与回溯求一个可行解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目标（运行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递归与回溯法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求解八皇后问题，程序在搜索过程中一旦找到一个满足条件的可行解，立即在控制台输出当前棋盘布局，并终止搜索过程。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532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7A3B4D3-0C08-436D-B6FC-2507C1464639}"/>
              </a:ext>
            </a:extLst>
          </p:cNvPr>
          <p:cNvSpPr txBox="1"/>
          <p:nvPr/>
        </p:nvSpPr>
        <p:spPr>
          <a:xfrm>
            <a:off x="735577" y="6416584"/>
            <a:ext cx="4892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Q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表示皇后，用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.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表示空位，并用分隔线区分输出区域。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587969-2A06-49F6-AD67-7C405F3E9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433" y="3714680"/>
            <a:ext cx="3255854" cy="2482724"/>
          </a:xfrm>
          <a:prstGeom prst="rect">
            <a:avLst/>
          </a:prstGeom>
        </p:spPr>
      </p:pic>
      <p:sp>
        <p:nvSpPr>
          <p:cNvPr id="19" name="AutoShape 22">
            <a:extLst>
              <a:ext uri="{FF2B5EF4-FFF2-40B4-BE49-F238E27FC236}">
                <a16:creationId xmlns:a16="http://schemas.microsoft.com/office/drawing/2014/main" id="{5C441A63-C26B-4821-BE77-2BEB4E8AB470}"/>
              </a:ext>
            </a:extLst>
          </p:cNvPr>
          <p:cNvSpPr/>
          <p:nvPr/>
        </p:nvSpPr>
        <p:spPr>
          <a:xfrm>
            <a:off x="6490781" y="1408845"/>
            <a:ext cx="5611955" cy="40644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掌握递归回溯算法思想及其实现</a:t>
            </a:r>
          </a:p>
          <a:p>
            <a:pPr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通过与枚举法的对比，体会不同算法思想带来的代码质量上的差异。</a:t>
            </a: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marL="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Noto Sans SC"/>
              </a:rPr>
              <a:t>能力目标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Noto Sans SC"/>
            </a:endParaRPr>
          </a:p>
          <a:p>
            <a:pPr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提升对递归思想和回溯剪枝技巧的理解与应用能力</a:t>
            </a:r>
          </a:p>
          <a:p>
            <a:pPr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熟练运用递归思想和回溯方法，解决复杂逻辑问题。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26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27" y="895639"/>
            <a:ext cx="6096982" cy="3967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递归与回溯求一个可行解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递归与回溯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法？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递归回溯算法是一种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基于递归实现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试探性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搜索算法。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递归：就是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函数自己调用自己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。把一个大问题，拆解成一个个结构相同、规模更小的子问题，直到遇到最简单的情况（终止条件），再一步步返回结果。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6307716" y="1094070"/>
            <a:ext cx="79985" cy="563029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0BD074F1-D702-4B51-8317-E73D619E0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990" y="4081623"/>
            <a:ext cx="3027457" cy="230856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A4303DC-5E9D-4746-A048-BDC95DF3AC88}"/>
              </a:ext>
            </a:extLst>
          </p:cNvPr>
          <p:cNvSpPr txBox="1"/>
          <p:nvPr/>
        </p:nvSpPr>
        <p:spPr>
          <a:xfrm>
            <a:off x="6347708" y="895639"/>
            <a:ext cx="605077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QueensRecursion(row = 0)</a:t>
            </a:r>
          </a:p>
          <a:p>
            <a:r>
              <a:rPr lang="en-US" altLang="zh-CN"/>
              <a:t> ├─ col = 0 ✔ </a:t>
            </a:r>
            <a:r>
              <a:rPr lang="zh-CN" altLang="en-US"/>
              <a:t>安全（解的第一步）</a:t>
            </a:r>
          </a:p>
          <a:p>
            <a:r>
              <a:rPr lang="zh-CN" altLang="en-US"/>
              <a:t> │   └─ </a:t>
            </a:r>
            <a:r>
              <a:rPr lang="en-US" altLang="zh-CN"/>
              <a:t>QueensRecursion(row = 1)</a:t>
            </a:r>
          </a:p>
          <a:p>
            <a:r>
              <a:rPr lang="en-US" altLang="zh-CN"/>
              <a:t> │       ├─ col = 0 ✘ </a:t>
            </a:r>
            <a:r>
              <a:rPr lang="zh-CN" altLang="en-US"/>
              <a:t>冲突（同列）</a:t>
            </a:r>
          </a:p>
          <a:p>
            <a:r>
              <a:rPr lang="zh-CN" altLang="en-US"/>
              <a:t> │       ├─ </a:t>
            </a:r>
            <a:r>
              <a:rPr lang="en-US" altLang="zh-CN"/>
              <a:t>col = 1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├─ </a:t>
            </a:r>
            <a:r>
              <a:rPr lang="en-US" altLang="zh-CN"/>
              <a:t>col = 2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├─ </a:t>
            </a:r>
            <a:r>
              <a:rPr lang="en-US" altLang="zh-CN"/>
              <a:t>col = 3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├─ </a:t>
            </a:r>
            <a:r>
              <a:rPr lang="en-US" altLang="zh-CN"/>
              <a:t>col = 4 ✔ </a:t>
            </a:r>
            <a:r>
              <a:rPr lang="zh-CN" altLang="en-US"/>
              <a:t>安全（解的第二步）</a:t>
            </a:r>
          </a:p>
          <a:p>
            <a:r>
              <a:rPr lang="zh-CN" altLang="en-US"/>
              <a:t> │       │   └─ </a:t>
            </a:r>
            <a:r>
              <a:rPr lang="en-US" altLang="zh-CN"/>
              <a:t>QueensRecursion(row = 2)</a:t>
            </a:r>
          </a:p>
          <a:p>
            <a:r>
              <a:rPr lang="en-US" altLang="zh-CN"/>
              <a:t> │       │       ├─ col = 0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1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2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3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4 ✘ </a:t>
            </a:r>
            <a:r>
              <a:rPr lang="zh-CN" altLang="en-US"/>
              <a:t>冲突（同列）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5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├─ </a:t>
            </a:r>
            <a:r>
              <a:rPr lang="en-US" altLang="zh-CN"/>
              <a:t>col = 6 ✘ </a:t>
            </a:r>
            <a:r>
              <a:rPr lang="zh-CN" altLang="en-US"/>
              <a:t>冲突（对角线）</a:t>
            </a:r>
          </a:p>
          <a:p>
            <a:r>
              <a:rPr lang="zh-CN" altLang="en-US"/>
              <a:t> │       │       └─ </a:t>
            </a:r>
            <a:r>
              <a:rPr lang="en-US" altLang="zh-CN"/>
              <a:t>col = 7 ✔ </a:t>
            </a:r>
            <a:r>
              <a:rPr lang="zh-CN" altLang="en-US"/>
              <a:t>安全（解的第三步）</a:t>
            </a:r>
          </a:p>
          <a:p>
            <a:r>
              <a:rPr lang="zh-CN" altLang="en-US"/>
              <a:t> │       │           └─ </a:t>
            </a:r>
            <a:r>
              <a:rPr lang="en-US" altLang="zh-CN"/>
              <a:t>QueensRecursion(row = 3)</a:t>
            </a:r>
          </a:p>
          <a:p>
            <a:r>
              <a:rPr lang="en-US" altLang="zh-CN"/>
              <a:t> │       │               ├─ …</a:t>
            </a:r>
            <a:endParaRPr lang="zh-CN" altLang="en-US"/>
          </a:p>
          <a:p>
            <a:r>
              <a:rPr lang="zh-CN" altLang="en-US"/>
              <a:t> │       │                                 └─ </a:t>
            </a:r>
            <a:r>
              <a:rPr lang="en-US" altLang="zh-CN"/>
              <a:t>row == 8</a:t>
            </a:r>
          </a:p>
          <a:p>
            <a:r>
              <a:rPr lang="en-US" altLang="zh-CN"/>
              <a:t> │       │                                   ✔ </a:t>
            </a:r>
            <a:r>
              <a:rPr lang="zh-CN" altLang="en-US"/>
              <a:t>找到解！终止所有递归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6080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151323" cy="221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递归与回溯求一个可行解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算法核心思路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递归与回溯法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采用行优先策略递归，对当前行枚举所有列并进行安全性校验。一旦找到解或发现无解，立即进行回溯剪枝，避免无效计算。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532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7A3B4D3-0C08-436D-B6FC-2507C1464639}"/>
              </a:ext>
            </a:extLst>
          </p:cNvPr>
          <p:cNvSpPr txBox="1"/>
          <p:nvPr/>
        </p:nvSpPr>
        <p:spPr>
          <a:xfrm>
            <a:off x="735577" y="6416584"/>
            <a:ext cx="4892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Q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表示皇后，用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.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表示空位，并用分隔线区分输出区域。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587969-2A06-49F6-AD67-7C405F3E9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433" y="3714680"/>
            <a:ext cx="3255854" cy="2482724"/>
          </a:xfrm>
          <a:prstGeom prst="rect">
            <a:avLst/>
          </a:prstGeom>
        </p:spPr>
      </p:pic>
      <p:sp>
        <p:nvSpPr>
          <p:cNvPr id="24" name="AutoShape 7">
            <a:extLst>
              <a:ext uri="{FF2B5EF4-FFF2-40B4-BE49-F238E27FC236}">
                <a16:creationId xmlns:a16="http://schemas.microsoft.com/office/drawing/2014/main" id="{6D59199E-3A7B-41BB-BCB2-908B8D8703FF}"/>
              </a:ext>
            </a:extLst>
          </p:cNvPr>
          <p:cNvSpPr/>
          <p:nvPr/>
        </p:nvSpPr>
        <p:spPr>
          <a:xfrm>
            <a:off x="6198759" y="1160014"/>
            <a:ext cx="5751272" cy="2445335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A080845B-A066-4B04-B4E3-32FFD150B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758" y="1254723"/>
            <a:ext cx="451961" cy="506112"/>
          </a:xfrm>
          <a:prstGeom prst="rect">
            <a:avLst/>
          </a:prstGeom>
        </p:spPr>
      </p:pic>
      <p:sp>
        <p:nvSpPr>
          <p:cNvPr id="26" name="AutoShape 9">
            <a:extLst>
              <a:ext uri="{FF2B5EF4-FFF2-40B4-BE49-F238E27FC236}">
                <a16:creationId xmlns:a16="http://schemas.microsoft.com/office/drawing/2014/main" id="{19AF9B5D-D3D2-43C6-9C09-C34D6D9C4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869" y="1160014"/>
            <a:ext cx="4954161" cy="63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b="1">
                <a:solidFill>
                  <a:srgbClr val="2D3748"/>
                </a:solidFill>
                <a:latin typeface="Noto Sans SC" panose="020B0200000000000000" pitchFamily="34" charset="-122"/>
                <a:ea typeface="Noto Sans SC" panose="020B0200000000000000" pitchFamily="34" charset="-122"/>
                <a:sym typeface="Noto Sans SC" panose="020B0200000000000000" pitchFamily="34" charset="-122"/>
              </a:rPr>
              <a:t>核心递归函数设计</a:t>
            </a:r>
            <a:endParaRPr lang="zh-CN" altLang="en-US" sz="1800"/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8ED5FACA-02F6-43C7-AD45-A309B8CCC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2758" y="1770281"/>
            <a:ext cx="5391293" cy="126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核心函数为</a:t>
            </a:r>
            <a:r>
              <a:rPr lang="en-US" altLang="zh-CN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void QueensRecursion(int row)</a:t>
            </a:r>
          </a:p>
          <a:p>
            <a:pPr>
              <a:lnSpc>
                <a:spcPct val="125000"/>
              </a:lnSpc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参数 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row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表示当前要处理的行号，通过递归来深度遍历解空间。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922A3B80-8979-4638-BB44-9DC26D19DF73}"/>
              </a:ext>
            </a:extLst>
          </p:cNvPr>
          <p:cNvSpPr/>
          <p:nvPr/>
        </p:nvSpPr>
        <p:spPr>
          <a:xfrm>
            <a:off x="6278825" y="3886200"/>
            <a:ext cx="5751272" cy="2530383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12">
            <a:extLst>
              <a:ext uri="{FF2B5EF4-FFF2-40B4-BE49-F238E27FC236}">
                <a16:creationId xmlns:a16="http://schemas.microsoft.com/office/drawing/2014/main" id="{2612652E-B484-4F59-9E01-B0978E0CD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908" y="4277387"/>
            <a:ext cx="451961" cy="506112"/>
          </a:xfrm>
          <a:prstGeom prst="rect">
            <a:avLst/>
          </a:prstGeom>
        </p:spPr>
      </p:pic>
      <p:sp>
        <p:nvSpPr>
          <p:cNvPr id="30" name="AutoShape 13">
            <a:extLst>
              <a:ext uri="{FF2B5EF4-FFF2-40B4-BE49-F238E27FC236}">
                <a16:creationId xmlns:a16="http://schemas.microsoft.com/office/drawing/2014/main" id="{00B25552-D62C-4BD3-8971-5D114FA5A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969" y="4205046"/>
            <a:ext cx="4954161" cy="63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b="1">
                <a:solidFill>
                  <a:srgbClr val="2D3748"/>
                </a:solidFill>
                <a:latin typeface="Noto Sans SC" panose="020B0200000000000000" pitchFamily="34" charset="-122"/>
                <a:ea typeface="Noto Sans SC" panose="020B0200000000000000" pitchFamily="34" charset="-122"/>
                <a:sym typeface="Noto Sans SC" panose="020B0200000000000000" pitchFamily="34" charset="-122"/>
              </a:rPr>
              <a:t>高效剪枝技巧</a:t>
            </a:r>
            <a:endParaRPr lang="zh-CN" altLang="en-US" sz="1800"/>
          </a:p>
        </p:txBody>
      </p:sp>
      <p:sp>
        <p:nvSpPr>
          <p:cNvPr id="31" name="AutoShape 14">
            <a:extLst>
              <a:ext uri="{FF2B5EF4-FFF2-40B4-BE49-F238E27FC236}">
                <a16:creationId xmlns:a16="http://schemas.microsoft.com/office/drawing/2014/main" id="{B9BE665A-50FB-4FC7-A7C8-DDA1ECC1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824" y="4999871"/>
            <a:ext cx="5391293" cy="126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65100" indent="-1651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rgbClr val="718096"/>
              </a:buClr>
              <a:buFontTx/>
              <a:buChar char="•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引入全局布尔变量 </a:t>
            </a:r>
            <a:r>
              <a:rPr lang="en-US" altLang="zh-CN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bool found = false;</a:t>
            </a:r>
          </a:p>
          <a:p>
            <a:pPr>
              <a:lnSpc>
                <a:spcPct val="125000"/>
              </a:lnSpc>
              <a:buClr>
                <a:srgbClr val="718096"/>
              </a:buClr>
              <a:buFontTx/>
              <a:buChar char="•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一旦找到解将其设为 </a:t>
            </a:r>
            <a:r>
              <a:rPr lang="en-US" altLang="zh-CN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true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，所有递归分支立即返回，实现快速终止。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453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15" y="1283637"/>
            <a:ext cx="550335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递归与回溯求一个可行解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模块划分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3" y="891221"/>
            <a:ext cx="7402722" cy="6430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board[]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全部置为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，表示尚未放置任何皇后。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）设置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row=0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，开始递归调用。进入递归函数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QueensRecursion(r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ow)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QueensRecursion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函数递归过程：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）递归终止判断：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== 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（已处理完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行），说明找到解：标记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found=true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，打印棋盘，终止当前递归分支；若不成立：进入下一步的列枚举循环。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）列枚举循环：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对于当前行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，遍历当前行的所有列（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），尝试在当前行的第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列放置皇后。针对当前循环的列号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，依次执行以下操作：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安全性校验：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IsSafe(row, col)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判断该位置是否能放置皇后（无同列、同对角线冲突）：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若校验成功：执行以下的放置、递归、剪枝、回溯操作。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放置皇后：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board[row]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赋值为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，记录 “第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行的皇后放在第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列”。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递归处理下一行：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 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QueensRecursion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(row + 1)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，进入下一行的递归处理（尝试为下一行放置皇后）。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剪枝判断：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递归返回后，检查全局变量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found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found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（说明递归过程中已找到完整解）：立即执行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return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，终止当前递归分支（不仅跳出循环，还直接结束当前函数），不再尝试当前行的其他列；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found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false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（说明下一行尝试失败）：继续执行回溯操作。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回溯操作：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board[row]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重置为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，撤销当前行的皇后放置，然后回到循环开头，尝试当前行的下一个列号。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若校验失败：直接跳过本轮循环剩余操作，进入下一轮循环（尝试下一个列号）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5451985" y="1111602"/>
            <a:ext cx="0" cy="550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D1930C1-6848-49B3-A88D-CB691AA2E300}"/>
              </a:ext>
            </a:extLst>
          </p:cNvPr>
          <p:cNvGrpSpPr/>
          <p:nvPr/>
        </p:nvGrpSpPr>
        <p:grpSpPr>
          <a:xfrm>
            <a:off x="-9104" y="2320914"/>
            <a:ext cx="5404678" cy="2741698"/>
            <a:chOff x="2689607" y="3865784"/>
            <a:chExt cx="5404678" cy="274169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9B5E241-A873-44AC-80DA-9C476A8ED972}"/>
                </a:ext>
              </a:extLst>
            </p:cNvPr>
            <p:cNvSpPr txBox="1"/>
            <p:nvPr/>
          </p:nvSpPr>
          <p:spPr>
            <a:xfrm>
              <a:off x="5079061" y="3865784"/>
              <a:ext cx="13773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主函数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250D1E-92CE-4244-86A3-9B43C58713FD}"/>
                </a:ext>
              </a:extLst>
            </p:cNvPr>
            <p:cNvSpPr txBox="1"/>
            <p:nvPr/>
          </p:nvSpPr>
          <p:spPr>
            <a:xfrm>
              <a:off x="3759410" y="4441822"/>
              <a:ext cx="4006225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lang="zh-CN" altLang="en-US">
                  <a:solidFill>
                    <a:srgbClr val="000000"/>
                  </a:solidFill>
                  <a:latin typeface="Arial"/>
                  <a:ea typeface="微软雅黑"/>
                </a:rPr>
                <a:t>递归回溯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法求八皇后问题一个可行解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QueensRecursion(int row)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D0E7C7-061F-41F2-AEA6-A353CAA4011D}"/>
                </a:ext>
              </a:extLst>
            </p:cNvPr>
            <p:cNvSpPr txBox="1"/>
            <p:nvPr/>
          </p:nvSpPr>
          <p:spPr>
            <a:xfrm>
              <a:off x="2689607" y="5961151"/>
              <a:ext cx="295472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判断当前位置是否安全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IsSafe(int row, int col);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D8DC5C-4CA7-42E0-9D36-8F958C731B68}"/>
                </a:ext>
              </a:extLst>
            </p:cNvPr>
            <p:cNvSpPr txBox="1"/>
            <p:nvPr/>
          </p:nvSpPr>
          <p:spPr>
            <a:xfrm>
              <a:off x="5691063" y="5961150"/>
              <a:ext cx="2403222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输出棋盘布局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PrintBoard(void);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74B64E-E329-421E-8D94-B47D37CA0494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5762523" y="4235116"/>
              <a:ext cx="5188" cy="20670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0E21A0A-3DE7-4598-A799-FABE296C2B5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5400000">
              <a:off x="4528246" y="4726874"/>
              <a:ext cx="872998" cy="1595556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EF76E322-1419-40A4-B02A-B0FA972E3B3D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 rot="16200000" flipH="1">
              <a:off x="5891100" y="4959575"/>
              <a:ext cx="872997" cy="1130151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93344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151323" cy="221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求全部可行解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目标（运行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基于递归与回溯法的八皇后问题求解全部可行解，输出所有可行解的棋盘布局，统计并显示解的总数。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21">
            <a:extLst>
              <a:ext uri="{FF2B5EF4-FFF2-40B4-BE49-F238E27FC236}">
                <a16:creationId xmlns:a16="http://schemas.microsoft.com/office/drawing/2014/main" id="{E6E2ADF0-D1F7-47BE-B93A-78687A092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800" y="2922632"/>
            <a:ext cx="1354137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9302B75-6615-4C0D-A472-4E091A229ADD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22">
            <a:extLst>
              <a:ext uri="{FF2B5EF4-FFF2-40B4-BE49-F238E27FC236}">
                <a16:creationId xmlns:a16="http://schemas.microsoft.com/office/drawing/2014/main" id="{47FAC201-51EF-4C87-BDF1-DDE9F930C250}"/>
              </a:ext>
            </a:extLst>
          </p:cNvPr>
          <p:cNvSpPr/>
          <p:nvPr/>
        </p:nvSpPr>
        <p:spPr>
          <a:xfrm>
            <a:off x="6490781" y="1408845"/>
            <a:ext cx="5611955" cy="40644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同任务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</a:rPr>
              <a:t>2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marL="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Noto Sans SC"/>
              </a:rPr>
              <a:t>能力目标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Noto Sans SC"/>
            </a:endParaRPr>
          </a:p>
          <a:p>
            <a:pPr marL="34290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</a:rPr>
              <a:t>提升对穷举搜索与解空间遍历的理解与应用能力</a:t>
            </a: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0ED8CF2D-5465-481F-8A82-EE39B278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171" y="3222669"/>
            <a:ext cx="1582738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基于任务</a:t>
            </a:r>
            <a:r>
              <a:rPr lang="en-US" altLang="zh-CN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2</a:t>
            </a: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的递归回溯框架，不再满足于找到第一个解，而是需要遍历整个解空间。</a:t>
            </a:r>
            <a:endParaRPr lang="zh-CN" altLang="en-US"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输出全部 </a:t>
            </a:r>
            <a:r>
              <a:rPr lang="en-US" altLang="zh-CN" sz="2400" b="1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92 </a:t>
            </a:r>
            <a:r>
              <a:rPr lang="zh-CN" altLang="en-US" sz="2400" b="1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个可行解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71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27" y="895639"/>
            <a:ext cx="5738197" cy="13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求全部可行解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算法核心思路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1A29CC11-7DB1-4592-A4FF-E208585DD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75" y="2031354"/>
            <a:ext cx="675506" cy="552823"/>
          </a:xfrm>
          <a:prstGeom prst="rect">
            <a:avLst/>
          </a:prstGeom>
        </p:spPr>
      </p:pic>
      <p:sp>
        <p:nvSpPr>
          <p:cNvPr id="12" name="AutoShape 13">
            <a:extLst>
              <a:ext uri="{FF2B5EF4-FFF2-40B4-BE49-F238E27FC236}">
                <a16:creationId xmlns:a16="http://schemas.microsoft.com/office/drawing/2014/main" id="{C65EAA62-2BB7-4D06-B305-A293F3586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5" y="2112039"/>
            <a:ext cx="9710399" cy="41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1. </a:t>
            </a:r>
            <a:r>
              <a:rPr lang="zh-CN" altLang="en-US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移除剪枝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51679620-9491-4C3E-8930-AFE258E00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4" y="2571267"/>
            <a:ext cx="9710399" cy="691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删除任务</a:t>
            </a:r>
            <a:r>
              <a:rPr lang="en-US" altLang="zh-CN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2</a:t>
            </a: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中用于提前终止的 </a:t>
            </a:r>
            <a:r>
              <a:rPr lang="en-US" altLang="zh-CN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found </a:t>
            </a: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标志位，确保递归能够完整遍历所有可能路径。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  <a:cs typeface="Noto Sans SC" panose="020B0200000000000000" pitchFamily="34" charset="-122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39634F5A-3714-4AF5-9E05-B45083CED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09" y="3572163"/>
            <a:ext cx="675506" cy="552823"/>
          </a:xfrm>
          <a:prstGeom prst="rect">
            <a:avLst/>
          </a:prstGeom>
        </p:spPr>
      </p:pic>
      <p:sp>
        <p:nvSpPr>
          <p:cNvPr id="15" name="AutoShape 16">
            <a:extLst>
              <a:ext uri="{FF2B5EF4-FFF2-40B4-BE49-F238E27FC236}">
                <a16:creationId xmlns:a16="http://schemas.microsoft.com/office/drawing/2014/main" id="{2B084005-FF4F-4585-BD09-EF91E964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692" y="3592496"/>
            <a:ext cx="9710399" cy="41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2. </a:t>
            </a:r>
            <a:r>
              <a:rPr lang="zh-CN" altLang="en-US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计数与输出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718524D0-E3C9-4B16-A20D-93A0E14B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81" y="4035269"/>
            <a:ext cx="9710399" cy="691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引入计数器 </a:t>
            </a:r>
            <a:r>
              <a:rPr lang="en-US" altLang="zh-CN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solutionCount</a:t>
            </a: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，每成功到达最后一行（找到解）时，计数器加一并调用打印函数</a:t>
            </a:r>
            <a:r>
              <a:rPr lang="zh-CN" altLang="en-US" sz="1800">
                <a:solidFill>
                  <a:srgbClr val="718096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。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  <a:cs typeface="Noto Sans SC" panose="020B0200000000000000" pitchFamily="34" charset="-122"/>
            </a:endParaRPr>
          </a:p>
        </p:txBody>
      </p:sp>
      <p:pic>
        <p:nvPicPr>
          <p:cNvPr id="17" name="Picture 18">
            <a:extLst>
              <a:ext uri="{FF2B5EF4-FFF2-40B4-BE49-F238E27FC236}">
                <a16:creationId xmlns:a16="http://schemas.microsoft.com/office/drawing/2014/main" id="{77DC90C6-5988-41B0-AA6B-40A96CBF9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08" y="4819401"/>
            <a:ext cx="675506" cy="552823"/>
          </a:xfrm>
          <a:prstGeom prst="rect">
            <a:avLst/>
          </a:prstGeom>
        </p:spPr>
      </p:pic>
      <p:sp>
        <p:nvSpPr>
          <p:cNvPr id="18" name="AutoShape 19">
            <a:extLst>
              <a:ext uri="{FF2B5EF4-FFF2-40B4-BE49-F238E27FC236}">
                <a16:creationId xmlns:a16="http://schemas.microsoft.com/office/drawing/2014/main" id="{D2ABB537-042C-4BBC-830E-34CF77D59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4" y="4842115"/>
            <a:ext cx="9710399" cy="41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3. </a:t>
            </a:r>
            <a:r>
              <a:rPr lang="zh-CN" altLang="en-US" sz="1800" b="1">
                <a:solidFill>
                  <a:srgbClr val="2D3748"/>
                </a:solidFill>
                <a:latin typeface="+mj-ea"/>
                <a:ea typeface="+mj-ea"/>
                <a:sym typeface="Noto Sans SC" panose="020B0200000000000000" pitchFamily="34" charset="-122"/>
              </a:rPr>
              <a:t>持续回溯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9" name="AutoShape 20">
            <a:extLst>
              <a:ext uri="{FF2B5EF4-FFF2-40B4-BE49-F238E27FC236}">
                <a16:creationId xmlns:a16="http://schemas.microsoft.com/office/drawing/2014/main" id="{148AA32A-5484-4EFF-8835-8B14C3C2E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690" y="5268124"/>
            <a:ext cx="9710399" cy="691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>
                <a:solidFill>
                  <a:srgbClr val="000000"/>
                </a:solidFill>
                <a:latin typeface="+mj-ea"/>
                <a:ea typeface="+mj-ea"/>
                <a:cs typeface="Noto Sans SC" panose="020B0200000000000000" pitchFamily="34" charset="-122"/>
                <a:sym typeface="Noto Sans SC" panose="020B0200000000000000" pitchFamily="34" charset="-122"/>
              </a:rPr>
              <a:t>输出解后不终止程序，继续回溯尝试其他路径，直到遍历完解空间的所有分支。</a:t>
            </a:r>
            <a:endParaRPr lang="zh-CN" altLang="en-US" sz="1800">
              <a:solidFill>
                <a:srgbClr val="000000"/>
              </a:solidFill>
              <a:latin typeface="+mj-ea"/>
              <a:ea typeface="+mj-ea"/>
              <a:cs typeface="Noto Sans SC" panose="020B02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681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15" y="1283637"/>
            <a:ext cx="550335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求全部可行解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模块划分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3" y="891221"/>
            <a:ext cx="7402722" cy="587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）初始化棋盘：初始化棋盘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board[]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，所有元素设置为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，表示尚未放置皇后。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）设置递归起始行：设置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= 0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，从第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行开始尝试放置皇后，调用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RecuisionAll (0)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进入递归函数。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）在完成所有解的搜索后，程序输出总解的数量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solutionCount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RecuisionAll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函数递归过程：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）递归终止判断：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 == N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（已处理完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行），说明找到解：执行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solutionCount++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，累加解的数量，打印棋盘，终止当前递归分支；若不成立：进入下一步的列枚举循环。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）列枚举循环：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对于当前行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，遍历当前行的所有列（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），尝试在当前行的第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列放置皇后。针对当前循环的列号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，依次执行以下操作：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安全性校验：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IsSafe(row, col)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判断该位置是否能放置皇后（无同列、同对角线冲突）：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若校验失败：直接跳过本轮循环剩余操作，进入下一轮循环（尝试下一个列号）；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若校验成功：执行以下的放置、递归、回溯操作。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放置皇后：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board[row]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赋值为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，标记当前行的该列位置放置了皇后；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递归推进：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RecuisionAll(row + 1)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，递归处理下一行的皇后放置；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回溯撤销：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当递归调用执行完毕并返回后，立即将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board[row]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重置为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，撤销当前行该列的皇后放置，恢复该行初始状态。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5451985" y="1111602"/>
            <a:ext cx="0" cy="550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D1930C1-6848-49B3-A88D-CB691AA2E300}"/>
              </a:ext>
            </a:extLst>
          </p:cNvPr>
          <p:cNvGrpSpPr/>
          <p:nvPr/>
        </p:nvGrpSpPr>
        <p:grpSpPr>
          <a:xfrm>
            <a:off x="-9104" y="2320914"/>
            <a:ext cx="5404678" cy="2741698"/>
            <a:chOff x="2689607" y="3865784"/>
            <a:chExt cx="5404678" cy="274169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9B5E241-A873-44AC-80DA-9C476A8ED972}"/>
                </a:ext>
              </a:extLst>
            </p:cNvPr>
            <p:cNvSpPr txBox="1"/>
            <p:nvPr/>
          </p:nvSpPr>
          <p:spPr>
            <a:xfrm>
              <a:off x="5020282" y="3865784"/>
              <a:ext cx="13773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主函数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250D1E-92CE-4244-86A3-9B43C58713FD}"/>
                </a:ext>
              </a:extLst>
            </p:cNvPr>
            <p:cNvSpPr txBox="1"/>
            <p:nvPr/>
          </p:nvSpPr>
          <p:spPr>
            <a:xfrm>
              <a:off x="3625228" y="4441822"/>
              <a:ext cx="4139275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递归回溯法求八皇后问题全部可行解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RecursionAll(int row)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；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D0E7C7-061F-41F2-AEA6-A353CAA4011D}"/>
                </a:ext>
              </a:extLst>
            </p:cNvPr>
            <p:cNvSpPr txBox="1"/>
            <p:nvPr/>
          </p:nvSpPr>
          <p:spPr>
            <a:xfrm>
              <a:off x="2689607" y="5961151"/>
              <a:ext cx="295472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判断当前位置是否安全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IsSafe(int row, int col);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D8DC5C-4CA7-42E0-9D36-8F958C731B68}"/>
                </a:ext>
              </a:extLst>
            </p:cNvPr>
            <p:cNvSpPr txBox="1"/>
            <p:nvPr/>
          </p:nvSpPr>
          <p:spPr>
            <a:xfrm>
              <a:off x="5691063" y="5961150"/>
              <a:ext cx="2403222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输出棋盘布局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PrintBoard(void);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74B64E-E329-421E-8D94-B47D37CA0494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5694866" y="4235116"/>
              <a:ext cx="14066" cy="20670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0E21A0A-3DE7-4598-A799-FABE296C2B5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5400000">
              <a:off x="4494418" y="4760703"/>
              <a:ext cx="872998" cy="1527899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EF76E322-1419-40A4-B02A-B0FA972E3B3D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 rot="16200000" flipH="1">
              <a:off x="5857272" y="4925747"/>
              <a:ext cx="872997" cy="1197808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07274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517689" cy="34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图形可视化输出解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目标（运行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结合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EasyX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图形库动态绘制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8×8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棋盘，将皇后位置以红色高亮显示，并通过延时动画直观展示搜索与回溯过程；同时提供菜单选择功能，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支持求解一个可行解或全部解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，统计解的数量并以消息框形式输出。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9302B75-6615-4C0D-A472-4E091A229ADD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536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22">
            <a:extLst>
              <a:ext uri="{FF2B5EF4-FFF2-40B4-BE49-F238E27FC236}">
                <a16:creationId xmlns:a16="http://schemas.microsoft.com/office/drawing/2014/main" id="{47FAC201-51EF-4C87-BDF1-DDE9F930C250}"/>
              </a:ext>
            </a:extLst>
          </p:cNvPr>
          <p:cNvSpPr/>
          <p:nvPr/>
        </p:nvSpPr>
        <p:spPr>
          <a:xfrm>
            <a:off x="6490781" y="1408845"/>
            <a:ext cx="5611955" cy="40644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知识目标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了解图形化界面开发的基本流程与组件使用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  <a:cs typeface="+mn-cs"/>
            </a:endParaRPr>
          </a:p>
          <a:p>
            <a:pPr marL="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Noto Sans SC"/>
              </a:rPr>
              <a:t>能力目标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Noto Sans SC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提升图形编程和结果可视化能力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能通过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EasyX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绘制棋盘，并在每一步搜索过程中动态显示</a:t>
            </a:r>
          </a:p>
        </p:txBody>
      </p:sp>
      <p:pic>
        <p:nvPicPr>
          <p:cNvPr id="8" name="图片 24">
            <a:extLst>
              <a:ext uri="{FF2B5EF4-FFF2-40B4-BE49-F238E27FC236}">
                <a16:creationId xmlns:a16="http://schemas.microsoft.com/office/drawing/2014/main" id="{94E425D2-47B9-4BA1-ABB2-7DA1D118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47" y="4060536"/>
            <a:ext cx="42005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4189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27" y="895639"/>
            <a:ext cx="5738197" cy="13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图形可视化输出解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算法核心思路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图形化显示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9" name="Picture 12">
            <a:extLst>
              <a:ext uri="{FF2B5EF4-FFF2-40B4-BE49-F238E27FC236}">
                <a16:creationId xmlns:a16="http://schemas.microsoft.com/office/drawing/2014/main" id="{AA374B26-8E27-4868-B884-1E08420CF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61" y="1973077"/>
            <a:ext cx="254000" cy="254000"/>
          </a:xfrm>
          <a:prstGeom prst="rect">
            <a:avLst/>
          </a:prstGeom>
        </p:spPr>
      </p:pic>
      <p:sp>
        <p:nvSpPr>
          <p:cNvPr id="30" name="AutoShape 13">
            <a:extLst>
              <a:ext uri="{FF2B5EF4-FFF2-40B4-BE49-F238E27FC236}">
                <a16:creationId xmlns:a16="http://schemas.microsoft.com/office/drawing/2014/main" id="{9B116884-A985-4F53-9A16-DF637D11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824" y="1922277"/>
            <a:ext cx="7224156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+mj-ea"/>
                <a:ea typeface="+mj-ea"/>
                <a:sym typeface="Noto Sans SC" panose="020B0200000000000000" pitchFamily="34" charset="-122"/>
              </a:rPr>
              <a:t>初始化环境：</a:t>
            </a: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调用 </a:t>
            </a:r>
            <a:r>
              <a:rPr lang="en-US" altLang="zh-CN">
                <a:latin typeface="+mj-ea"/>
                <a:ea typeface="+mj-ea"/>
                <a:sym typeface="Noto Sans SC" panose="020B0200000000000000" pitchFamily="34" charset="-122"/>
              </a:rPr>
              <a:t>initgraph() </a:t>
            </a: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创建图形窗口。</a:t>
            </a:r>
            <a:endParaRPr lang="zh-CN" altLang="en-US">
              <a:latin typeface="+mj-ea"/>
              <a:ea typeface="+mj-ea"/>
            </a:endParaRPr>
          </a:p>
        </p:txBody>
      </p:sp>
      <p:pic>
        <p:nvPicPr>
          <p:cNvPr id="31" name="Picture 14">
            <a:extLst>
              <a:ext uri="{FF2B5EF4-FFF2-40B4-BE49-F238E27FC236}">
                <a16:creationId xmlns:a16="http://schemas.microsoft.com/office/drawing/2014/main" id="{5FFE2B9F-F612-4AAC-A9FD-DCC6178B9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261" y="2768913"/>
            <a:ext cx="254000" cy="254000"/>
          </a:xfrm>
          <a:prstGeom prst="rect">
            <a:avLst/>
          </a:prstGeom>
        </p:spPr>
      </p:pic>
      <p:sp>
        <p:nvSpPr>
          <p:cNvPr id="32" name="AutoShape 15">
            <a:extLst>
              <a:ext uri="{FF2B5EF4-FFF2-40B4-BE49-F238E27FC236}">
                <a16:creationId xmlns:a16="http://schemas.microsoft.com/office/drawing/2014/main" id="{82B882BF-2228-4974-95D9-F92B006F2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150" y="2718113"/>
            <a:ext cx="431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+mj-ea"/>
                <a:ea typeface="+mj-ea"/>
                <a:sym typeface="Noto Sans SC" panose="020B0200000000000000" pitchFamily="34" charset="-122"/>
              </a:rPr>
              <a:t>绘制棋盘：</a:t>
            </a:r>
            <a:endParaRPr lang="zh-CN" altLang="en-US">
              <a:latin typeface="+mj-ea"/>
              <a:ea typeface="+mj-ea"/>
            </a:endParaRPr>
          </a:p>
        </p:txBody>
      </p:sp>
      <p:sp>
        <p:nvSpPr>
          <p:cNvPr id="33" name="AutoShape 17">
            <a:extLst>
              <a:ext uri="{FF2B5EF4-FFF2-40B4-BE49-F238E27FC236}">
                <a16:creationId xmlns:a16="http://schemas.microsoft.com/office/drawing/2014/main" id="{95F1EA2B-D4D8-4AA0-BC02-845D7F11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261" y="3379602"/>
            <a:ext cx="431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endParaRPr lang="en-US" altLang="zh-CN">
              <a:latin typeface="+mj-ea"/>
              <a:ea typeface="+mj-ea"/>
            </a:endParaRPr>
          </a:p>
        </p:txBody>
      </p:sp>
      <p:pic>
        <p:nvPicPr>
          <p:cNvPr id="34" name="Picture 18">
            <a:extLst>
              <a:ext uri="{FF2B5EF4-FFF2-40B4-BE49-F238E27FC236}">
                <a16:creationId xmlns:a16="http://schemas.microsoft.com/office/drawing/2014/main" id="{F5FE87BA-A5A9-4953-BF1A-A236B2EE6E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887" y="5023078"/>
            <a:ext cx="254000" cy="254000"/>
          </a:xfrm>
          <a:prstGeom prst="rect">
            <a:avLst/>
          </a:prstGeom>
        </p:spPr>
      </p:pic>
      <p:sp>
        <p:nvSpPr>
          <p:cNvPr id="35" name="AutoShape 19">
            <a:extLst>
              <a:ext uri="{FF2B5EF4-FFF2-40B4-BE49-F238E27FC236}">
                <a16:creationId xmlns:a16="http://schemas.microsoft.com/office/drawing/2014/main" id="{2FBCA434-E88E-4063-9A6C-F22BD90CE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797" y="4923193"/>
            <a:ext cx="8974579" cy="811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+mj-ea"/>
                <a:ea typeface="+mj-ea"/>
                <a:sym typeface="Noto Sans SC" panose="020B0200000000000000" pitchFamily="34" charset="-122"/>
              </a:rPr>
              <a:t>动画效果</a:t>
            </a: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：</a:t>
            </a:r>
            <a:endParaRPr lang="en-US" altLang="zh-CN">
              <a:latin typeface="+mj-ea"/>
              <a:ea typeface="+mj-ea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绘制完成后 </a:t>
            </a:r>
            <a:r>
              <a:rPr lang="en-US" altLang="zh-CN">
                <a:latin typeface="+mj-ea"/>
                <a:ea typeface="+mj-ea"/>
                <a:sym typeface="Noto Sans SC" panose="020B0200000000000000" pitchFamily="34" charset="-122"/>
              </a:rPr>
              <a:t>Sleep(200) </a:t>
            </a: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延时 </a:t>
            </a:r>
            <a:r>
              <a:rPr lang="en-US" altLang="zh-CN">
                <a:latin typeface="+mj-ea"/>
                <a:ea typeface="+mj-ea"/>
                <a:sym typeface="Noto Sans SC" panose="020B0200000000000000" pitchFamily="34" charset="-122"/>
              </a:rPr>
              <a:t>200ms</a:t>
            </a:r>
            <a:r>
              <a:rPr lang="zh-CN" altLang="en-US">
                <a:latin typeface="+mj-ea"/>
                <a:ea typeface="+mj-ea"/>
                <a:sym typeface="Noto Sans SC" panose="020B0200000000000000" pitchFamily="34" charset="-122"/>
              </a:rPr>
              <a:t>，便于观察解的切换过程</a:t>
            </a:r>
            <a:endParaRPr lang="zh-CN" altLang="en-US">
              <a:latin typeface="+mj-ea"/>
              <a:ea typeface="+mj-ea"/>
            </a:endParaRPr>
          </a:p>
        </p:txBody>
      </p:sp>
      <p:sp>
        <p:nvSpPr>
          <p:cNvPr id="36" name="文本框 26">
            <a:extLst>
              <a:ext uri="{FF2B5EF4-FFF2-40B4-BE49-F238E27FC236}">
                <a16:creationId xmlns:a16="http://schemas.microsoft.com/office/drawing/2014/main" id="{FE6C4CBB-B0CC-4123-AB77-E8925167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150" y="3196631"/>
            <a:ext cx="1064136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+mj-ea"/>
                <a:ea typeface="+mj-ea"/>
              </a:rPr>
              <a:t>绘制前调用 </a:t>
            </a:r>
            <a:r>
              <a:rPr lang="en-US" altLang="zh-CN">
                <a:latin typeface="+mj-ea"/>
                <a:ea typeface="+mj-ea"/>
              </a:rPr>
              <a:t>cleardevice() </a:t>
            </a:r>
            <a:r>
              <a:rPr lang="zh-CN" altLang="en-US">
                <a:latin typeface="+mj-ea"/>
                <a:ea typeface="+mj-ea"/>
              </a:rPr>
              <a:t>清空窗口，保证显示最新状态；</a:t>
            </a:r>
          </a:p>
          <a:p>
            <a:r>
              <a:rPr lang="zh-CN" altLang="en-US">
                <a:latin typeface="+mj-ea"/>
                <a:ea typeface="+mj-ea"/>
              </a:rPr>
              <a:t>逐行逐列渲染棋盘格子，普通格子：行号 </a:t>
            </a:r>
            <a:r>
              <a:rPr lang="en-US" altLang="zh-CN">
                <a:latin typeface="+mj-ea"/>
                <a:ea typeface="+mj-ea"/>
              </a:rPr>
              <a:t>+ </a:t>
            </a:r>
            <a:r>
              <a:rPr lang="zh-CN" altLang="en-US">
                <a:latin typeface="+mj-ea"/>
                <a:ea typeface="+mj-ea"/>
              </a:rPr>
              <a:t>列号为偶数时填充白色，奇数时填充浅灰色（黑白交替）</a:t>
            </a:r>
            <a:endParaRPr lang="en-US" altLang="zh-CN">
              <a:latin typeface="+mj-ea"/>
              <a:ea typeface="+mj-ea"/>
            </a:endParaRPr>
          </a:p>
          <a:p>
            <a:r>
              <a:rPr lang="zh-CN" altLang="en-US">
                <a:latin typeface="+mj-ea"/>
                <a:ea typeface="+mj-ea"/>
              </a:rPr>
              <a:t>皇后位置：对应格子填充红色高亮显示</a:t>
            </a:r>
          </a:p>
        </p:txBody>
      </p:sp>
      <p:pic>
        <p:nvPicPr>
          <p:cNvPr id="37" name="queen4-2.mp4">
            <a:hlinkClick r:id="" action="ppaction://media"/>
            <a:extLst>
              <a:ext uri="{FF2B5EF4-FFF2-40B4-BE49-F238E27FC236}">
                <a16:creationId xmlns:a16="http://schemas.microsoft.com/office/drawing/2014/main" id="{136602E8-0C1B-4387-A327-0FD5710C3188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739" y="926771"/>
            <a:ext cx="2756000" cy="245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617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7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15" y="1283637"/>
            <a:ext cx="550335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图形可视化输出解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模块划分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656" y="1211552"/>
            <a:ext cx="6591250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初始化棋盘，所有行的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board[i]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设置为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提供用户菜单选择，决定是求解一个解还是全部解。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根据选择，调用递归回溯函数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RecursionOneOrAll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在递归过程中，每找到一个解时调用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DrawBoard()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更新图形窗口，动态显示当前棋盘布局。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如果选择求解所有解，则会继续搜索直到找到所有解，并最终弹窗显示解的总数。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6002402" y="1111602"/>
            <a:ext cx="0" cy="550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D1930C1-6848-49B3-A88D-CB691AA2E300}"/>
              </a:ext>
            </a:extLst>
          </p:cNvPr>
          <p:cNvGrpSpPr/>
          <p:nvPr/>
        </p:nvGrpSpPr>
        <p:grpSpPr>
          <a:xfrm>
            <a:off x="-9104" y="2320914"/>
            <a:ext cx="5931714" cy="2741698"/>
            <a:chOff x="2689607" y="3865784"/>
            <a:chExt cx="5931714" cy="274169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9B5E241-A873-44AC-80DA-9C476A8ED972}"/>
                </a:ext>
              </a:extLst>
            </p:cNvPr>
            <p:cNvSpPr txBox="1"/>
            <p:nvPr/>
          </p:nvSpPr>
          <p:spPr>
            <a:xfrm>
              <a:off x="5002526" y="3865784"/>
              <a:ext cx="13773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主函数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250D1E-92CE-4244-86A3-9B43C58713FD}"/>
                </a:ext>
              </a:extLst>
            </p:cNvPr>
            <p:cNvSpPr txBox="1"/>
            <p:nvPr/>
          </p:nvSpPr>
          <p:spPr>
            <a:xfrm>
              <a:off x="2760805" y="4532454"/>
              <a:ext cx="5860516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递归回溯求解（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单解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全解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） 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RecursionOneOrAll(int row, bool findAllSolutions);     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D0E7C7-061F-41F2-AEA6-A353CAA4011D}"/>
                </a:ext>
              </a:extLst>
            </p:cNvPr>
            <p:cNvSpPr txBox="1"/>
            <p:nvPr/>
          </p:nvSpPr>
          <p:spPr>
            <a:xfrm>
              <a:off x="2689607" y="5961151"/>
              <a:ext cx="295472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判断当前位置是否安全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IsSafe(int row, int col);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D8DC5C-4CA7-42E0-9D36-8F958C731B68}"/>
                </a:ext>
              </a:extLst>
            </p:cNvPr>
            <p:cNvSpPr txBox="1"/>
            <p:nvPr/>
          </p:nvSpPr>
          <p:spPr>
            <a:xfrm>
              <a:off x="6069885" y="5961150"/>
              <a:ext cx="245451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可视化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输出棋盘布局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PrintBoard(void);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74B64E-E329-421E-8D94-B47D37CA0494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 flipH="1">
              <a:off x="5691063" y="4235116"/>
              <a:ext cx="113" cy="29733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0E21A0A-3DE7-4598-A799-FABE296C2B5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5400000">
              <a:off x="4537832" y="4807920"/>
              <a:ext cx="782366" cy="1524096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EF76E322-1419-40A4-B02A-B0FA972E3B3D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rot="16200000" flipH="1">
              <a:off x="6102921" y="4766926"/>
              <a:ext cx="782365" cy="1606081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768209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517689" cy="34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——N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皇后问题求解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打破固定棋盘限制，不再局限于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8x8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棋盘，需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支持用户输入任意正整数 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（如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4, 6, 8, 10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等）。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支持求解一个可行解或全部解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9302B75-6615-4C0D-A472-4E091A229ADD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536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22">
            <a:extLst>
              <a:ext uri="{FF2B5EF4-FFF2-40B4-BE49-F238E27FC236}">
                <a16:creationId xmlns:a16="http://schemas.microsoft.com/office/drawing/2014/main" id="{47FAC201-51EF-4C87-BDF1-DDE9F930C250}"/>
              </a:ext>
            </a:extLst>
          </p:cNvPr>
          <p:cNvSpPr/>
          <p:nvPr/>
        </p:nvSpPr>
        <p:spPr>
          <a:xfrm>
            <a:off x="6490781" y="1408845"/>
            <a:ext cx="5611955" cy="40644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知识目标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能使用动态内存分配创建棋盘，支持不同规模的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N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皇后问题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  <a:cs typeface="+mn-cs"/>
            </a:endParaRPr>
          </a:p>
          <a:p>
            <a:pPr marL="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Noto Sans SC"/>
              </a:rPr>
              <a:t>能力目标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Noto Sans SC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rPr>
              <a:t>提升问题抽象和算法泛化的能力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0BE099-8E34-4BBF-AB17-2EFF8E4EA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31" y="3753313"/>
            <a:ext cx="4551007" cy="2732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733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27" y="895639"/>
            <a:ext cx="5738197" cy="13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——N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皇后问题求解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算法核心思路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7" name="queen4-2.mp4">
            <a:hlinkClick r:id="" action="ppaction://media"/>
            <a:extLst>
              <a:ext uri="{FF2B5EF4-FFF2-40B4-BE49-F238E27FC236}">
                <a16:creationId xmlns:a16="http://schemas.microsoft.com/office/drawing/2014/main" id="{136602E8-0C1B-4387-A327-0FD5710C3188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739" y="926771"/>
            <a:ext cx="2756000" cy="245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E9BDE7-AA47-43C6-A877-C59B751BD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623" y="2200365"/>
            <a:ext cx="304800" cy="304800"/>
          </a:xfrm>
          <a:prstGeom prst="rect">
            <a:avLst/>
          </a:prstGeom>
        </p:spPr>
      </p:pic>
      <p:sp>
        <p:nvSpPr>
          <p:cNvPr id="14" name="AutoShape 13">
            <a:extLst>
              <a:ext uri="{FF2B5EF4-FFF2-40B4-BE49-F238E27FC236}">
                <a16:creationId xmlns:a16="http://schemas.microsoft.com/office/drawing/2014/main" id="{2380061D-98DD-40E2-A0BA-58DCDCB9D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623" y="2174965"/>
            <a:ext cx="444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参数化常量定义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6196CD0F-86F5-4A40-9ACD-4BF77EED3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04" y="2617342"/>
            <a:ext cx="777183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将代码中所有写死的棋盘大小（如 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8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）替换为用户输入的变量 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boardSize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。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96D34F-ADDB-4FA8-9D2C-6282AECC44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423" y="3563147"/>
            <a:ext cx="304800" cy="304800"/>
          </a:xfrm>
          <a:prstGeom prst="rect">
            <a:avLst/>
          </a:prstGeom>
        </p:spPr>
      </p:pic>
      <p:sp>
        <p:nvSpPr>
          <p:cNvPr id="17" name="AutoShape 16">
            <a:extLst>
              <a:ext uri="{FF2B5EF4-FFF2-40B4-BE49-F238E27FC236}">
                <a16:creationId xmlns:a16="http://schemas.microsoft.com/office/drawing/2014/main" id="{E44B2E6F-D4E4-4E36-9F1C-E729D84D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423" y="3537747"/>
            <a:ext cx="444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动态数组与循环适配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480104D0-BE4A-4BDB-99E3-686005D4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23" y="4754984"/>
            <a:ext cx="8471356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使用动态数组存储棋盘，并将所有行列遍历的循环终止条件改为变量 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boardSize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。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  <a:sym typeface="Noto Sans SC" panose="020B0200000000000000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kern="0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1800" kern="0">
                <a:latin typeface="+mj-ea"/>
                <a:ea typeface="+mj-ea"/>
              </a:rPr>
              <a:t>* board: </a:t>
            </a:r>
            <a:r>
              <a:rPr lang="zh-CN" altLang="zh-CN" sz="1800" kern="0">
                <a:latin typeface="+mj-ea"/>
                <a:ea typeface="+mj-ea"/>
              </a:rPr>
              <a:t>使用动态内存分配来存储棋盘状态，</a:t>
            </a:r>
            <a:r>
              <a:rPr lang="en-US" altLang="zh-CN" sz="1800" kern="0">
                <a:latin typeface="+mj-ea"/>
                <a:ea typeface="+mj-ea"/>
              </a:rPr>
              <a:t>board</a:t>
            </a:r>
            <a:r>
              <a:rPr lang="zh-CN" altLang="zh-CN" sz="1800" kern="0">
                <a:latin typeface="+mj-ea"/>
                <a:ea typeface="+mj-ea"/>
              </a:rPr>
              <a:t>用于保存内存的首地址。</a:t>
            </a:r>
            <a:endParaRPr lang="en-US" altLang="zh-CN" sz="1800" kern="0">
              <a:latin typeface="+mj-ea"/>
              <a:ea typeface="+mj-ea"/>
            </a:endParaRPr>
          </a:p>
          <a:p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分配 </a:t>
            </a:r>
            <a:r>
              <a:rPr lang="en-US" altLang="zh-CN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n </a:t>
            </a:r>
            <a:r>
              <a:rPr lang="zh-CN" altLang="en-US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个 </a:t>
            </a:r>
            <a:r>
              <a:rPr lang="en-US" altLang="zh-CN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 </a:t>
            </a:r>
            <a:r>
              <a:rPr lang="zh-CN" altLang="en-US" sz="1800" b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空间，可以像一维数组一样使用该动态分配的内存</a:t>
            </a:r>
            <a:endParaRPr lang="zh-CN" altLang="en-US" sz="1800" b="1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b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board = (</a:t>
            </a:r>
            <a:r>
              <a:rPr lang="en-US" altLang="zh-CN" sz="1800" b="1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b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*)malloc(</a:t>
            </a:r>
            <a:r>
              <a:rPr lang="en-US" altLang="zh-CN" sz="1800" b="1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sizeof</a:t>
            </a:r>
            <a:r>
              <a:rPr lang="en-US" altLang="zh-CN" sz="1800" b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800" b="1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b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) * boardSize);</a:t>
            </a:r>
            <a:endParaRPr lang="en-US" altLang="zh-CN" sz="1800" b="1" kern="0">
              <a:latin typeface="+mj-ea"/>
              <a:ea typeface="+mj-ea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800" kern="0">
              <a:latin typeface="+mj-ea"/>
              <a:ea typeface="+mj-ea"/>
            </a:endParaRPr>
          </a:p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245070-579F-4FB8-A460-4B172FC60C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623" y="5550420"/>
            <a:ext cx="304800" cy="304800"/>
          </a:xfrm>
          <a:prstGeom prst="rect">
            <a:avLst/>
          </a:prstGeom>
        </p:spPr>
      </p:pic>
      <p:sp>
        <p:nvSpPr>
          <p:cNvPr id="20" name="AutoShape 19">
            <a:extLst>
              <a:ext uri="{FF2B5EF4-FFF2-40B4-BE49-F238E27FC236}">
                <a16:creationId xmlns:a16="http://schemas.microsoft.com/office/drawing/2014/main" id="{C11EB50E-82DE-4A52-A6E4-A08BACDBA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623" y="5525020"/>
            <a:ext cx="444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图形化界面适配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3F59A55C-8505-4AC4-A9A8-B59FE4B5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622" y="5829820"/>
            <a:ext cx="8637451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根据输入的</a:t>
            </a:r>
            <a:r>
              <a:rPr lang="en-US" altLang="zh-CN" sz="1800" kern="0">
                <a:latin typeface="+mj-ea"/>
                <a:ea typeface="+mj-ea"/>
                <a:sym typeface="Noto Sans SC" panose="020B0200000000000000" pitchFamily="34" charset="-122"/>
              </a:rPr>
              <a:t>boardSize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Noto Sans SC" panose="020B0200000000000000" pitchFamily="34" charset="-122"/>
              </a:rPr>
              <a:t>值，动态调整窗口大小和棋盘绘制比例，确保显示美观。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68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7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A61-57DA-451A-49AC-2BBEEDEDC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八皇后问题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52">
            <a:extLst>
              <a:ext uri="{FF2B5EF4-FFF2-40B4-BE49-F238E27FC236}">
                <a16:creationId xmlns:a16="http://schemas.microsoft.com/office/drawing/2014/main" id="{A9BD61BE-6DE5-1695-4199-176CF6E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15" y="1283637"/>
            <a:ext cx="550335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——N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皇后问题求解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模块划分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656" y="1211552"/>
            <a:ext cx="6591250" cy="58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）初始化棋盘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board[]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，并通过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InitBoard()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函数动态分配内存。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）根据用户选择（单解或全解）调用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RecursionOneOrAll()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函数开始递归回溯过程。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）在递归过程中，每次找到一个可行解时，调用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DrawBoard()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更新图形窗口，展示当前棋盘布局。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）如果选择求解一个解，程序在找到第一个解时停止递归并输出解；如果选择求解所有解，程序继续搜索并显示解的总数。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）在程序执行完成后，显示弹窗提示解的数量或未找到解，并调用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ReleaseBoard()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释放动态分配的内存。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814966-73EC-91A6-AC77-B60C6F510CC2}"/>
              </a:ext>
            </a:extLst>
          </p:cNvPr>
          <p:cNvCxnSpPr>
            <a:cxnSpLocks/>
          </p:cNvCxnSpPr>
          <p:nvPr/>
        </p:nvCxnSpPr>
        <p:spPr>
          <a:xfrm>
            <a:off x="6002402" y="1111602"/>
            <a:ext cx="0" cy="550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7179964-33D8-45B3-B0CB-FD48B98FD2B8}"/>
              </a:ext>
            </a:extLst>
          </p:cNvPr>
          <p:cNvGrpSpPr/>
          <p:nvPr/>
        </p:nvGrpSpPr>
        <p:grpSpPr>
          <a:xfrm>
            <a:off x="-9104" y="2320914"/>
            <a:ext cx="5931714" cy="3954253"/>
            <a:chOff x="-9104" y="2320914"/>
            <a:chExt cx="5931714" cy="395425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9B5E241-A873-44AC-80DA-9C476A8ED972}"/>
                </a:ext>
              </a:extLst>
            </p:cNvPr>
            <p:cNvSpPr txBox="1"/>
            <p:nvPr/>
          </p:nvSpPr>
          <p:spPr>
            <a:xfrm>
              <a:off x="2303815" y="2320914"/>
              <a:ext cx="13773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主函数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main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250D1E-92CE-4244-86A3-9B43C58713FD}"/>
                </a:ext>
              </a:extLst>
            </p:cNvPr>
            <p:cNvSpPr txBox="1"/>
            <p:nvPr/>
          </p:nvSpPr>
          <p:spPr>
            <a:xfrm>
              <a:off x="62094" y="2987584"/>
              <a:ext cx="5860516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递归回溯求解（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单解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全解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） 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RecursionOneOrAll(int row, bool findAllSolutions);     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D0E7C7-061F-41F2-AEA6-A353CAA4011D}"/>
                </a:ext>
              </a:extLst>
            </p:cNvPr>
            <p:cNvSpPr txBox="1"/>
            <p:nvPr/>
          </p:nvSpPr>
          <p:spPr>
            <a:xfrm>
              <a:off x="-9104" y="4416281"/>
              <a:ext cx="295472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判断当前位置是否安全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IsSafe(int row, int col);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D8DC5C-4CA7-42E0-9D36-8F958C731B68}"/>
                </a:ext>
              </a:extLst>
            </p:cNvPr>
            <p:cNvSpPr txBox="1"/>
            <p:nvPr/>
          </p:nvSpPr>
          <p:spPr>
            <a:xfrm>
              <a:off x="3371174" y="4416280"/>
              <a:ext cx="245451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可视化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输出棋盘布局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PrintBoard(void);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74B64E-E329-421E-8D94-B47D37CA0494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 flipH="1">
              <a:off x="2992352" y="2690246"/>
              <a:ext cx="113" cy="29733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0E21A0A-3DE7-4598-A799-FABE296C2B5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5400000">
              <a:off x="1839121" y="3263050"/>
              <a:ext cx="782366" cy="1524096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EF76E322-1419-40A4-B02A-B0FA972E3B3D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rot="16200000" flipH="1">
              <a:off x="3404210" y="3222056"/>
              <a:ext cx="782365" cy="1606081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7EB9A9E-177D-4C0B-AA38-4F70E95C1DEC}"/>
                </a:ext>
              </a:extLst>
            </p:cNvPr>
            <p:cNvSpPr txBox="1"/>
            <p:nvPr/>
          </p:nvSpPr>
          <p:spPr>
            <a:xfrm>
              <a:off x="7488" y="5628836"/>
              <a:ext cx="2492990" cy="646331"/>
            </a:xfrm>
            <a:prstGeom prst="rect">
              <a:avLst/>
            </a:prstGeom>
            <a:solidFill>
              <a:srgbClr val="CCCC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 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动态分配</a:t>
              </a:r>
              <a:r>
                <a:rPr lang="zh-CN" altLang="en-US">
                  <a:solidFill>
                    <a:srgbClr val="000000"/>
                  </a:solidFill>
                  <a:latin typeface="Arial"/>
                  <a:ea typeface="微软雅黑"/>
                </a:rPr>
                <a:t>棋盘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并置 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-1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bool InitBoard(int n);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DB2F2AA-6FF8-461B-BBD8-96FD9A0ABFE3}"/>
                </a:ext>
              </a:extLst>
            </p:cNvPr>
            <p:cNvSpPr txBox="1"/>
            <p:nvPr/>
          </p:nvSpPr>
          <p:spPr>
            <a:xfrm>
              <a:off x="3071727" y="5615066"/>
              <a:ext cx="2839239" cy="646331"/>
            </a:xfrm>
            <a:prstGeom prst="rect">
              <a:avLst/>
            </a:prstGeom>
            <a:solidFill>
              <a:srgbClr val="CCCC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//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释放棋盘内存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void ReleaseBoard(void);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7" name="连接符: 肘形 6">
              <a:extLst>
                <a:ext uri="{FF2B5EF4-FFF2-40B4-BE49-F238E27FC236}">
                  <a16:creationId xmlns:a16="http://schemas.microsoft.com/office/drawing/2014/main" id="{777E92B3-5DD5-46D0-8592-6D2AF8C2F1D5}"/>
                </a:ext>
              </a:extLst>
            </p:cNvPr>
            <p:cNvCxnSpPr>
              <a:stCxn id="11" idx="2"/>
              <a:endCxn id="15" idx="0"/>
            </p:cNvCxnSpPr>
            <p:nvPr/>
          </p:nvCxnSpPr>
          <p:spPr>
            <a:xfrm rot="5400000">
              <a:off x="1125708" y="3762191"/>
              <a:ext cx="1994921" cy="1738369"/>
            </a:xfrm>
            <a:prstGeom prst="bentConnector3">
              <a:avLst>
                <a:gd name="adj1" fmla="val 82486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ABC13F59-B16F-40F7-B3C9-8BDEE359DD23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 rot="16200000" flipH="1">
              <a:off x="2751274" y="3874992"/>
              <a:ext cx="1981151" cy="1498995"/>
            </a:xfrm>
            <a:prstGeom prst="bentConnector3">
              <a:avLst>
                <a:gd name="adj1" fmla="val 83608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0589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 descr="主楼照片">
            <a:extLst>
              <a:ext uri="{FF2B5EF4-FFF2-40B4-BE49-F238E27FC236}">
                <a16:creationId xmlns:a16="http://schemas.microsoft.com/office/drawing/2014/main" id="{A2A8A970-4E52-42B7-B2D1-9283BD02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838" y="0"/>
            <a:ext cx="12457113" cy="695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5">
            <a:extLst>
              <a:ext uri="{FF2B5EF4-FFF2-40B4-BE49-F238E27FC236}">
                <a16:creationId xmlns:a16="http://schemas.microsoft.com/office/drawing/2014/main" id="{659E44B6-BD5D-4C30-80BA-D3533DA2E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419475"/>
            <a:ext cx="9867900" cy="841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9pPr>
          </a:lstStyle>
          <a:p>
            <a:pPr algn="ctr" defTabSz="74295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4875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 Question?</a:t>
            </a:r>
            <a:endParaRPr lang="en-US" altLang="zh-CN" sz="4875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33568</TotalTime>
  <Words>4370</Words>
  <Application>Microsoft Office PowerPoint</Application>
  <PresentationFormat>宽屏</PresentationFormat>
  <Paragraphs>387</Paragraphs>
  <Slides>22</Slides>
  <Notes>19</Notes>
  <HiddenSlides>0</HiddenSlides>
  <MMClips>3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Noto Sans SC</vt:lpstr>
      <vt:lpstr>ui-sans-serif</vt:lpstr>
      <vt:lpstr>等线</vt:lpstr>
      <vt:lpstr>楷体</vt:lpstr>
      <vt:lpstr>宋体</vt:lpstr>
      <vt:lpstr>微软雅黑</vt:lpstr>
      <vt:lpstr>新宋体</vt:lpstr>
      <vt:lpstr>Arial</vt:lpstr>
      <vt:lpstr>Calibri</vt:lpstr>
      <vt:lpstr>Consolas</vt:lpstr>
      <vt:lpstr>Times New Roman</vt:lpstr>
      <vt:lpstr>Wingdings</vt:lpstr>
      <vt:lpstr>Wingdings 2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tliu</dc:creator>
  <cp:lastModifiedBy>wang wang</cp:lastModifiedBy>
  <cp:revision>2555</cp:revision>
  <cp:lastPrinted>2022-05-03T05:54:50Z</cp:lastPrinted>
  <dcterms:created xsi:type="dcterms:W3CDTF">2019-06-19T02:08:00Z</dcterms:created>
  <dcterms:modified xsi:type="dcterms:W3CDTF">2026-04-23T13:24:15Z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99FF378C1BD44E7EBBF740E474D13F20</vt:lpwstr>
  </property>
</Properties>
</file>