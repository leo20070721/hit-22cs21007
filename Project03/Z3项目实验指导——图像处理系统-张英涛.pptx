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919" r:id="rId3"/>
    <p:sldId id="16764735" r:id="rId5"/>
    <p:sldId id="16764721" r:id="rId6"/>
    <p:sldId id="16764751" r:id="rId7"/>
    <p:sldId id="16764759" r:id="rId8"/>
    <p:sldId id="16764737" r:id="rId9"/>
    <p:sldId id="16764763" r:id="rId10"/>
    <p:sldId id="16764764" r:id="rId11"/>
    <p:sldId id="16764766" r:id="rId12"/>
    <p:sldId id="16764767" r:id="rId13"/>
    <p:sldId id="16764768" r:id="rId14"/>
  </p:sldIdLst>
  <p:sldSz cx="12192000" cy="6858000"/>
  <p:notesSz cx="6758305" cy="986663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0"/>
    <a:srgbClr val="FFFFE6"/>
    <a:srgbClr val="008000"/>
    <a:srgbClr val="FFFFCC"/>
    <a:srgbClr val="FFFFFF"/>
    <a:srgbClr val="CC00FF"/>
    <a:srgbClr val="E3F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981"/>
    <p:restoredTop sz="97454"/>
  </p:normalViewPr>
  <p:slideViewPr>
    <p:cSldViewPr showGuides="1">
      <p:cViewPr varScale="1">
        <p:scale>
          <a:sx n="69" d="100"/>
          <a:sy n="69" d="100"/>
        </p:scale>
        <p:origin x="576" y="72"/>
      </p:cViewPr>
      <p:guideLst>
        <p:guide orient="horz" pos="2160"/>
        <p:guide pos="3875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 showFormatting="0">
    <p:cViewPr>
      <p:scale>
        <a:sx n="100" d="100"/>
        <a:sy n="100" d="100"/>
      </p:scale>
      <p:origin x="0" y="189912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algn="r" eaLnBrk="1" hangingPunct="1">
              <a:buFont typeface="Wingdings" panose="05000000000000000000" pitchFamily="2" charset="2"/>
              <a:buNone/>
              <a:defRPr sz="1200">
                <a:solidFill>
                  <a:srgbClr val="636363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fld id="{2602693A-744A-47B4-9B88-470C6E7B1C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1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84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20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724400"/>
            <a:ext cx="4951413" cy="44180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2" tIns="45711" rIns="91422" bIns="45711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71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1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B09764-1BC5-40E6-B2E9-941AC4F0A9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39775"/>
            <a:ext cx="6580188" cy="3702050"/>
          </a:xfrm>
          <a:ln>
            <a:miter/>
          </a:ln>
        </p:spPr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>
          <a:xfrm>
            <a:off x="677863" y="4686300"/>
            <a:ext cx="5405437" cy="4440238"/>
          </a:xfrm>
        </p:spPr>
        <p:txBody>
          <a:bodyPr wrap="square" lIns="91422" tIns="45711" rIns="91422" bIns="45711" anchor="t" anchorCtr="0"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14400" y="4052888"/>
            <a:ext cx="103632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3" name="Group 10"/>
          <p:cNvGrpSpPr/>
          <p:nvPr userDrawn="1"/>
        </p:nvGrpSpPr>
        <p:grpSpPr>
          <a:xfrm>
            <a:off x="736600" y="3779838"/>
            <a:ext cx="10410825" cy="1463675"/>
            <a:chOff x="336" y="1824"/>
            <a:chExt cx="5328" cy="922"/>
          </a:xfrm>
        </p:grpSpPr>
        <p:pic>
          <p:nvPicPr>
            <p:cNvPr id="2059" name="Picture 8" descr="ANABNR2"/>
            <p:cNvPicPr>
              <a:picLocks noChangeAspect="1"/>
            </p:cNvPicPr>
            <p:nvPr userDrawn="1"/>
          </p:nvPicPr>
          <p:blipFill>
            <a:blip r:embed="rId2"/>
            <a:srcRect l="-900" t="-1314" r="-2" b="-36961"/>
            <a:stretch>
              <a:fillRect/>
            </a:stretch>
          </p:blipFill>
          <p:spPr>
            <a:xfrm>
              <a:off x="336" y="2016"/>
              <a:ext cx="5328" cy="7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" name="Rectangle 9"/>
            <p:cNvSpPr>
              <a:spLocks noChangeArrowheads="1"/>
            </p:cNvSpPr>
            <p:nvPr/>
          </p:nvSpPr>
          <p:spPr bwMode="hidden">
            <a:xfrm>
              <a:off x="501" y="1824"/>
              <a:ext cx="192" cy="623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4" name="图片 5"/>
          <p:cNvPicPr>
            <a:picLocks noChangeAspect="1"/>
          </p:cNvPicPr>
          <p:nvPr userDrawn="1"/>
        </p:nvPicPr>
        <p:blipFill>
          <a:blip r:embed="rId3">
            <a:lum contrast="-14000"/>
          </a:blip>
          <a:stretch>
            <a:fillRect/>
          </a:stretch>
        </p:blipFill>
        <p:spPr>
          <a:xfrm>
            <a:off x="0" y="0"/>
            <a:ext cx="12192000" cy="172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1AEF38FD-E6C3-44D9-B1BB-041EC717401A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" y="981075"/>
            <a:ext cx="10972800" cy="15875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-18256"/>
            <a:ext cx="10972800" cy="1143000"/>
          </a:xfrm>
        </p:spPr>
        <p:txBody>
          <a:bodyPr/>
          <a:lstStyle>
            <a:lvl1pPr>
              <a:defRPr b="1"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800" b="1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333399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CC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800" b="1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800" b="1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4177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93413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BFAE9853-0C79-45DC-9F8F-0A3CF88893AD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/53</a:t>
            </a:r>
            <a:endParaRPr kumimoji="0" lang="zh-CN" altLang="en-US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14400" y="3143250"/>
            <a:ext cx="103632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51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4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A0C3A08E-3F3C-4C92-9E3E-174F1CE437E0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" y="1411288"/>
            <a:ext cx="109728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F58DAD1F-885F-4201-92DB-F9C48719C811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" y="1411288"/>
            <a:ext cx="109728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6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3991F9C2-6979-476A-BBAF-0416183E2FA0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" y="1052513"/>
            <a:ext cx="109728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4624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3BB51267-CF71-4E5D-95DA-662924B826EF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/53</a:t>
            </a:r>
            <a:endParaRPr kumimoji="0" lang="zh-CN" altLang="en-US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14750" y="1054100"/>
            <a:ext cx="7870825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5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6" y="1142984"/>
            <a:ext cx="7867666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9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F7D1E98F-C0B7-4181-BEEE-27C4CC4E4251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DB0E54C0-23E4-4690-AEAD-E6C6DEA01D55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/53</a:t>
            </a:r>
            <a:endParaRPr kumimoji="0" lang="zh-CN" altLang="en-US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71825" y="6400800"/>
            <a:ext cx="49784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02950" y="6400800"/>
            <a:ext cx="12192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10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fld id="{DB0E54C0-23E4-4690-AEAD-E6C6DEA01D55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/53</a:t>
            </a:r>
            <a:endParaRPr kumimoji="0" lang="zh-CN" altLang="en-US" sz="1100" b="0" i="0" u="none" strike="noStrike" kern="1200" cap="none" spc="0" normalizeH="0" baseline="0" noProof="0" smtClean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Consolas" panose="020B0609020204030204" pitchFamily="49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onsolas" panose="020B0609020204030204" pitchFamily="49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onsolas" panose="020B0609020204030204" pitchFamily="49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onsolas" panose="020B0609020204030204" pitchFamily="49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onsolas" panose="020B0609020204030204" pitchFamily="49" charset="0"/>
          <a:cs typeface="Arial" panose="020B06040202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ts val="600"/>
        </a:spcBef>
        <a:spcAft>
          <a:spcPts val="60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b="1" kern="1200">
          <a:solidFill>
            <a:schemeClr val="tx1"/>
          </a:solidFill>
          <a:latin typeface="Consolas" panose="020B0609020204030204" pitchFamily="49" charset="0"/>
          <a:ea typeface="+mj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ts val="600"/>
        </a:spcBef>
        <a:spcAft>
          <a:spcPts val="60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b="1" kern="1200">
          <a:solidFill>
            <a:srgbClr val="333399"/>
          </a:solidFill>
          <a:latin typeface="Consolas" panose="020B0609020204030204" pitchFamily="49" charset="0"/>
          <a:ea typeface="+mj-ea"/>
          <a:cs typeface="Times New Roman" panose="02020603050405020304" pitchFamily="18" charset="0"/>
        </a:defRPr>
      </a:lvl2pPr>
      <a:lvl3pPr marL="1143000" indent="-228600" algn="l" rtl="0" eaLnBrk="0" fontAlgn="base" hangingPunct="0">
        <a:lnSpc>
          <a:spcPct val="120000"/>
        </a:lnSpc>
        <a:spcBef>
          <a:spcPts val="600"/>
        </a:spcBef>
        <a:spcAft>
          <a:spcPts val="60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b="1" kern="1200">
          <a:solidFill>
            <a:srgbClr val="3333CC"/>
          </a:solidFill>
          <a:latin typeface="Consolas" panose="020B0609020204030204" pitchFamily="49" charset="0"/>
          <a:ea typeface="+mj-ea"/>
          <a:cs typeface="Times New Roman" panose="02020603050405020304" pitchFamily="18" charset="0"/>
        </a:defRPr>
      </a:lvl3pPr>
      <a:lvl4pPr marL="1600200" indent="-228600" algn="l" rtl="0" eaLnBrk="0" fontAlgn="base" hangingPunct="0">
        <a:lnSpc>
          <a:spcPct val="120000"/>
        </a:lnSpc>
        <a:spcBef>
          <a:spcPts val="600"/>
        </a:spcBef>
        <a:spcAft>
          <a:spcPts val="60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b="1" kern="1200">
          <a:solidFill>
            <a:schemeClr val="tx1"/>
          </a:solidFill>
          <a:latin typeface="Consolas" panose="020B0609020204030204" pitchFamily="49" charset="0"/>
          <a:ea typeface="+mj-ea"/>
          <a:cs typeface="Times New Roman" panose="02020603050405020304" pitchFamily="18" charset="0"/>
        </a:defRPr>
      </a:lvl4pPr>
      <a:lvl5pPr marL="2057400" indent="-228600" algn="l" rtl="0" eaLnBrk="0" fontAlgn="base" hangingPunct="0">
        <a:lnSpc>
          <a:spcPct val="120000"/>
        </a:lnSpc>
        <a:spcBef>
          <a:spcPts val="600"/>
        </a:spcBef>
        <a:spcAft>
          <a:spcPts val="60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b="1" kern="1200">
          <a:solidFill>
            <a:schemeClr val="tx1"/>
          </a:solidFill>
          <a:latin typeface="Consolas" panose="020B0609020204030204" pitchFamily="49" charset="0"/>
          <a:ea typeface="+mj-ea"/>
          <a:cs typeface="Times New Roman" panose="02020603050405020304" pitchFamily="18" charset="0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3.xml"/><Relationship Id="rId7" Type="http://schemas.openxmlformats.org/officeDocument/2006/relationships/image" Target="../media/image9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2.xml"/><Relationship Id="rId10" Type="http://schemas.openxmlformats.org/officeDocument/2006/relationships/vmlDrawing" Target="../drawings/vmlDrawing1.v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1"/>
          <p:cNvSpPr txBox="1">
            <a:spLocks noChangeArrowheads="1"/>
          </p:cNvSpPr>
          <p:nvPr/>
        </p:nvSpPr>
        <p:spPr bwMode="auto">
          <a:xfrm>
            <a:off x="2927350" y="5005388"/>
            <a:ext cx="6162675" cy="4781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哈尔滨工业大学 计算学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部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1416050" y="1919288"/>
            <a:ext cx="9632950" cy="7556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Z3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项目实验指导——图像处理系统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5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6" name="文本框 52"/>
          <p:cNvSpPr txBox="1"/>
          <p:nvPr/>
        </p:nvSpPr>
        <p:spPr>
          <a:xfrm>
            <a:off x="263525" y="1528763"/>
            <a:ext cx="1166495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设计一个图像处理软件，能够实现界面设计、图像边缘检测和图像锐化。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l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2708910"/>
            <a:ext cx="3517265" cy="2447290"/>
          </a:xfrm>
          <a:prstGeom prst="rect">
            <a:avLst/>
          </a:prstGeom>
        </p:spPr>
      </p:pic>
      <p:pic>
        <p:nvPicPr>
          <p:cNvPr id="3" name="图片 2" descr="e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310" y="2708910"/>
            <a:ext cx="3425190" cy="2383790"/>
          </a:xfrm>
          <a:prstGeom prst="rect">
            <a:avLst/>
          </a:prstGeom>
        </p:spPr>
      </p:pic>
      <p:pic>
        <p:nvPicPr>
          <p:cNvPr id="4" name="图片 3" descr="sharpe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580" y="2688590"/>
            <a:ext cx="3464560" cy="24110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3235" y="5277485"/>
            <a:ext cx="11373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</a:t>
            </a:r>
            <a:r>
              <a:rPr lang="zh-CN" altLang="en-US"/>
              <a:t>原图</a:t>
            </a:r>
            <a:r>
              <a:rPr lang="en-US" altLang="zh-CN"/>
              <a:t>                                           </a:t>
            </a:r>
            <a:r>
              <a:rPr lang="zh-CN" altLang="en-US"/>
              <a:t>边缘检测的结果</a:t>
            </a:r>
            <a:r>
              <a:rPr lang="en-US" altLang="zh-CN"/>
              <a:t>                         </a:t>
            </a:r>
            <a:r>
              <a:rPr lang="zh-CN" altLang="en-US"/>
              <a:t>图像锐化的</a:t>
            </a:r>
            <a:r>
              <a:rPr lang="zh-CN" altLang="en-US"/>
              <a:t>结果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027988" y="1949133"/>
            <a:ext cx="16573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(6)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图像锐化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90713" y="4352925"/>
            <a:ext cx="141605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(2)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鼠标动作信息的获取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566275" y="1517650"/>
            <a:ext cx="2433638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(7)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图像保存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263525" y="811213"/>
            <a:ext cx="11615738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algn="ctr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智能计算类综合实践项目 3-</a:t>
            </a: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图像处理系统</a:t>
            </a:r>
            <a:endParaRPr kumimoji="0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342" name="标题 1"/>
          <p:cNvSpPr txBox="1"/>
          <p:nvPr/>
        </p:nvSpPr>
        <p:spPr>
          <a:xfrm>
            <a:off x="287338" y="-30162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智能计算类综合实践项目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91405" y="3819525"/>
            <a:ext cx="1761490" cy="6915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三通道变单通道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ITU-R BT.601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标准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" name="Freeform 8"/>
          <p:cNvSpPr/>
          <p:nvPr/>
        </p:nvSpPr>
        <p:spPr bwMode="auto">
          <a:xfrm>
            <a:off x="282575" y="2454275"/>
            <a:ext cx="9221788" cy="3351213"/>
          </a:xfrm>
          <a:custGeom>
            <a:avLst/>
            <a:gdLst>
              <a:gd name="T0" fmla="*/ 0 w 4110"/>
              <a:gd name="T1" fmla="*/ 2147483647 h 1972"/>
              <a:gd name="T2" fmla="*/ 2147483647 w 4110"/>
              <a:gd name="T3" fmla="*/ 2147483647 h 1972"/>
              <a:gd name="T4" fmla="*/ 2147483647 w 4110"/>
              <a:gd name="T5" fmla="*/ 2147483647 h 1972"/>
              <a:gd name="T6" fmla="*/ 2147483647 w 4110"/>
              <a:gd name="T7" fmla="*/ 2147483647 h 1972"/>
              <a:gd name="T8" fmla="*/ 2147483647 w 4110"/>
              <a:gd name="T9" fmla="*/ 2147483647 h 1972"/>
              <a:gd name="T10" fmla="*/ 2147483647 w 4110"/>
              <a:gd name="T11" fmla="*/ 2147483647 h 1972"/>
              <a:gd name="T12" fmla="*/ 2147483647 w 4110"/>
              <a:gd name="T13" fmla="*/ 2147483647 h 1972"/>
              <a:gd name="T14" fmla="*/ 2147483647 w 4110"/>
              <a:gd name="T15" fmla="*/ 2147483647 h 1972"/>
              <a:gd name="T16" fmla="*/ 2147483647 w 4110"/>
              <a:gd name="T17" fmla="*/ 2147483647 h 1972"/>
              <a:gd name="T18" fmla="*/ 2147483647 w 4110"/>
              <a:gd name="T19" fmla="*/ 2147483647 h 1972"/>
              <a:gd name="T20" fmla="*/ 2147483647 w 4110"/>
              <a:gd name="T21" fmla="*/ 2147483647 h 1972"/>
              <a:gd name="T22" fmla="*/ 2147483647 w 4110"/>
              <a:gd name="T23" fmla="*/ 0 h 197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4110"/>
              <a:gd name="T37" fmla="*/ 0 h 1972"/>
              <a:gd name="T38" fmla="*/ 4110 w 4110"/>
              <a:gd name="T39" fmla="*/ 1972 h 197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4110" h="1972">
                <a:moveTo>
                  <a:pt x="0" y="1972"/>
                </a:moveTo>
                <a:lnTo>
                  <a:pt x="720" y="1972"/>
                </a:lnTo>
                <a:lnTo>
                  <a:pt x="720" y="1588"/>
                </a:lnTo>
                <a:lnTo>
                  <a:pt x="1392" y="1588"/>
                </a:lnTo>
                <a:lnTo>
                  <a:pt x="1392" y="1300"/>
                </a:lnTo>
                <a:lnTo>
                  <a:pt x="2064" y="1300"/>
                </a:lnTo>
                <a:lnTo>
                  <a:pt x="2064" y="820"/>
                </a:lnTo>
                <a:lnTo>
                  <a:pt x="2784" y="820"/>
                </a:lnTo>
                <a:lnTo>
                  <a:pt x="2784" y="436"/>
                </a:lnTo>
                <a:lnTo>
                  <a:pt x="3456" y="436"/>
                </a:lnTo>
                <a:lnTo>
                  <a:pt x="3456" y="4"/>
                </a:lnTo>
                <a:lnTo>
                  <a:pt x="4110" y="0"/>
                </a:ln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9063" y="5778500"/>
            <a:ext cx="1968500" cy="929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创建窗体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设置背景颜色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关闭窗口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251200" y="4203700"/>
            <a:ext cx="175736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(3)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图像文件读取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05518" y="4676775"/>
            <a:ext cx="1555750" cy="929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文件头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信息头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sym typeface="Symbol" panose="05050102010706020507" pitchFamily="18" charset="2"/>
              </a:rPr>
              <a:t>图像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sym typeface="Symbol" panose="05050102010706020507" pitchFamily="18" charset="2"/>
              </a:rPr>
              <a:t>数据</a:t>
            </a:r>
            <a:endParaRPr lang="zh-CN" altLang="en-US" sz="14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sym typeface="Symbol" panose="05050102010706020507" pitchFamily="18" charset="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918075" y="3078163"/>
            <a:ext cx="1662113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(4)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彩色图像转灰度图像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8024813" y="2462213"/>
            <a:ext cx="1584325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9628188" y="1985963"/>
            <a:ext cx="0" cy="468313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9621838" y="1985963"/>
            <a:ext cx="2195513" cy="0"/>
          </a:xfrm>
          <a:prstGeom prst="line">
            <a:avLst/>
          </a:prstGeom>
          <a:ln w="38100">
            <a:solidFill>
              <a:srgbClr val="3F81E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6496050" y="3175000"/>
            <a:ext cx="1700213" cy="929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定义卷积核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计算水平垂直梯度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计算梯度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幅度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26200" y="2663508"/>
            <a:ext cx="16621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(5)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边缘检测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pSp>
        <p:nvGrpSpPr>
          <p:cNvPr id="14363" name="组合 3"/>
          <p:cNvGrpSpPr/>
          <p:nvPr/>
        </p:nvGrpSpPr>
        <p:grpSpPr>
          <a:xfrm>
            <a:off x="7563485" y="4083684"/>
            <a:ext cx="4549775" cy="2567940"/>
            <a:chOff x="5499709" y="2515692"/>
            <a:chExt cx="6415000" cy="4477329"/>
          </a:xfrm>
        </p:grpSpPr>
        <p:sp>
          <p:nvSpPr>
            <p:cNvPr id="18" name="矩形: 圆角 17"/>
            <p:cNvSpPr/>
            <p:nvPr/>
          </p:nvSpPr>
          <p:spPr>
            <a:xfrm>
              <a:off x="5499709" y="2515692"/>
              <a:ext cx="6415000" cy="4477329"/>
            </a:xfrm>
            <a:prstGeom prst="roundRect">
              <a:avLst>
                <a:gd name="adj" fmla="val 11579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810387" y="2538944"/>
              <a:ext cx="6003150" cy="294392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noAutofit/>
            </a:bodyPr>
            <a:lstStyle/>
            <a:p>
              <a:pPr marL="285750" marR="0" indent="-285750" defTabSz="914400">
                <a:lnSpc>
                  <a:spcPct val="120000"/>
                </a:lnSpc>
                <a:buClrTx/>
                <a:buSzTx/>
                <a:buFont typeface="Wingdings" panose="05000000000000000000" pitchFamily="2" charset="2"/>
                <a:buChar char="p"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项目支撑的能力</a:t>
              </a:r>
              <a:endParaRPr kumimoji="0" lang="en-US" altLang="zh-CN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（1）掌握图形界面的设计与绘制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（2）掌握利用结构体表示按钮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（3）掌握鼠标动作信息的获取与动作映射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（4）读取图像文件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（5）对单通道灰度图像做边缘检测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（6）对三通道彩色图像做图像锐化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  <a:p>
              <a:pPr marR="0" defTabSz="914400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1600" kern="1200" cap="none" spc="0" normalizeH="0" baseline="0" noProof="0" dirty="0">
                  <a:latin typeface="+mj-ea"/>
                  <a:ea typeface="+mj-ea"/>
                  <a:cs typeface="+mn-cs"/>
                </a:rPr>
                <a:t>（7）保存图像文件</a:t>
              </a:r>
              <a:endParaRPr kumimoji="0" lang="zh-CN" altLang="en-US" sz="1600" kern="1200" cap="none" spc="0" normalizeH="0" baseline="0" noProof="0" dirty="0"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8040688" y="2490788"/>
            <a:ext cx="1595438" cy="929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定义卷积核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各通道卷积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像素截断归一化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4367" name="文本框 52"/>
          <p:cNvSpPr txBox="1"/>
          <p:nvPr/>
        </p:nvSpPr>
        <p:spPr>
          <a:xfrm>
            <a:off x="150813" y="1571625"/>
            <a:ext cx="35988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任务拆解为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个子任务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7625" y="5311775"/>
            <a:ext cx="1982788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(1)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创建图形窗口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17700" y="5160963"/>
            <a:ext cx="1968500" cy="6502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绘制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按钮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检测鼠标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事件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3" name="图片 2" descr="l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5" y="2132330"/>
            <a:ext cx="1251585" cy="871220"/>
          </a:xfrm>
          <a:prstGeom prst="rect">
            <a:avLst/>
          </a:prstGeom>
        </p:spPr>
      </p:pic>
      <p:pic>
        <p:nvPicPr>
          <p:cNvPr id="4" name="图片 3" descr="e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3074035"/>
            <a:ext cx="1254125" cy="873125"/>
          </a:xfrm>
          <a:prstGeom prst="rect">
            <a:avLst/>
          </a:prstGeom>
        </p:spPr>
      </p:pic>
      <p:pic>
        <p:nvPicPr>
          <p:cNvPr id="5" name="图片 4" descr="sharpe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" y="4036695"/>
            <a:ext cx="1244600" cy="866140"/>
          </a:xfrm>
          <a:prstGeom prst="rect">
            <a:avLst/>
          </a:prstGeom>
        </p:spPr>
      </p:pic>
      <p:graphicFrame>
        <p:nvGraphicFramePr>
          <p:cNvPr id="6" name="对象 -2147482624"/>
          <p:cNvGraphicFramePr>
            <a:graphicFrameLocks noChangeAspect="1"/>
          </p:cNvGraphicFramePr>
          <p:nvPr/>
        </p:nvGraphicFramePr>
        <p:xfrm>
          <a:off x="2136140" y="2813050"/>
          <a:ext cx="1330960" cy="84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1117600" imgH="711200" progId="Equation.KSEE3">
                  <p:embed/>
                </p:oleObj>
              </mc:Choice>
              <mc:Fallback>
                <p:oleObj name="" r:id="rId4" imgW="1117600" imgH="711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6140" y="2813050"/>
                        <a:ext cx="1330960" cy="847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619"/>
          <p:cNvGraphicFramePr>
            <a:graphicFrameLocks noChangeAspect="1"/>
          </p:cNvGraphicFramePr>
          <p:nvPr/>
        </p:nvGraphicFramePr>
        <p:xfrm>
          <a:off x="4223385" y="1656715"/>
          <a:ext cx="155702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6" imgW="1282700" imgH="711200" progId="Equation.KSEE3">
                  <p:embed/>
                </p:oleObj>
              </mc:Choice>
              <mc:Fallback>
                <p:oleObj name="" r:id="rId6" imgW="1282700" imgH="711200" progId="Equation.KSEE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23385" y="1656715"/>
                        <a:ext cx="155702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9768523" y="1967865"/>
            <a:ext cx="1555750" cy="929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文件头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Symbol" panose="05050102010706020507" pitchFamily="18" charset="2"/>
              </a:rPr>
              <a:t>信息头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sym typeface="Symbol" panose="05050102010706020507" pitchFamily="18" charset="2"/>
              </a:rPr>
              <a:t>图像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ea"/>
                <a:ea typeface="+mj-ea"/>
                <a:sym typeface="Symbol" panose="05050102010706020507" pitchFamily="18" charset="2"/>
              </a:rPr>
              <a:t>数据</a:t>
            </a:r>
            <a:endParaRPr lang="zh-CN" altLang="en-US" sz="14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sym typeface="Symbol" panose="05050102010706020507" pitchFamily="18" charset="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387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文本框 52"/>
          <p:cNvSpPr txBox="1"/>
          <p:nvPr/>
        </p:nvSpPr>
        <p:spPr>
          <a:xfrm>
            <a:off x="193675" y="1484313"/>
            <a:ext cx="11590338" cy="26739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创建图形窗口与程序主框架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（1）掌握图形界面设计的基本原理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（2）学会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EasyX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基本函数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initgraph()、closegraph()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等的使用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（3）掌握程序的循环控制与程序退出机制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while(1)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语句进行程序主循环设计，在主循环中不断处理输入的各类消息，满足退出条件时调用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closegraph()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0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020" y="4220845"/>
            <a:ext cx="4102100" cy="22161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435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6" name="文本框 52"/>
          <p:cNvSpPr txBox="1"/>
          <p:nvPr/>
        </p:nvSpPr>
        <p:spPr>
          <a:xfrm>
            <a:off x="193675" y="1484313"/>
            <a:ext cx="11590338" cy="3670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掌握鼠标动作信息的获取与动作映射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1)掌握利用结构体建模按钮（把界面对象抽象为数据）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2)掌握主界面的坐标系与坐标表示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3)掌握获取鼠标事件的方法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利用结构体来表征按钮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和文本框的具体参数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首先在主界面上显示4个按钮，然后编写鼠标事件处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理流程，用于检测用户是否发起了鼠标点击按钮的事件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773" y="1611630"/>
            <a:ext cx="5266055" cy="28422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文本框 52"/>
          <p:cNvSpPr txBox="1"/>
          <p:nvPr/>
        </p:nvSpPr>
        <p:spPr>
          <a:xfrm>
            <a:off x="193675" y="1557338"/>
            <a:ext cx="11590338" cy="5262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图像文件读取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）图像二维坐标（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 y）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与图像数据一维数组下标的换算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）图像的宽度与保存每行像素的数组长度的换算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图像文件包括文件头、信息头、调色板（可选）、图像数据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读取文件头和信息头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根据得到的图像位数，动态决定是否读取调色板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根据得到的图像宽和高，动态决定读取图像数据的方法以及每行图像的字节数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为了保证读取到的文件头和信息头长度正确，需要添加如下两个语句保证1字节对齐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71700" lvl="4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#pragma pack(push, 1)       #pragma pack(pop)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文本框 52"/>
          <p:cNvSpPr txBox="1"/>
          <p:nvPr/>
        </p:nvSpPr>
        <p:spPr>
          <a:xfrm>
            <a:off x="193675" y="1557338"/>
            <a:ext cx="11590338" cy="41541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彩色图像转灰度图像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颜色模型理解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）灰度转换公式的数学实现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图像文件包括文件头、信息头、调色板（可选）、图像数据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获取每个像素的红（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R）、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绿（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G）、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 8 位分量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根据：灰度值 = 0.299×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+ 0.587×G + 0.114×B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计算转换后的灰度值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文本框 52"/>
          <p:cNvSpPr txBox="1"/>
          <p:nvPr/>
        </p:nvSpPr>
        <p:spPr>
          <a:xfrm>
            <a:off x="193675" y="1557338"/>
            <a:ext cx="11590338" cy="5262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对单通道灰度图像做边缘检测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）图像卷积运算的原理及其计算过程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）图像卷积运算的编程实现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）边缘检测的原理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）边缘检测的编程实现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图像文件包括文件头、信息头、调色板（可选）、图像数据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对于输入的图像，首先通过与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Sobel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水平卷积核做卷积运算获得水平方向的梯度，然后通过与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Sobel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垂直卷积核做卷积运算获得垂直方向的梯度，最后通过两个方向的梯度计算梯度的幅度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文本框 52"/>
          <p:cNvSpPr txBox="1"/>
          <p:nvPr/>
        </p:nvSpPr>
        <p:spPr>
          <a:xfrm>
            <a:off x="193675" y="1557338"/>
            <a:ext cx="11590338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对三通道彩色图像做锐化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）图像锐化的原理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）三通道图像卷积运算的实现方法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通道图像的像素数据保存在一个一维数组中，存储次序为：先保存最下面那行，然后从下到上，依次保存各行。每行按从作到右的次序，依次保存各个像素的颜色值，每个像素包括红绿蓝三个颜色值，保存次序为：蓝、绿、红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对三个通道分别做锐化，然后再把三个锐化后的通道合并为一个图像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文本框 52"/>
          <p:cNvSpPr txBox="1"/>
          <p:nvPr/>
        </p:nvSpPr>
        <p:spPr>
          <a:xfrm>
            <a:off x="193675" y="1557338"/>
            <a:ext cx="11590338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对三通道彩色图像做锐化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）图像锐化的原理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）三通道图像卷积运算的实现方法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通道图像的像素数据保存在一个一维数组中，存储次序为：先保存最下面那行，然后从下到上，依次保存各行。每行按从作到右的次序，依次保存各个像素的颜色值，每个像素包括红绿蓝三个颜色值，保存次序为：蓝、绿、红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对三个通道分别做锐化，然后再把三个锐化后的通道合并为一个图像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2"/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边缘检测与图像锐化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483" name="标题 1"/>
          <p:cNvSpPr txBox="1"/>
          <p:nvPr/>
        </p:nvSpPr>
        <p:spPr>
          <a:xfrm>
            <a:off x="261938" y="117475"/>
            <a:ext cx="11615737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智能算法类综合实践项目介绍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文本框 52"/>
          <p:cNvSpPr txBox="1"/>
          <p:nvPr/>
        </p:nvSpPr>
        <p:spPr>
          <a:xfrm>
            <a:off x="193675" y="1557338"/>
            <a:ext cx="11590338" cy="45231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 kern="1200">
                <a:solidFill>
                  <a:srgbClr val="333399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 kern="1200">
                <a:solidFill>
                  <a:srgbClr val="3333CC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 kern="1200">
                <a:solidFill>
                  <a:schemeClr val="tx1"/>
                </a:solidFill>
                <a:latin typeface="Consolas" panose="020B0609020204030204" pitchFamily="49" charset="0"/>
                <a:ea typeface="+mj-ea"/>
                <a:cs typeface="Times New Roman" panose="02020603050405020304" pitchFamily="18" charset="0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单通道图像与三通道图像的保存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能力目标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）能使用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语言的文件写入函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bmp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图像文件包括文件头、信息头、调色板（可选）、图像数据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）算法思路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对于单通道图像，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图像文件包括文件头、信息头、调色板、像素数据这四部分，因此在写入文件时，只需依次写入这四部分即可。对于3通道图像，不需要保存调色板，其它三部分需要保存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0" lvl="3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灰度图像需要调色板，三通道图像不需要调色板，这两个函数需要分别单独生成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SLIDETAGS" val="[]"/>
</p:tagLst>
</file>

<file path=ppt/tags/tag2.xml><?xml version="1.0" encoding="utf-8"?>
<p:tagLst xmlns:p="http://schemas.openxmlformats.org/presentationml/2006/main">
  <p:tag name="SLIDETAGS" val="[]"/>
</p:tagLst>
</file>

<file path=ppt/tags/tag3.xml><?xml version="1.0" encoding="utf-8"?>
<p:tagLst xmlns:p="http://schemas.openxmlformats.org/presentationml/2006/main">
  <p:tag name="SLIDETAGS" val="[]"/>
</p:tagLst>
</file>

<file path=ppt/tags/tag4.xml><?xml version="1.0" encoding="utf-8"?>
<p:tagLst xmlns:p="http://schemas.openxmlformats.org/presentationml/2006/main">
  <p:tag name="SLIDETAGS" val="[]"/>
</p:tagLst>
</file>

<file path=ppt/tags/tag5.xml><?xml version="1.0" encoding="utf-8"?>
<p:tagLst xmlns:p="http://schemas.openxmlformats.org/presentationml/2006/main">
  <p:tag name="SLIDETAGS" val="[]"/>
</p:tagLst>
</file>

<file path=ppt/tags/tag6.xml><?xml version="1.0" encoding="utf-8"?>
<p:tagLst xmlns:p="http://schemas.openxmlformats.org/presentationml/2006/main">
  <p:tag name="SLIDETAGS" val="[]"/>
</p:tagLst>
</file>

<file path=ppt/tags/tag7.xml><?xml version="1.0" encoding="utf-8"?>
<p:tagLst xmlns:p="http://schemas.openxmlformats.org/presentationml/2006/main">
  <p:tag name="SLIDETAGS" val="[]"/>
</p:tagLst>
</file>

<file path=ppt/tags/tag8.xml><?xml version="1.0" encoding="utf-8"?>
<p:tagLst xmlns:p="http://schemas.openxmlformats.org/presentationml/2006/main">
  <p:tag name="SLIDETAGS" val="[]"/>
</p:tagLst>
</file>

<file path=ppt/tags/tag9.xml><?xml version="1.0" encoding="utf-8"?>
<p:tagLst xmlns:p="http://schemas.openxmlformats.org/presentationml/2006/main">
  <p:tag name="SLIDETAGS" val="[]"/>
</p:tagLst>
</file>

<file path=ppt/tags/tag10.xml><?xml version="1.0" encoding="utf-8"?>
<p:tagLst xmlns:p="http://schemas.openxmlformats.org/presentationml/2006/main">
  <p:tag name="SLIDETAGS" val="[]"/>
</p:tagLst>
</file>

<file path=ppt/tags/tag11.xml><?xml version="1.0" encoding="utf-8"?>
<p:tagLst xmlns:p="http://schemas.openxmlformats.org/presentationml/2006/main">
  <p:tag name="SLIDETAGS" val="[]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2304</Words>
  <Application>WPS 演示</Application>
  <PresentationFormat>宽屏</PresentationFormat>
  <Paragraphs>192</Paragraphs>
  <Slides>11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Consolas</vt:lpstr>
      <vt:lpstr>Wingdings 2</vt:lpstr>
      <vt:lpstr>Times New Roman</vt:lpstr>
      <vt:lpstr>Arial</vt:lpstr>
      <vt:lpstr>黑体</vt:lpstr>
      <vt:lpstr>微软雅黑</vt:lpstr>
      <vt:lpstr>Symbol</vt:lpstr>
      <vt:lpstr>Franklin Gothic Book</vt:lpstr>
      <vt:lpstr>Arial Unicode MS</vt:lpstr>
      <vt:lpstr>暗香扑面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</dc:title>
  <dc:creator>DBB</dc:creator>
  <cp:lastModifiedBy>英涛</cp:lastModifiedBy>
  <cp:revision>1960</cp:revision>
  <dcterms:created xsi:type="dcterms:W3CDTF">2002-10-30T03:57:00Z</dcterms:created>
  <dcterms:modified xsi:type="dcterms:W3CDTF">2026-05-17T15:32:43Z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356B45D690AF4C3AADDB6EA03121119F_13</vt:lpwstr>
  </property>
  <property fmtid="{D5CDD505-2E9C-101B-9397-08002B2CF9AE}" pid="3" name="KSOProductBuildVer">
    <vt:lpwstr>2052-12.1.0.25865</vt:lpwstr>
  </property>
</Properties>
</file>